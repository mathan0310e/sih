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x="1219196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(about 45 seconds).</a:t>
            </a:r>
          </a:p>
          <a:p/>
          <a:p>
            <a:r>
              <a:t>Good morning. My name is Kaudilyar R, from the Department of Computer Science and Engineering. My presentation is titled "Philosophy and Its Role in Education and Society".</a:t>
            </a:r>
          </a:p>
          <a:p/>
          <a:p>
            <a:r>
              <a:t>Let me be clear at the outset about what this presentation is and what it is not. It is a conceptual study. I am synthesising established scholarship on philosophy, on philosophy of education, and on research ethics. I have not collected primary data, I have not run an experiment, and I will not be reporting effect sizes or statistics of my own. Everything factual I claim is drawn from published, verifiable sources, which I list at the end in APA seventh edition style.</a:t>
            </a:r>
          </a:p>
          <a:p/>
          <a:p>
            <a:r>
              <a:t>The photograph on the right is a marble bust from the National Archaeological Museum of Greece. I include it deliberately, because the visual conventions of philosophy — the bust, the thinker, the text — can make the subject look like a gallery of dead ideas. The central claim in the panel below says the opposite, and it is the thesis the whole presentation defends: philosophy is a working discipline. It supplies the reasoning by which education justifies its aims, and by which research defends its integrity.</a:t>
            </a:r>
          </a:p>
          <a:p/>
          <a:p>
            <a:r>
              <a:t>Hold that claim in mind, because each section adds one strand to it.</a:t>
            </a:r>
          </a:p>
          <a:p/>
          <a:p>
            <a:r>
              <a:t>Transition: Let me first tell you how the argument is organised.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Overview (about 50 seconds).</a:t>
            </a:r>
          </a:p>
          <a:p/>
          <a:p>
            <a:r>
              <a:t>This slide is the map. The paragraph on the left states the abstract: philosophy performs three connected functions — it clarifies what we can know, it guides what we should do, and it disciplines how we inquire. Education and research are the two places where those functions show up most clearly.</a:t>
            </a:r>
          </a:p>
          <a:p/>
          <a:p>
            <a:r>
              <a:t>The diagram on the right shows the four strands. First, foundations: what philosophy is, and the five classical branches. Second, education: how philosophy of education works, what role philosophy plays in schooling, and the five major traditions. Third, society: how justice, equality, freedom and responsibility are argued rather than merely asserted. Fourth, research ethics: how philosophy shapes method, publication and integrity.</a:t>
            </a:r>
          </a:p>
          <a:p/>
          <a:p>
            <a:r>
              <a:t>Notice the footer on the diagram: this is a conceptual synthesis with no primary data collected. I state that on the visual itself so it is never in doubt.</a:t>
            </a:r>
          </a:p>
          <a:p/>
          <a:p>
            <a:r>
              <a:t>Transition: Let me begin with the oldest question of all — why human beings philosophise in the first place.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Introduction and background (about 60 seconds).</a:t>
            </a:r>
          </a:p>
          <a:p/>
          <a:p>
            <a:r>
              <a:t>Why does philosophy arise at all? The strip diagram at the bottom of the slide gives the classical answer in four stages. Philosophy begins in wonder — the refusal to take the world for granted. It becomes questioning — the Socratic practice of testing claims by argument and exposing inconsistency, rather than asserting doctrine. That questioning becomes reasoning — argument and evidence. And reasoning matures into wisdom, which is judgement in practice.</a:t>
            </a:r>
          </a:p>
          <a:p/>
          <a:p>
            <a:r>
              <a:t>The four statements on the left add the historical dimension. Philosophy begins in wonder, but it does not stay there. Its method of questioning is what distinguishes it from mere opinion: the Socratic elenchus tests a claim by examining whether it is consistent with the other things the speaker believes. And this practice has continuity — from ancient Athens, through the scientific revolution, to today's ethics of artificial intelligence. It is also cross-cultural: comparable traditions of systematic reflection appear in Indian, Chinese and Islamic thought.</a:t>
            </a:r>
          </a:p>
          <a:p/>
          <a:p>
            <a:r>
              <a:t>The photograph is Raphael's School of Athens, painted between 1509 and 1511. It is worth pausing on why I chose it. Raphael depicts philosophers as a community in reasoned debate, not as isolated sages. That is exactly the four-stage process in the diagram above it, and it is the model of philosophy I am defending throughout.</a:t>
            </a:r>
          </a:p>
          <a:p/>
          <a:p>
            <a:r>
              <a:t>Transition: If philosophy is a practice, what exactly is the practice?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Definition and foundations (about 60 seconds).</a:t>
            </a:r>
          </a:p>
          <a:p/>
          <a:p>
            <a:r>
              <a:t>The definition on the left is deliberately careful. Philosophy is the systematic, rational examination of the most general questions about reality, knowledge, value and meaning. Note the emphasis: its aim is not to supply final answers, but to make our reasons explicit and defensible. That distinction matters, because it separates philosophy from ideology.</a:t>
            </a:r>
          </a:p>
          <a:p/>
          <a:p>
            <a:r>
              <a:t>The panel on the right breaks the word itself down. It comes from two Greek roots: philos, meaning love or attraction, and sophia, meaning wisdom. So philosophy is literally the love of wisdom — an activity of pursuit, not a possession.</a:t>
            </a:r>
          </a:p>
          <a:p/>
          <a:p>
            <a:r>
              <a:t>The right-hand panel also gives the three foundations. First, wonder as origin: philosophy starts in perplexity about what is real, what can be known, and what is worth doing. Second, rational inquiry as method: arguments are examined for validity, evidence and coherence, and an appeal to authority is not enough. Third, systematic reflection as form: ideas are organised into coherent positions and the consequences of each position are traced out.</a:t>
            </a:r>
          </a:p>
          <a:p/>
          <a:p>
            <a:r>
              <a:t>The fourth statement on the left adds something the definition alone can miss — dialogue as practice. Philosophy is conducted publicly, in criticism and reply. That is why this presentation ends with discussion questions rather than with a conclusion that closes the matter.</a:t>
            </a:r>
          </a:p>
          <a:p/>
          <a:p>
            <a:r>
              <a:t>Transition: Within this practice, five classical branches have developed. Each asks a different kind of question.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five classical branches (about 80 seconds).</a:t>
            </a:r>
          </a:p>
          <a:p/>
          <a:p>
            <a:r>
              <a:t>This is the conceptual toolkit for the rest of the presentation. Five branches, five different questions, five different tests of adequacy.</a:t>
            </a:r>
          </a:p>
          <a:p/>
          <a:p>
            <a:r>
              <a:t>Metaphysics asks what is real. It deals with reality, existence, being, mind, causation and time. When a researcher claims that something exists — a construct such as intelligence, or a variable such as motivation — that is a metaphysical commitment, and it should be made explicit.</a:t>
            </a:r>
          </a:p>
          <a:p/>
          <a:p>
            <a:r>
              <a:t>Epistemology asks what can we know, and how. It deals with knowledge, belief, truth, justification and evidence. This branch directly guides research method, and I will return to it on the methodology slide.</a:t>
            </a:r>
          </a:p>
          <a:p/>
          <a:p>
            <a:r>
              <a:t>Ethics asks what ought we to do. It covers right action, virtue, duty and consequences. It guides conduct and it underlies professional codes of research integrity.</a:t>
            </a:r>
          </a:p>
          <a:p/>
          <a:p>
            <a:r>
              <a:t>Logic asks what follows from what. It covers validity, inference and the structure of arguments. Its job is to guard reasoning against fallacy — which is a technical matter, not a matter of opinion.</a:t>
            </a:r>
          </a:p>
          <a:p/>
          <a:p>
            <a:r>
              <a:t>Aesthetics asks what beauty is, and what makes a judgement of taste defensible. It covers art, expression and form, and it guides criticism and interpretation. It matters to education because the arts are part of the curriculum and their value is contested.</a:t>
            </a:r>
          </a:p>
          <a:p/>
          <a:p>
            <a:r>
              <a:t>Look at the diagram on the right: each column repeats the question, and then lists what the branch covers and what it guides. Notice the visual point — I have given each branch its own icon and its own colour, and those colours stay consistent for the rest of the deck.</a:t>
            </a:r>
          </a:p>
          <a:p/>
          <a:p>
            <a:r>
              <a:t>Transition: Now let me bring this toolkit to bear on education.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Philosophy and education (about 65 seconds).</a:t>
            </a:r>
          </a:p>
          <a:p/>
          <a:p>
            <a:r>
              <a:t>The relationship between philosophy and education runs in both directions, and the diagram makes that explicit with two arrows. Philosophy clarifies the aims, values and criteria of education. Education then tests those aims against experience and makes them public. The footer cites Dewey's Democracy and Education of 1916, Peters's Ethics and Education of 1966, and Biesta's Good Education in an Age of Measurement of 2010 — three points across a century where that two-way relation was argued.</a:t>
            </a:r>
          </a:p>
          <a:p/>
          <a:p>
            <a:r>
              <a:t>The four cards on the right take each element in turn. Aims: what is education for? Growth, autonomy, citizenship, employability — each of these is a value claim, not a neutral description, and philosophy's job is to make the value claim visible. Curriculum: which knowledge is most worth teaching, and on what grounds is that selection made? Pedagogy: how should teaching be conducted — by authority, by dialogue, by discovery, or by direct instruction? Assessment: what counts as genuine educational success, and what does measuring it distort?</a:t>
            </a:r>
          </a:p>
          <a:p/>
          <a:p>
            <a:r>
              <a:t>That last question is the sharpest. Biesta's argument is that an excessive focus on measurable outcomes can produce a democratic deficit in education, because what is easily measured displaces what is educationally important.</a:t>
            </a:r>
          </a:p>
          <a:p/>
          <a:p>
            <a:r>
              <a:t>The four statements on the left make the same point in condensed form, so you can read them at a glance.</a:t>
            </a:r>
          </a:p>
          <a:p/>
          <a:p>
            <a:r>
              <a:t>Transition: If those are the questions, what does philosophy actually do in a school?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role of philosophy in education (about 70 seconds).</a:t>
            </a:r>
          </a:p>
          <a:p/>
          <a:p>
            <a:r>
              <a:t>This slide answers a practical question: what does philosophy actually do in education? I have identified five tasks, and I want to be careful that none of them is overstated.</a:t>
            </a:r>
          </a:p>
          <a:p/>
          <a:p>
            <a:r>
              <a:t>First, clarifying aims. Philosophy distinguishes what education is for from what it currently measures. Those are not the same thing, and conflating them is a common policy error.</a:t>
            </a:r>
          </a:p>
          <a:p/>
          <a:p>
            <a:r>
              <a:t>Second, examining assumptions. Every classroom rests on beliefs about learners, about knowledge, and about authority. Philosophy's job is to make those implicit beliefs explicit so they can be examined rather than merely inherited.</a:t>
            </a:r>
          </a:p>
          <a:p/>
          <a:p>
            <a:r>
              <a:t>Third, developing critical thinking. Siegel's Educating Reason, from 1988, argues that rationality and critical thinking should be a curriculum objective in their own right, not a by-product of teaching subjects.</a:t>
            </a:r>
          </a:p>
          <a:p/>
          <a:p>
            <a:r>
              <a:t>Fourth, grounding moral education. Noddings's work on an ethics of care, from 1984, is one example of a reasoned framework for values education — the alternative to simply asserting values to students.</a:t>
            </a:r>
          </a:p>
          <a:p/>
          <a:p>
            <a:r>
              <a:t>Fifth, framing policy debate. Philosophy supplies the normative vocabulary in which competing educational proposals can be compared.</a:t>
            </a:r>
          </a:p>
          <a:p/>
          <a:p>
            <a:r>
              <a:t>The photograph shows a teacher helping pupils in a classroom in the Zaatari refugee camp in Jordan. I chose it because it shows the ordinary situation that all five of these abstract tasks are about. Philosophy enters that room through the aims, the assumptions and the judgements the teacher brings. It does not enter as an extra subject on the timetable.</a:t>
            </a:r>
          </a:p>
          <a:p/>
          <a:p>
            <a:r>
              <a:t>Transition: Those judgements cluster into recognisable traditions. Let me compare the five major ones.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major educational philosophies (about 90 seconds).</a:t>
            </a:r>
          </a:p>
          <a:p/>
          <a:p>
            <a:r>
              <a:t>This is the analytical centre of the presentation. The table compares five traditions across four dimensions, and I want to explain the logic of the comparison before the details.</a:t>
            </a:r>
          </a:p>
          <a:p/>
          <a:p>
            <a:r>
              <a:t>The key point is on the left: these traditions do not disagree about whether to teach. They disagree about what reality and knowledge are taken to be, and therefore about what teaching should aim at. That is why the second column is "reality and knowledge" — it is the foundation, and the other columns follow from it.</a:t>
            </a:r>
          </a:p>
          <a:p/>
          <a:p>
            <a:r>
              <a:t>Idealism holds that reality is mind-dependent and truth is coherence of ideas. Education aims at self-realisation, and the teacher is an exemplar who works through dialogue and great texts.</a:t>
            </a:r>
          </a:p>
          <a:p/>
          <a:p>
            <a:r>
              <a:t>Realism holds that reality exists independently of the mind and knowledge mirrors that order. Education aims at understanding the ordered world, and the teacher is an authority presenting organised subject matter.</a:t>
            </a:r>
          </a:p>
          <a:p/>
          <a:p>
            <a:r>
              <a:t>Pragmatism holds that reality is experience and truth is what works in inquiry. Education aims at growth through solving real problems, and the teacher is a guide while the learner is an active inquirer. Dewey is the central figure here.</a:t>
            </a:r>
          </a:p>
          <a:p/>
          <a:p>
            <a:r>
              <a:t>Naturalism holds that nature is the whole of reality and development unfolds naturally. Education is child-centred, the teacher is a facilitator, and interference is minimised. Rousseau is the classic reference.</a:t>
            </a:r>
          </a:p>
          <a:p/>
          <a:p>
            <a:r>
              <a:t>Existentialism holds that existence precedes essence, so meaning must be chosen rather than received. Education aims at authenticity, freedom and personal responsibility, and the teacher provokes rather than instructs.</a:t>
            </a:r>
          </a:p>
          <a:p/>
          <a:p>
            <a:r>
              <a:t>The footer is important for academic honesty: this is a synthesis of standard accounts, citing Gutek, Curren and Siegel. It is a conceptual comparison, not an empirical study of which tradition works better.</a:t>
            </a:r>
          </a:p>
          <a:p/>
          <a:p>
            <a:r>
              <a:t>Transition: What do these abstractions look like when a teacher stands in front of a class?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Classroom applications (about 70 seconds).</a:t>
            </a:r>
          </a:p>
          <a:p/>
          <a:p>
            <a:r>
              <a:t>This slide moves from theory to practice. The point I want to establish is that the same syllabus can be taught in five different ways, and that each tradition produces a recognisable classroom signature.</a:t>
            </a:r>
          </a:p>
          <a:p/>
          <a:p>
            <a:r>
              <a:t>Idealism shows up as seminar questioning that asks pupils to justify their beliefs. Its risk, which critics point out, is that it can neglect practical skills.</a:t>
            </a:r>
          </a:p>
          <a:p/>
          <a:p>
            <a:r>
              <a:t>Realism shows up as careful observation, worked examples, and mastery of established knowledge. Its risk is learner passivity.</a:t>
            </a:r>
          </a:p>
          <a:p/>
          <a:p>
            <a:r>
              <a:t>Pragmatism shows up as projects that solve real problems. Its risk is that inquiry can fragment systematic knowledge, so pupils learn to solve problems without acquiring a coherent body of understanding.</a:t>
            </a:r>
          </a:p>
          <a:p/>
          <a:p>
            <a:r>
              <a:t>Naturalism shows up as interest-led discovery and outdoor work. Its risk is uneven coverage, because pupils' interests do not map neatly onto a curriculum.</a:t>
            </a:r>
          </a:p>
          <a:p/>
          <a:p>
            <a:r>
              <a:t>Existentialism shows up as reflective journals and open dilemmas. Its risk is underplaying shared knowledge, which pupils need in order to choose meaningfully in the first place.</a:t>
            </a:r>
          </a:p>
          <a:p/>
          <a:p>
            <a:r>
              <a:t>The cards on the right restate these compactly. The footer repeats the caution: these are illustrative practices and I am claiming no effect sizes. The risks are the ones identified in the philosophical literature, and they are the reason most real schools blend traditions rather than following one.</a:t>
            </a:r>
          </a:p>
          <a:p/>
          <a:p>
            <a:r>
              <a:t>Transition: Education sits inside a wider society. Let me widen the frame.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Philosophy and society (about 65 seconds).</a:t>
            </a:r>
          </a:p>
          <a:p/>
          <a:p>
            <a:r>
              <a:t>Now I widen the frame. The claim on this slide is that society is not a natural object which philosophy merely observes. It is partly constituted by the concepts we use to organise it — and philosophy both supplies and criticises those concepts.</a:t>
            </a:r>
          </a:p>
          <a:p/>
          <a:p>
            <a:r>
              <a:t>The diagram sets out four layers. At the base, persons: reasoning and choosing agents who can be held responsible for their actions. Above them, communities: shared norms, trust, dialogue and care — the informal fabric that lies beneath formal rules. Above them, institutions: law, schools, health, media and science, each of which embodies normative commitments. And at the top, the state and global order: rights, justice, legitimacy and peace — and the difficult problem of agreeing on those across different cultures.</a:t>
            </a:r>
          </a:p>
          <a:p/>
          <a:p>
            <a:r>
              <a:t>The two photographs give the abstract layers a concrete referent. The first shows a press conference, because free inquiry and free reporting are social conditions that philosophy helps both to justify and to limit. The second shows community service in San Diego, because responsibility is exercised in particular acts rather than only discussed in the abstract.</a:t>
            </a:r>
          </a:p>
          <a:p/>
          <a:p>
            <a:r>
              <a:t>The four statements on the left restate the layers so the slide can be read without the diagram.</a:t>
            </a:r>
          </a:p>
          <a:p/>
          <a:p>
            <a:r>
              <a:t>Transition: Four concepts do most of the work in that discussion — justice, equality, freedom and responsibility. Let me take them one at a time.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Justice, equality, freedom and responsibility (about 75 seconds).</a:t>
            </a:r>
          </a:p>
          <a:p/>
          <a:p>
            <a:r>
              <a:t>Four concepts do most of the work in public argument, and I want to show what each commits us to.</a:t>
            </a:r>
          </a:p>
          <a:p/>
          <a:p>
            <a:r>
              <a:t>Justice. Rawls, in A Theory of Justice, argues that justice is the first virtue of social institutions, and proposes that we test principles of justice from behind a veil of ignorance — that is, by asking what rules we would accept if we did not know what position we would occupy in society.</a:t>
            </a:r>
          </a:p>
          <a:p/>
          <a:p>
            <a:r>
              <a:t>Equality. This is the one where precision matters most, because equal moral worth, equal opportunity and equal treatment are three distinct demands, and they can conflict with each other. Treating everyone identically can perpetuate inequality of outcome.</a:t>
            </a:r>
          </a:p>
          <a:p/>
          <a:p>
            <a:r>
              <a:t>Freedom. The classical distinction is between negative freedom, which is non-interference, and positive freedom, which is the real capability to act. Amartya Sen's Development as Freedom argues that both matter, and that poverty is a deprivation of capability rather than merely of income.</a:t>
            </a:r>
          </a:p>
          <a:p/>
          <a:p>
            <a:r>
              <a:t>Responsibility. Rights presuppose duties. A claim of freedom imposes obligations on others as well as conferring entitlements — that is the point of the handshake icon.</a:t>
            </a:r>
          </a:p>
          <a:p/>
          <a:p>
            <a:r>
              <a:t>The two photographs keep this from floating free of the world. Lady Justice outside the Civil Court in Melbourne dramatises the demand that judgement be both fair and enforceable. The National Equality March of 2009 shows equality being claimed in public argument, addressed to those who disagree. That is precisely the practice philosophy tries to make rigorous.</a:t>
            </a:r>
          </a:p>
          <a:p/>
          <a:p>
            <a:r>
              <a:t>Transition: The same concepts reappear inside research, where they become questions of method and integrity.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Philosophy in research (about 75 seconds).</a:t>
            </a:r>
          </a:p>
          <a:p/>
          <a:p>
            <a:r>
              <a:t>The claim on this slide is that research is not a neutral procedure which philosophy inspects from outside. Every methodological choice already contains philosophical commitments.</a:t>
            </a:r>
          </a:p>
          <a:p/>
          <a:p>
            <a:r>
              <a:t>The workflow across the top of the diagram shows eight stages: problem, question, theory and literature, design, data collection, analysis, interpretation, publication. Below it, five philosophical lenses apply to those stages.</a:t>
            </a:r>
          </a:p>
          <a:p/>
          <a:p>
            <a:r>
              <a:t>Ontology asks what exists to be studied. If a researcher treats a construct such as motivation or intelligence as a measurable thing, that is a metaphysical commitment, and it deserves to be stated.</a:t>
            </a:r>
          </a:p>
          <a:p/>
          <a:p>
            <a:r>
              <a:t>Epistemology asks how it can be known. Positivist, interpretive and critical paradigms license different methods and different kinds of evidence. Choosing a questionnaire rather than an interview is an epistemological choice.</a:t>
            </a:r>
          </a:p>
          <a:p/>
          <a:p>
            <a:r>
              <a:t>Axiology asks whose values shape the inquiry. Problem selection and framing are never value-free — the decision to study one question rather than another reflects priorities.</a:t>
            </a:r>
          </a:p>
          <a:p/>
          <a:p>
            <a:r>
              <a:t>Logic asks whether the inferences hold. Validity and the avoidance of fallacy are technical requirements, not matters of taste.</a:t>
            </a:r>
          </a:p>
          <a:p/>
          <a:p>
            <a:r>
              <a:t>And falsifiability: Popper argued in The Logic of Scientific Discovery that a claim is scientific only if it forbids something — that is, only if some possible observation could refute it. That is why the later slides on reproducibility matter.</a:t>
            </a:r>
          </a:p>
          <a:p/>
          <a:p>
            <a:r>
              <a:t>Transition: From method, let me move to publication — the point at which research becomes public and accountable.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Publication and research ethics (about 70 seconds).</a:t>
            </a:r>
          </a:p>
          <a:p/>
          <a:p>
            <a:r>
              <a:t>Publication is the point at which research becomes a public claim, and that is where ethical obligation becomes most explicit. Four pillars carry most of the burden.</a:t>
            </a:r>
          </a:p>
          <a:p/>
          <a:p>
            <a:r>
              <a:t>Informed consent: participants are told the purpose, the risks and their right to withdraw, and they agree freely. This is the pillar that the Belmont Report of 1979 and the Declaration of Helsinki were written to secure.</a:t>
            </a:r>
          </a:p>
          <a:p/>
          <a:p>
            <a:r>
              <a:t>Confidentiality: personal data are protected and anonymity is preserved where it was promised. Breaking that promise is not a technical failure but a breach of trust.</a:t>
            </a:r>
          </a:p>
          <a:p/>
          <a:p>
            <a:r>
              <a:t>Attribution: other people's words, data and images are credited. Plagiarism is a breach of integrity because it misrepresents whose work is being presented.</a:t>
            </a:r>
          </a:p>
          <a:p/>
          <a:p>
            <a:r>
              <a:t>Integrity: no fabrication, falsification or selective reporting, and methods and limits are declared. This is where research misconduct is usually classified.</a:t>
            </a:r>
          </a:p>
          <a:p/>
          <a:p>
            <a:r>
              <a:t>The fifth statement adds peer review and authorship: authorship should reflect real contribution, and reviewers must declare conflicts of interest.</a:t>
            </a:r>
          </a:p>
          <a:p/>
          <a:p>
            <a:r>
              <a:t>The diagram on the right puts each pillar in its own block with an icon. The footer cites the Belmont Report, the Declaration of Helsinki and the Singapore Statement on Research Integrity of 2010.</a:t>
            </a:r>
          </a:p>
          <a:p/>
          <a:p>
            <a:r>
              <a:t>Transition: These principles are easier to accept in the abstract than to apply. Let me look at cases where they were violated.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Examples of ethical and unethical practice (about 85 seconds).</a:t>
            </a:r>
          </a:p>
          <a:p/>
          <a:p>
            <a:r>
              <a:t>I want to be careful here, because these cases are often told as morality tales and that flattens what they actually teach. The distinction is usually not between good and bad researchers. It is between practices that protect participants and readers, and practices that do not — and the difference is often procedural.</a:t>
            </a:r>
          </a:p>
          <a:p/>
          <a:p>
            <a:r>
              <a:t>The Tuskegee syphilis study ran from 1932 to 1972. Treatment was withheld from participants who were not informed of the study's purpose. This case is a direct cause of the Belmont Report and of modern institutional review.</a:t>
            </a:r>
          </a:p>
          <a:p/>
          <a:p>
            <a:r>
              <a:t>Milgram's 1963 obedience study produced important findings about obedience to authority, but it caused serious distress to participants, and it prompted the development of ethical review for research on human subjects.</a:t>
            </a:r>
          </a:p>
          <a:p/>
          <a:p>
            <a:r>
              <a:t>The Stanford prison experiment in 1971 assigned students to guard and prisoner roles, and produced abusive behaviour. It has since been criticised on ethical and methodological grounds — Zimbardo himself later wrote about it critically.</a:t>
            </a:r>
          </a:p>
          <a:p/>
          <a:p>
            <a:r>
              <a:t>The Wakefield paper published in The Lancet in 1998 was retracted in 2010. I include it because it illustrates a different failure: not harm to participants, but publication without adequate scrutiny, and the public consequences that followed.</a:t>
            </a:r>
          </a:p>
          <a:p/>
          <a:p>
            <a:r>
              <a:t>The last statement is the constructive one. Large-scale replication efforts found substantially lower reproducibility than the field expected, and that finding motivated the open-science reforms — preregistration, data sharing, and reporting standards.</a:t>
            </a:r>
          </a:p>
          <a:p/>
          <a:p>
            <a:r>
              <a:t>The comparison table on the right sets accepted practice against misconduct in five matched pairs, so the contrast is visible at a glance.</a:t>
            </a:r>
          </a:p>
          <a:p/>
          <a:p>
            <a:r>
              <a:t>Transition: What can we take from all this for education and society?</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Philosophy in everyday life (about 60 seconds).</a:t>
            </a:r>
          </a:p>
          <a:p/>
          <a:p>
            <a:r>
              <a:t>It would be a failure of this presentation if philosophy came across as something confined to seminars. The claim here is that philosophy is present whenever a person weighs evidence, asks whether a rule is fair, or decides what they owe to others — which is to say, most days.</a:t>
            </a:r>
          </a:p>
          <a:p/>
          <a:p>
            <a:r>
              <a:t>Evaluating claims: deciding whether a headline, an advertisement or a policy claim is actually supported by evidence. That is applied epistemology.</a:t>
            </a:r>
          </a:p>
          <a:p/>
          <a:p>
            <a:r>
              <a:t>Making moral decisions: weighing honesty, loyalty, harm and fairness when they point in different directions. That is applied ethics.</a:t>
            </a:r>
          </a:p>
          <a:p/>
          <a:p>
            <a:r>
              <a:t>Disagreeing well: distinguishing disagreement about facts from disagreement about values. Much public argument goes wrong precisely because the two are confused.</a:t>
            </a:r>
          </a:p>
          <a:p/>
          <a:p>
            <a:r>
              <a:t>Professional judgement: engineers, doctors and teachers apply codes of conduct that encode ethical reasoning. As a computer science student, I would add that the ethics of artificial intelligence is now a professional requirement, not an optional interest. UNESCO's 2021 Recommendation on the Ethics of Artificial Intelligence is one current example.</a:t>
            </a:r>
          </a:p>
          <a:p/>
          <a:p>
            <a:r>
              <a:t>Living with uncertainty: acting reasonably without guarantees, and revising beliefs when the evidence changes.</a:t>
            </a:r>
          </a:p>
          <a:p/>
          <a:p>
            <a:r>
              <a:t>The photographs connect this to education. The first shows children at school, where the habits of questioning and justifying begin long before anyone calls it philosophy. The second shows a university teaching space, where everyday reasoning is examined systematically for the first time.</a:t>
            </a:r>
          </a:p>
          <a:p/>
          <a:p>
            <a:r>
              <a:t>Transition: Let me draw out the implications for both.</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Implications for education and society (about 70 seconds).</a:t>
            </a:r>
          </a:p>
          <a:p/>
          <a:p>
            <a:r>
              <a:t>I want to be explicit about the status of what follows. These are reasoned proposals drawn from the literature, not empirical findings of my own. I have not tested them.</a:t>
            </a:r>
          </a:p>
          <a:p/>
          <a:p>
            <a:r>
              <a:t>For the curriculum: protect philosophy, ethics and logic within the curriculum rather than treating them as optional extras. When timetables are under pressure, these are usually the first subjects to be reduced.</a:t>
            </a:r>
          </a:p>
          <a:p/>
          <a:p>
            <a:r>
              <a:t>For teaching: make reasoning a taught objective rather than an incidental by-product. Siegel's argument is that critical thinking does not develop reliably just by studying a subject; it has to be taught.</a:t>
            </a:r>
          </a:p>
          <a:p/>
          <a:p>
            <a:r>
              <a:t>For research training: introduce consent, confidentiality and attribution at the start of student projects, not as a formality at the end.</a:t>
            </a:r>
          </a:p>
          <a:p/>
          <a:p>
            <a:r>
              <a:t>For pedagogy: model argument and respectful disagreement, and use dilemma discussion to build judgement. This is where the educational traditions on slide eight converge, despite their differences.</a:t>
            </a:r>
          </a:p>
          <a:p/>
          <a:p>
            <a:r>
              <a:t>For public reasoning: judge public claims by evidence rather than volume, and defend equality and freedom as argued principles rather than slogans.</a:t>
            </a:r>
          </a:p>
          <a:p/>
          <a:p>
            <a:r>
              <a:t>The diagram groups these into three columns — curriculum, pedagogy and society. The footer again marks them as reasoned proposals rather than findings.</a:t>
            </a:r>
          </a:p>
          <a:p/>
          <a:p>
            <a:r>
              <a:t>Transition: Before concluding, let me be honest about the limits of this presentation.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Limitations and further study (about 65 seconds).</a:t>
            </a:r>
          </a:p>
          <a:p/>
          <a:p>
            <a:r>
              <a:t>I think it is more useful to state the limits of a presentation than to hope nobody notices them. Four limitations bound what I have claimed.</a:t>
            </a:r>
          </a:p>
          <a:p/>
          <a:p>
            <a:r>
              <a:t>First, no primary data. This is a synthesis of published scholarship. I conducted no experiment, survey or intervention, so every empirical statement I have made comes from someone else's published work, cited on the reference slides.</a:t>
            </a:r>
          </a:p>
          <a:p/>
          <a:p>
            <a:r>
              <a:t>Second, cultural scope. The five branches and the five educational traditions are presented from a predominantly Western philosophical tradition. Comparable traditions in Indian, Chinese and Islamic thought exist and are not represented here.</a:t>
            </a:r>
          </a:p>
          <a:p/>
          <a:p>
            <a:r>
              <a:t>Third, no effectiveness claims. I have not claimed that any educational philosophy produces better outcomes. Making that claim would require empirical testing, and the traditions on slide eight are conceptual frameworks, not interventions with measured effects.</a:t>
            </a:r>
          </a:p>
          <a:p/>
          <a:p>
            <a:r>
              <a:t>Fourth, selection. Five traditions were compared; other frameworks and hybrid positions are not represented.</a:t>
            </a:r>
          </a:p>
          <a:p/>
          <a:p>
            <a:r>
              <a:t>The last point is constructive: a systematic review of reasoning instruction, or a comparative study of the kind of dilemma discussion I recommended, would be the natural way to test the proposals I have made.</a:t>
            </a:r>
          </a:p>
          <a:p/>
          <a:p>
            <a:r>
              <a:t>The photographs make the boundary concrete. The first shows students reading — the published record on which this synthesis rests. The second shows a commencement ceremony — whether philosophical education changes graduates' reasoning is precisely the open empirical question I have not answered.</a:t>
            </a:r>
          </a:p>
          <a:p/>
          <a:p>
            <a:r>
              <a:t>Transition: Let me close by drawing the argument together.</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Conclusion (about 70 seconds).</a:t>
            </a:r>
          </a:p>
          <a:p/>
          <a:p>
            <a:r>
              <a:t>Let me draw the argument together.</a:t>
            </a:r>
          </a:p>
          <a:p/>
          <a:p>
            <a:r>
              <a:t>Philosophy is best understood as the connective discipline. It does not sit alongside education and research as a separate subject; it supplies the reasoning that makes both of them defensible.</a:t>
            </a:r>
          </a:p>
          <a:p/>
          <a:p>
            <a:r>
              <a:t>Five takeaways. First, philosophy is a practice, not a doctrine — it is justified questioning, and it is judged by the quality of its reasons rather than by the fame of its authorities.</a:t>
            </a:r>
          </a:p>
          <a:p/>
          <a:p>
            <a:r>
              <a:t>Second, the five branches each apply a distinct standard: metaphysics asks what is real, epistemology what can be known, ethics what ought to be done, logic what follows, and aesthetics what counts as beauty. Those standards are not interchangeable.</a:t>
            </a:r>
          </a:p>
          <a:p/>
          <a:p>
            <a:r>
              <a:t>Third, education is the proving ground. Aims, curriculum, pedagogy and assessment are where abstract philosophical claims become consequential, because they affect what children actually experience.</a:t>
            </a:r>
          </a:p>
          <a:p/>
          <a:p>
            <a:r>
              <a:t>Fourth, research ethics is applied philosophy. Consent, confidentiality, attribution and integrity are reasoned obligations, not administrative paperwork.</a:t>
            </a:r>
          </a:p>
          <a:p/>
          <a:p>
            <a:r>
              <a:t>Fifth, a philosophically literate society argues better. Justice, equality and freedom are argued principles, and a public that can follow those arguments makes better collective decisions.</a:t>
            </a:r>
          </a:p>
          <a:p/>
          <a:p>
            <a:r>
              <a:t>The diagram shows philosophy at the centre with three consequences radiating from it: education, individuals and society. The right-hand panel repeats the five takeaways as a summary.</a:t>
            </a:r>
          </a:p>
          <a:p/>
          <a:p>
            <a:r>
              <a:t>That completes the presentation. Thank you — I am happy to take questions.</a:t>
            </a:r>
          </a:p>
          <a:p/>
          <a:p>
            <a:r>
              <a:t>Transition: I have prepared a short list of the questions I expect, which appears on the final reference slide, and I am glad to take any others.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References, part one (about 30 seconds).</a:t>
            </a:r>
          </a:p>
          <a:p/>
          <a:p>
            <a:r>
              <a:t>This slide lists the journal articles and the standards or institutional sources. Every one has been verified: the DOIs resolve through Crossref, and the standards documents were retrieved from the issuing bodies.</a:t>
            </a:r>
          </a:p>
          <a:p/>
          <a:p>
            <a:r>
              <a:t>The articles include the empirical studies I cited on the ethics slide — Milgram's obedience study, the Lancet retraction of the Wakefield paper, the reproducibility study, and surveys of research misconduct by Fanelli and by Martinson and colleagues. They also include the philosophical literature on educational research, notably Biesta's argument about evidence-based practice, and the open-science reform programme led by Nosek and colleagues.</a:t>
            </a:r>
          </a:p>
          <a:p/>
          <a:p>
            <a:r>
              <a:t>The standards are the Belmont Report, the Declaration of Helsinki, the Singapore Statement on Research Integrity, the ALLEA European Code of Conduct, the ICMJE recommendations, and UNESCO's Recommendation on the Ethics of Artificial Intelligence.</a:t>
            </a:r>
          </a:p>
          <a:p/>
          <a:p>
            <a:r>
              <a:t>The note at the top is deliberate: all of these are supplementary scholarly literature. I collected no primary data, so nothing on these slides reports my own findings.</a:t>
            </a:r>
          </a:p>
          <a:p/>
          <a:p>
            <a:r>
              <a:t>Transition: The book references and the discussion questions follow.</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References, part two, and discussion questions (about 40 seconds).</a:t>
            </a:r>
          </a:p>
          <a:p/>
          <a:p>
            <a:r>
              <a:t>The upper part of this slide lists the books, in three columns. The works fall into four groups. The philosophical foundations: Russell's History of Western Philosophy, Kuhn's Structure of Scientific Revolutions, Popper's Logic of Scientific Discovery, Rawls's A Theory of Justice, and Sen's Development as Freedom. The philosophy of education: Dewey, Peters, Hirst, Whitehead, Freire, Noddings, Gutmann, Siegel, Curren, Gutek, hooks and Nussbaum. The research ethics texts: Beauchamp and Childress, and Shamoo and Resnik. And the case-study sources: Jones on the Tuskegee study, Zimbardo on the Stanford prison experiment, Milgram on obedience, and Skloot on Henrietta Lacks.</a:t>
            </a:r>
          </a:p>
          <a:p/>
          <a:p>
            <a:r>
              <a:t>At the bottom are four questions I would be glad to discuss. The first is the one I find hardest: can education pursue measurable outcomes without distorting its aims? The second asks whether research ethics is best taught as procedure or as reasoning. The third asks whether critical thinking is a separate subject or an outcome of subject teaching. And the fourth asks what a society loses when public argument is settled by volume rather than by evidence.</a:t>
            </a:r>
          </a:p>
          <a:p/>
          <a:p>
            <a:r>
              <a:t>Thank you for your attention. I am happy to take questions on any part of the presentation, and I have prepared a separate written list of anticipated questions with short, sourced answers if anyone would like it.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image" Target="../media/image11.jpg"/><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12.png"/><Relationship Id="rId5" Type="http://schemas.openxmlformats.org/officeDocument/2006/relationships/image" Target="../media/image13.png"/><Relationship Id="rId6" Type="http://schemas.openxmlformats.org/officeDocument/2006/relationships/image" Target="../media/image14.png"/><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image" Target="../media/image8.png"/><Relationship Id="rId4" Type="http://schemas.openxmlformats.org/officeDocument/2006/relationships/image" Target="../media/image16.png"/><Relationship Id="rId5" Type="http://schemas.openxmlformats.org/officeDocument/2006/relationships/image" Target="../media/image17.png"/><Relationship Id="rId6" Type="http://schemas.openxmlformats.org/officeDocument/2006/relationships/image" Target="../media/image18.png"/><Relationship Id="rId7" Type="http://schemas.openxmlformats.org/officeDocument/2006/relationships/image" Target="../media/image19.png"/><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image" Target="../media/image21.png"/><Relationship Id="rId4" Type="http://schemas.openxmlformats.org/officeDocument/2006/relationships/image" Target="../media/image4.png"/><Relationship Id="rId5" Type="http://schemas.openxmlformats.org/officeDocument/2006/relationships/image" Target="../media/image22.png"/><Relationship Id="rId6" Type="http://schemas.openxmlformats.org/officeDocument/2006/relationships/image" Target="../media/image23.png"/><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image" Target="../media/image24.png"/><Relationship Id="rId4" Type="http://schemas.openxmlformats.org/officeDocument/2006/relationships/image" Target="../media/image25.png"/><Relationship Id="rId5" Type="http://schemas.openxmlformats.org/officeDocument/2006/relationships/image" Target="../media/image26.png"/><Relationship Id="rId6" Type="http://schemas.openxmlformats.org/officeDocument/2006/relationships/image" Target="../media/image27.png"/><Relationship Id="rId7" Type="http://schemas.openxmlformats.org/officeDocument/2006/relationships/image" Target="../media/image28.jpg"/><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image" Target="../media/image30.png"/><Relationship Id="rId4" Type="http://schemas.openxmlformats.org/officeDocument/2006/relationships/image" Target="../media/image24.png"/><Relationship Id="rId5" Type="http://schemas.openxmlformats.org/officeDocument/2006/relationships/image" Target="../media/image31.png"/><Relationship Id="rId6" Type="http://schemas.openxmlformats.org/officeDocument/2006/relationships/image" Target="../media/image32.png"/><Relationship Id="rId7" Type="http://schemas.openxmlformats.org/officeDocument/2006/relationships/image" Target="../media/image33.png"/><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image" Target="../media/image30.png"/><Relationship Id="rId4" Type="http://schemas.openxmlformats.org/officeDocument/2006/relationships/image" Target="../media/image24.png"/><Relationship Id="rId5" Type="http://schemas.openxmlformats.org/officeDocument/2006/relationships/image" Target="../media/image31.png"/><Relationship Id="rId6" Type="http://schemas.openxmlformats.org/officeDocument/2006/relationships/image" Target="../media/image32.png"/><Relationship Id="rId7" Type="http://schemas.openxmlformats.org/officeDocument/2006/relationships/image" Target="../media/image34.png"/><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35.png"/><Relationship Id="rId4" Type="http://schemas.openxmlformats.org/officeDocument/2006/relationships/image" Target="../media/image12.png"/><Relationship Id="rId5" Type="http://schemas.openxmlformats.org/officeDocument/2006/relationships/image" Target="../media/image36.png"/><Relationship Id="rId6" Type="http://schemas.openxmlformats.org/officeDocument/2006/relationships/image" Target="../media/image37.jpg"/><Relationship Id="rId7" Type="http://schemas.openxmlformats.org/officeDocument/2006/relationships/image" Target="../media/image38.jpg"/><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 Id="rId3" Type="http://schemas.openxmlformats.org/officeDocument/2006/relationships/image" Target="../media/image40.png"/><Relationship Id="rId4" Type="http://schemas.openxmlformats.org/officeDocument/2006/relationships/image" Target="../media/image41.png"/><Relationship Id="rId5" Type="http://schemas.openxmlformats.org/officeDocument/2006/relationships/image" Target="../media/image42.png"/><Relationship Id="rId6" Type="http://schemas.openxmlformats.org/officeDocument/2006/relationships/image" Target="../media/image43.jpg"/><Relationship Id="rId7" Type="http://schemas.openxmlformats.org/officeDocument/2006/relationships/image" Target="../media/image44.png"/><Relationship Id="rId8"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image" Target="../media/image8.png"/><Relationship Id="rId4" Type="http://schemas.openxmlformats.org/officeDocument/2006/relationships/image" Target="../media/image16.png"/><Relationship Id="rId5" Type="http://schemas.openxmlformats.org/officeDocument/2006/relationships/image" Target="../media/image17.png"/><Relationship Id="rId6" Type="http://schemas.openxmlformats.org/officeDocument/2006/relationships/image" Target="../media/image45.png"/><Relationship Id="rId7" Type="http://schemas.openxmlformats.org/officeDocument/2006/relationships/image" Target="../media/image46.png"/><Relationship Id="rId8"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7.png"/><Relationship Id="rId3" Type="http://schemas.openxmlformats.org/officeDocument/2006/relationships/image" Target="../media/image48.png"/><Relationship Id="rId4" Type="http://schemas.openxmlformats.org/officeDocument/2006/relationships/image" Target="../media/image49.png"/><Relationship Id="rId5" Type="http://schemas.openxmlformats.org/officeDocument/2006/relationships/image" Target="../media/image17.png"/><Relationship Id="rId6" Type="http://schemas.openxmlformats.org/officeDocument/2006/relationships/image" Target="../media/image27.png"/><Relationship Id="rId7" Type="http://schemas.openxmlformats.org/officeDocument/2006/relationships/image" Target="../media/image50.png"/><Relationship Id="rId8"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1.png"/><Relationship Id="rId3" Type="http://schemas.openxmlformats.org/officeDocument/2006/relationships/image" Target="../media/image27.png"/><Relationship Id="rId4" Type="http://schemas.openxmlformats.org/officeDocument/2006/relationships/image" Target="../media/image52.png"/><Relationship Id="rId5" Type="http://schemas.openxmlformats.org/officeDocument/2006/relationships/image" Target="../media/image53.png"/><Relationship Id="rId6" Type="http://schemas.openxmlformats.org/officeDocument/2006/relationships/image" Target="../media/image54.png"/><Relationship Id="rId7" Type="http://schemas.openxmlformats.org/officeDocument/2006/relationships/image" Target="../media/image55.png"/><Relationship Id="rId8"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image" Target="../media/image56.png"/><Relationship Id="rId4" Type="http://schemas.openxmlformats.org/officeDocument/2006/relationships/image" Target="../media/image57.png"/><Relationship Id="rId5" Type="http://schemas.openxmlformats.org/officeDocument/2006/relationships/image" Target="../media/image17.png"/><Relationship Id="rId6" Type="http://schemas.openxmlformats.org/officeDocument/2006/relationships/image" Target="../media/image58.png"/><Relationship Id="rId7" Type="http://schemas.openxmlformats.org/officeDocument/2006/relationships/image" Target="../media/image59.jpg"/><Relationship Id="rId8" Type="http://schemas.openxmlformats.org/officeDocument/2006/relationships/image" Target="../media/image60.jpg"/><Relationship Id="rId9"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1.png"/><Relationship Id="rId3" Type="http://schemas.openxmlformats.org/officeDocument/2006/relationships/image" Target="../media/image8.png"/><Relationship Id="rId4" Type="http://schemas.openxmlformats.org/officeDocument/2006/relationships/image" Target="../media/image48.png"/><Relationship Id="rId5" Type="http://schemas.openxmlformats.org/officeDocument/2006/relationships/image" Target="../media/image62.png"/><Relationship Id="rId6" Type="http://schemas.openxmlformats.org/officeDocument/2006/relationships/image" Target="../media/image63.png"/><Relationship Id="rId7" Type="http://schemas.openxmlformats.org/officeDocument/2006/relationships/image" Target="../media/image64.png"/><Relationship Id="rId8"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36.png"/><Relationship Id="rId4" Type="http://schemas.openxmlformats.org/officeDocument/2006/relationships/image" Target="../media/image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jpg"/><Relationship Id="rId8" Type="http://schemas.openxmlformats.org/officeDocument/2006/relationships/image" Target="../media/image68.jpg"/><Relationship Id="rId9"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image" Target="../media/image69.png"/><Relationship Id="rId4" Type="http://schemas.openxmlformats.org/officeDocument/2006/relationships/image" Target="../media/image70.png"/><Relationship Id="rId5" Type="http://schemas.openxmlformats.org/officeDocument/2006/relationships/image" Target="../media/image5.png"/><Relationship Id="rId6" Type="http://schemas.openxmlformats.org/officeDocument/2006/relationships/image" Target="../media/image63.png"/><Relationship Id="rId7" Type="http://schemas.openxmlformats.org/officeDocument/2006/relationships/image" Target="../media/image71.png"/><Relationship Id="rId8"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2.png"/><Relationship Id="rId3" Type="http://schemas.openxmlformats.org/officeDocument/2006/relationships/notesSlide" Target="../notesSlides/notesSlide2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969" cy="2395728"/>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2395728"/>
            <a:ext cx="12191969" cy="68580"/>
          </a:xfrm>
          <a:prstGeom prst="rect">
            <a:avLst/>
          </a:prstGeom>
          <a:solidFill>
            <a:srgbClr val="C25E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philosophy_thinking.jpg"/>
          <p:cNvPicPr>
            <a:picLocks noChangeAspect="1"/>
          </p:cNvPicPr>
          <p:nvPr/>
        </p:nvPicPr>
        <p:blipFill>
          <a:blip r:embed="rId2"/>
          <a:stretch>
            <a:fillRect/>
          </a:stretch>
        </p:blipFill>
        <p:spPr>
          <a:xfrm>
            <a:off x="8652510" y="274320"/>
            <a:ext cx="2811779" cy="1874519"/>
          </a:xfrm>
          <a:prstGeom prst="rect">
            <a:avLst/>
          </a:prstGeom>
        </p:spPr>
      </p:pic>
      <p:sp>
        <p:nvSpPr>
          <p:cNvPr id="6" name="TextBox 5"/>
          <p:cNvSpPr txBox="1"/>
          <p:nvPr/>
        </p:nvSpPr>
        <p:spPr>
          <a:xfrm>
            <a:off x="566928" y="402336"/>
            <a:ext cx="7406640" cy="274320"/>
          </a:xfrm>
          <a:prstGeom prst="rect">
            <a:avLst/>
          </a:prstGeom>
          <a:noFill/>
        </p:spPr>
        <p:txBody>
          <a:bodyPr wrap="square" lIns="0" rIns="0" tIns="0" bIns="0" anchor="t">
            <a:spAutoFit/>
          </a:bodyPr>
          <a:lstStyle/>
          <a:p>
            <a:pPr algn="l">
              <a:lnSpc>
                <a:spcPct val="106000"/>
              </a:lnSpc>
              <a:spcBef>
                <a:spcPts val="0"/>
              </a:spcBef>
              <a:spcAft>
                <a:spcPts val="0"/>
              </a:spcAft>
            </a:pPr>
            <a:r>
              <a:rPr sz="1040" b="1">
                <a:solidFill>
                  <a:srgbClr val="E8A33D"/>
                </a:solidFill>
                <a:latin typeface="Calibri"/>
              </a:rPr>
              <a:t>RESEARCH SEMINAR  •  PHILOSOPHY OF EDUCATION</a:t>
            </a:r>
          </a:p>
        </p:txBody>
      </p:sp>
      <p:sp>
        <p:nvSpPr>
          <p:cNvPr id="7" name="TextBox 6"/>
          <p:cNvSpPr txBox="1"/>
          <p:nvPr/>
        </p:nvSpPr>
        <p:spPr>
          <a:xfrm>
            <a:off x="566928" y="731520"/>
            <a:ext cx="7498079" cy="1188720"/>
          </a:xfrm>
          <a:prstGeom prst="rect">
            <a:avLst/>
          </a:prstGeom>
          <a:noFill/>
        </p:spPr>
        <p:txBody>
          <a:bodyPr wrap="square" lIns="0" rIns="0" tIns="0" bIns="0" anchor="t">
            <a:spAutoFit/>
          </a:bodyPr>
          <a:lstStyle/>
          <a:p>
            <a:pPr algn="l">
              <a:lnSpc>
                <a:spcPct val="98000"/>
              </a:lnSpc>
              <a:spcBef>
                <a:spcPts val="0"/>
              </a:spcBef>
              <a:spcAft>
                <a:spcPts val="0"/>
              </a:spcAft>
            </a:pPr>
            <a:r>
              <a:rPr sz="3350" b="1">
                <a:solidFill>
                  <a:srgbClr val="FFFFFF"/>
                </a:solidFill>
                <a:latin typeface="Calibri"/>
              </a:rPr>
              <a:t>Philosophy and Its Role in
Education and Society</a:t>
            </a:r>
          </a:p>
        </p:txBody>
      </p:sp>
      <p:sp>
        <p:nvSpPr>
          <p:cNvPr id="8" name="TextBox 7"/>
          <p:cNvSpPr txBox="1"/>
          <p:nvPr/>
        </p:nvSpPr>
        <p:spPr>
          <a:xfrm>
            <a:off x="566928" y="2761488"/>
            <a:ext cx="5120640" cy="822960"/>
          </a:xfrm>
          <a:prstGeom prst="rect">
            <a:avLst/>
          </a:prstGeom>
          <a:noFill/>
        </p:spPr>
        <p:txBody>
          <a:bodyPr wrap="square" lIns="0" rIns="0" tIns="0" bIns="0" anchor="t">
            <a:spAutoFit/>
          </a:bodyPr>
          <a:lstStyle/>
          <a:p>
            <a:pPr algn="l">
              <a:lnSpc>
                <a:spcPct val="112000"/>
              </a:lnSpc>
              <a:spcBef>
                <a:spcPts val="0"/>
              </a:spcBef>
              <a:spcAft>
                <a:spcPts val="0"/>
              </a:spcAft>
            </a:pPr>
            <a:r>
              <a:rPr sz="1240" b="0">
                <a:solidFill>
                  <a:srgbClr val="333A42"/>
                </a:solidFill>
                <a:latin typeface="Calibri"/>
              </a:rPr>
              <a:t>A conceptual study of the foundations, branches and social functions of philosophy, and of its application to education and to responsible research practice.</a:t>
            </a:r>
          </a:p>
        </p:txBody>
      </p:sp>
      <p:sp>
        <p:nvSpPr>
          <p:cNvPr id="9" name="Rectangle 8"/>
          <p:cNvSpPr/>
          <p:nvPr/>
        </p:nvSpPr>
        <p:spPr>
          <a:xfrm>
            <a:off x="566928" y="3621024"/>
            <a:ext cx="5120640" cy="10058"/>
          </a:xfrm>
          <a:prstGeom prst="rect">
            <a:avLst/>
          </a:prstGeom>
          <a:solidFill>
            <a:srgbClr val="D5D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66928" y="3767328"/>
            <a:ext cx="5852160" cy="1371600"/>
          </a:xfrm>
          <a:prstGeom prst="rect">
            <a:avLst/>
          </a:prstGeom>
          <a:noFill/>
        </p:spPr>
        <p:txBody>
          <a:bodyPr wrap="square" lIns="0" rIns="0" tIns="0" bIns="0" anchor="t">
            <a:spAutoFit/>
          </a:bodyPr>
          <a:lstStyle/>
          <a:p>
            <a:pPr algn="l">
              <a:lnSpc>
                <a:spcPct val="106000"/>
              </a:lnSpc>
              <a:spcBef>
                <a:spcPts val="0"/>
              </a:spcBef>
              <a:spcAft>
                <a:spcPts val="550"/>
              </a:spcAft>
            </a:pPr>
            <a:r>
              <a:rPr sz="1160" b="0">
                <a:solidFill>
                  <a:srgbClr val="5F6B7A"/>
                </a:solidFill>
                <a:latin typeface="Calibri"/>
              </a:rPr>
              <a:t>Presented by   </a:t>
            </a:r>
            <a:r>
              <a:rPr sz="1160" b="1">
                <a:solidFill>
                  <a:srgbClr val="0F2D52"/>
                </a:solidFill>
                <a:latin typeface="Calibri"/>
              </a:rPr>
              <a:t>Kaudilyar. R</a:t>
            </a:r>
          </a:p>
          <a:p>
            <a:pPr algn="l">
              <a:lnSpc>
                <a:spcPct val="106000"/>
              </a:lnSpc>
              <a:spcBef>
                <a:spcPts val="0"/>
              </a:spcBef>
              <a:spcAft>
                <a:spcPts val="550"/>
              </a:spcAft>
            </a:pPr>
            <a:r>
              <a:rPr sz="1160" b="0">
                <a:solidFill>
                  <a:srgbClr val="5F6B7A"/>
                </a:solidFill>
                <a:latin typeface="Calibri"/>
              </a:rPr>
              <a:t>Department   </a:t>
            </a:r>
            <a:r>
              <a:rPr sz="1160" b="1">
                <a:solidFill>
                  <a:srgbClr val="0F2D52"/>
                </a:solidFill>
                <a:latin typeface="Calibri"/>
              </a:rPr>
              <a:t>Department of Computer Science and Engineering</a:t>
            </a:r>
          </a:p>
          <a:p>
            <a:pPr algn="l">
              <a:lnSpc>
                <a:spcPct val="106000"/>
              </a:lnSpc>
              <a:spcBef>
                <a:spcPts val="0"/>
              </a:spcBef>
              <a:spcAft>
                <a:spcPts val="550"/>
              </a:spcAft>
            </a:pPr>
            <a:r>
              <a:rPr sz="1160" b="0">
                <a:solidFill>
                  <a:srgbClr val="5F6B7A"/>
                </a:solidFill>
                <a:latin typeface="Calibri"/>
              </a:rPr>
              <a:t>Citation style   </a:t>
            </a:r>
            <a:r>
              <a:rPr sz="1160" b="1">
                <a:solidFill>
                  <a:srgbClr val="0F2D52"/>
                </a:solidFill>
                <a:latin typeface="Calibri"/>
              </a:rPr>
              <a:t>APA 7th edition</a:t>
            </a:r>
          </a:p>
          <a:p>
            <a:pPr algn="l">
              <a:lnSpc>
                <a:spcPct val="106000"/>
              </a:lnSpc>
              <a:spcBef>
                <a:spcPts val="0"/>
              </a:spcBef>
              <a:spcAft>
                <a:spcPts val="550"/>
              </a:spcAft>
            </a:pPr>
            <a:r>
              <a:rPr sz="1160" b="0">
                <a:solidFill>
                  <a:srgbClr val="5F6B7A"/>
                </a:solidFill>
                <a:latin typeface="Calibri"/>
              </a:rPr>
              <a:t>Format   </a:t>
            </a:r>
            <a:r>
              <a:rPr sz="1160" b="1">
                <a:solidFill>
                  <a:srgbClr val="0F2D52"/>
                </a:solidFill>
                <a:latin typeface="Calibri"/>
              </a:rPr>
              <a:t>Conceptual synthesis — no primary data collected</a:t>
            </a:r>
          </a:p>
        </p:txBody>
      </p:sp>
      <p:sp>
        <p:nvSpPr>
          <p:cNvPr id="11" name="Rounded Rectangle 10"/>
          <p:cNvSpPr/>
          <p:nvPr/>
        </p:nvSpPr>
        <p:spPr>
          <a:xfrm>
            <a:off x="566928" y="5358384"/>
            <a:ext cx="11058113" cy="841248"/>
          </a:xfrm>
          <a:prstGeom prst="roundRect">
            <a:avLst/>
          </a:prstGeom>
          <a:solidFill>
            <a:srgbClr val="EEF3F9"/>
          </a:solidFill>
          <a:ln w="9525">
            <a:solidFill>
              <a:srgbClr val="D5DA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66928" y="5449824"/>
            <a:ext cx="50292" cy="658368"/>
          </a:xfrm>
          <a:prstGeom prst="rect">
            <a:avLst/>
          </a:prstGeom>
          <a:solidFill>
            <a:srgbClr val="C25E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bulb_orange.png"/>
          <p:cNvPicPr>
            <a:picLocks noChangeAspect="1"/>
          </p:cNvPicPr>
          <p:nvPr/>
        </p:nvPicPr>
        <p:blipFill>
          <a:blip r:embed="rId3"/>
          <a:stretch>
            <a:fillRect/>
          </a:stretch>
        </p:blipFill>
        <p:spPr>
          <a:xfrm>
            <a:off x="749808" y="5614416"/>
            <a:ext cx="274320" cy="274320"/>
          </a:xfrm>
          <a:prstGeom prst="rect">
            <a:avLst/>
          </a:prstGeom>
        </p:spPr>
      </p:pic>
      <p:sp>
        <p:nvSpPr>
          <p:cNvPr id="14" name="TextBox 13"/>
          <p:cNvSpPr txBox="1"/>
          <p:nvPr/>
        </p:nvSpPr>
        <p:spPr>
          <a:xfrm>
            <a:off x="1170432" y="5477256"/>
            <a:ext cx="10235153" cy="658368"/>
          </a:xfrm>
          <a:prstGeom prst="rect">
            <a:avLst/>
          </a:prstGeom>
          <a:noFill/>
        </p:spPr>
        <p:txBody>
          <a:bodyPr wrap="square" lIns="0" rIns="0" tIns="0" bIns="0" anchor="t">
            <a:spAutoFit/>
          </a:bodyPr>
          <a:lstStyle/>
          <a:p>
            <a:pPr algn="l">
              <a:lnSpc>
                <a:spcPct val="106000"/>
              </a:lnSpc>
              <a:spcBef>
                <a:spcPts val="0"/>
              </a:spcBef>
              <a:spcAft>
                <a:spcPts val="0"/>
              </a:spcAft>
            </a:pPr>
            <a:r>
              <a:rPr sz="1040" b="1">
                <a:solidFill>
                  <a:srgbClr val="C25E1A"/>
                </a:solidFill>
                <a:latin typeface="Calibri"/>
              </a:rPr>
              <a:t>Central claim</a:t>
            </a:r>
          </a:p>
          <a:p>
            <a:pPr algn="l">
              <a:lnSpc>
                <a:spcPct val="106000"/>
              </a:lnSpc>
              <a:spcBef>
                <a:spcPts val="150"/>
              </a:spcBef>
              <a:spcAft>
                <a:spcPts val="0"/>
              </a:spcAft>
            </a:pPr>
            <a:r>
              <a:rPr sz="1120" b="0">
                <a:solidFill>
                  <a:srgbClr val="333A42"/>
                </a:solidFill>
                <a:latin typeface="Calibri"/>
              </a:rPr>
              <a:t>Philosophy is not a museum of opinions but a working discipline: it supplies the reasoning by which education justifies its aims and by which research defends its integrity.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6012" cy="6858000"/>
          </a:xfrm>
          <a:prstGeom prst="rect">
            <a:avLst/>
          </a:prstGeom>
          <a:solidFill>
            <a:srgbClr val="C25E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56616"/>
            <a:ext cx="11058113" cy="219456"/>
          </a:xfrm>
          <a:prstGeom prst="rect">
            <a:avLst/>
          </a:prstGeom>
          <a:noFill/>
        </p:spPr>
        <p:txBody>
          <a:bodyPr wrap="square" lIns="0" rIns="0" tIns="0" bIns="0" anchor="t">
            <a:spAutoFit/>
          </a:bodyPr>
          <a:lstStyle/>
          <a:p>
            <a:pPr algn="l">
              <a:lnSpc>
                <a:spcPct val="106000"/>
              </a:lnSpc>
              <a:spcBef>
                <a:spcPts val="0"/>
              </a:spcBef>
              <a:spcAft>
                <a:spcPts val="0"/>
              </a:spcAft>
            </a:pPr>
            <a:r>
              <a:rPr sz="960" b="1">
                <a:solidFill>
                  <a:srgbClr val="C25E1A"/>
                </a:solidFill>
                <a:latin typeface="Calibri"/>
              </a:rPr>
              <a:t>OVERVIEW</a:t>
            </a:r>
          </a:p>
        </p:txBody>
      </p:sp>
      <p:sp>
        <p:nvSpPr>
          <p:cNvPr id="5" name="TextBox 4"/>
          <p:cNvSpPr txBox="1"/>
          <p:nvPr/>
        </p:nvSpPr>
        <p:spPr>
          <a:xfrm>
            <a:off x="566928" y="557784"/>
            <a:ext cx="9960833" cy="566928"/>
          </a:xfrm>
          <a:prstGeom prst="rect">
            <a:avLst/>
          </a:prstGeom>
          <a:noFill/>
        </p:spPr>
        <p:txBody>
          <a:bodyPr wrap="square" lIns="0" rIns="0" tIns="0" bIns="0" anchor="t">
            <a:spAutoFit/>
          </a:bodyPr>
          <a:lstStyle/>
          <a:p>
            <a:pPr algn="l">
              <a:lnSpc>
                <a:spcPct val="100000"/>
              </a:lnSpc>
              <a:spcBef>
                <a:spcPts val="0"/>
              </a:spcBef>
              <a:spcAft>
                <a:spcPts val="0"/>
              </a:spcAft>
            </a:pPr>
            <a:r>
              <a:rPr sz="2500" b="1">
                <a:solidFill>
                  <a:srgbClr val="0F2D52"/>
                </a:solidFill>
                <a:latin typeface="Calibri"/>
              </a:rPr>
              <a:t>Abstract and structure of the argument</a:t>
            </a:r>
          </a:p>
        </p:txBody>
      </p:sp>
      <p:sp>
        <p:nvSpPr>
          <p:cNvPr id="6" name="Rectangle 5"/>
          <p:cNvSpPr/>
          <p:nvPr/>
        </p:nvSpPr>
        <p:spPr>
          <a:xfrm>
            <a:off x="566928" y="950976"/>
            <a:ext cx="11058113" cy="10058"/>
          </a:xfrm>
          <a:prstGeom prst="rect">
            <a:avLst/>
          </a:prstGeom>
          <a:solidFill>
            <a:srgbClr val="D5D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6492240"/>
            <a:ext cx="10143713" cy="219456"/>
          </a:xfrm>
          <a:prstGeom prst="rect">
            <a:avLst/>
          </a:prstGeom>
          <a:noFill/>
        </p:spPr>
        <p:txBody>
          <a:bodyPr wrap="square" lIns="0" rIns="0" tIns="0" bIns="0" anchor="t">
            <a:spAutoFit/>
          </a:bodyPr>
          <a:lstStyle/>
          <a:p>
            <a:pPr algn="l">
              <a:lnSpc>
                <a:spcPct val="106000"/>
              </a:lnSpc>
              <a:spcBef>
                <a:spcPts val="0"/>
              </a:spcBef>
              <a:spcAft>
                <a:spcPts val="0"/>
              </a:spcAft>
            </a:pPr>
            <a:r>
              <a:rPr sz="819" b="0">
                <a:solidFill>
                  <a:srgbClr val="8A94A2"/>
                </a:solidFill>
                <a:latin typeface="Calibri"/>
              </a:rPr>
              <a:t>Philosophy and Its Role in Education and Society</a:t>
            </a:r>
          </a:p>
        </p:txBody>
      </p:sp>
      <p:sp>
        <p:nvSpPr>
          <p:cNvPr id="8" name="TextBox 7"/>
          <p:cNvSpPr txBox="1"/>
          <p:nvPr/>
        </p:nvSpPr>
        <p:spPr>
          <a:xfrm>
            <a:off x="10802081" y="6492240"/>
            <a:ext cx="822960" cy="219456"/>
          </a:xfrm>
          <a:prstGeom prst="rect">
            <a:avLst/>
          </a:prstGeom>
          <a:noFill/>
        </p:spPr>
        <p:txBody>
          <a:bodyPr wrap="square" lIns="0" rIns="0" tIns="0" bIns="0" anchor="t">
            <a:spAutoFit/>
          </a:bodyPr>
          <a:lstStyle/>
          <a:p>
            <a:pPr algn="r">
              <a:lnSpc>
                <a:spcPct val="106000"/>
              </a:lnSpc>
              <a:spcBef>
                <a:spcPts val="0"/>
              </a:spcBef>
              <a:spcAft>
                <a:spcPts val="0"/>
              </a:spcAft>
            </a:pPr>
            <a:r>
              <a:rPr sz="860" b="1">
                <a:solidFill>
                  <a:srgbClr val="5F6B7A"/>
                </a:solidFill>
                <a:latin typeface="Calibri"/>
              </a:rPr>
              <a:t>2 / 18</a:t>
            </a:r>
          </a:p>
        </p:txBody>
      </p:sp>
      <p:sp>
        <p:nvSpPr>
          <p:cNvPr id="9" name="TextBox 8"/>
          <p:cNvSpPr txBox="1"/>
          <p:nvPr/>
        </p:nvSpPr>
        <p:spPr>
          <a:xfrm>
            <a:off x="566928" y="1188720"/>
            <a:ext cx="5394960" cy="566928"/>
          </a:xfrm>
          <a:prstGeom prst="rect">
            <a:avLst/>
          </a:prstGeom>
          <a:noFill/>
        </p:spPr>
        <p:txBody>
          <a:bodyPr wrap="square" lIns="0" rIns="0" tIns="0" bIns="0" anchor="t">
            <a:spAutoFit/>
          </a:bodyPr>
          <a:lstStyle/>
          <a:p>
            <a:pPr algn="l">
              <a:lnSpc>
                <a:spcPct val="110000"/>
              </a:lnSpc>
              <a:spcBef>
                <a:spcPts val="0"/>
              </a:spcBef>
              <a:spcAft>
                <a:spcPts val="0"/>
              </a:spcAft>
            </a:pPr>
            <a:r>
              <a:rPr sz="1240" b="0">
                <a:solidFill>
                  <a:srgbClr val="333A42"/>
                </a:solidFill>
                <a:latin typeface="Calibri"/>
              </a:rPr>
              <a:t>This presentation argues that philosophy performs three connected functions: it clarifies what we can know, it guides what we should do, and it disciplines how we inquire. Education and research are the two domains where those functions have the most visible consequences.</a:t>
            </a:r>
          </a:p>
        </p:txBody>
      </p:sp>
      <p:pic>
        <p:nvPicPr>
          <p:cNvPr id="10" name="Picture 9" descr="bulb_orange.png"/>
          <p:cNvPicPr>
            <a:picLocks noChangeAspect="1"/>
          </p:cNvPicPr>
          <p:nvPr/>
        </p:nvPicPr>
        <p:blipFill>
          <a:blip r:embed="rId2"/>
          <a:stretch>
            <a:fillRect/>
          </a:stretch>
        </p:blipFill>
        <p:spPr>
          <a:xfrm>
            <a:off x="566928" y="2043684"/>
            <a:ext cx="219456" cy="219456"/>
          </a:xfrm>
          <a:prstGeom prst="rect">
            <a:avLst/>
          </a:prstGeom>
        </p:spPr>
      </p:pic>
      <p:sp>
        <p:nvSpPr>
          <p:cNvPr id="11" name="TextBox 10"/>
          <p:cNvSpPr txBox="1"/>
          <p:nvPr/>
        </p:nvSpPr>
        <p:spPr>
          <a:xfrm>
            <a:off x="905256" y="2029968"/>
            <a:ext cx="5056632" cy="274320"/>
          </a:xfrm>
          <a:prstGeom prst="rect">
            <a:avLst/>
          </a:prstGeom>
          <a:noFill/>
        </p:spPr>
        <p:txBody>
          <a:bodyPr wrap="square" lIns="0" rIns="0" tIns="0" bIns="0" anchor="t">
            <a:spAutoFit/>
          </a:bodyPr>
          <a:lstStyle/>
          <a:p>
            <a:pPr algn="l">
              <a:lnSpc>
                <a:spcPct val="102000"/>
              </a:lnSpc>
              <a:spcBef>
                <a:spcPts val="0"/>
              </a:spcBef>
              <a:spcAft>
                <a:spcPts val="0"/>
              </a:spcAft>
            </a:pPr>
            <a:r>
              <a:rPr sz="1160" b="1">
                <a:solidFill>
                  <a:srgbClr val="C25E1A"/>
                </a:solidFill>
                <a:latin typeface="Calibri"/>
              </a:rPr>
              <a:t>Foundations and branches</a:t>
            </a:r>
          </a:p>
        </p:txBody>
      </p:sp>
      <p:sp>
        <p:nvSpPr>
          <p:cNvPr id="12" name="TextBox 11"/>
          <p:cNvSpPr txBox="1"/>
          <p:nvPr/>
        </p:nvSpPr>
        <p:spPr>
          <a:xfrm>
            <a:off x="905256" y="2226360"/>
            <a:ext cx="5056632" cy="697433"/>
          </a:xfrm>
          <a:prstGeom prst="rect">
            <a:avLst/>
          </a:prstGeom>
          <a:noFill/>
        </p:spPr>
        <p:txBody>
          <a:bodyPr wrap="square" lIns="0" rIns="0" tIns="0" bIns="0" anchor="t">
            <a:spAutoFit/>
          </a:bodyPr>
          <a:lstStyle/>
          <a:p>
            <a:pPr algn="l">
              <a:lnSpc>
                <a:spcPct val="106000"/>
              </a:lnSpc>
              <a:spcBef>
                <a:spcPts val="0"/>
              </a:spcBef>
              <a:spcAft>
                <a:spcPts val="0"/>
              </a:spcAft>
            </a:pPr>
            <a:r>
              <a:rPr sz="1090" b="0">
                <a:solidFill>
                  <a:srgbClr val="333A42"/>
                </a:solidFill>
                <a:latin typeface="Calibri"/>
              </a:rPr>
              <a:t>Definition of philosophy; metaphysics, epistemology, ethics, logic and aesthetics.</a:t>
            </a:r>
          </a:p>
        </p:txBody>
      </p:sp>
      <p:pic>
        <p:nvPicPr>
          <p:cNvPr id="13" name="Picture 12" descr="cap_orange.png"/>
          <p:cNvPicPr>
            <a:picLocks noChangeAspect="1"/>
          </p:cNvPicPr>
          <p:nvPr/>
        </p:nvPicPr>
        <p:blipFill>
          <a:blip r:embed="rId3"/>
          <a:stretch>
            <a:fillRect/>
          </a:stretch>
        </p:blipFill>
        <p:spPr>
          <a:xfrm>
            <a:off x="566928" y="3060954"/>
            <a:ext cx="219456" cy="219456"/>
          </a:xfrm>
          <a:prstGeom prst="rect">
            <a:avLst/>
          </a:prstGeom>
        </p:spPr>
      </p:pic>
      <p:sp>
        <p:nvSpPr>
          <p:cNvPr id="14" name="TextBox 13"/>
          <p:cNvSpPr txBox="1"/>
          <p:nvPr/>
        </p:nvSpPr>
        <p:spPr>
          <a:xfrm>
            <a:off x="905256" y="3047238"/>
            <a:ext cx="5056632" cy="274320"/>
          </a:xfrm>
          <a:prstGeom prst="rect">
            <a:avLst/>
          </a:prstGeom>
          <a:noFill/>
        </p:spPr>
        <p:txBody>
          <a:bodyPr wrap="square" lIns="0" rIns="0" tIns="0" bIns="0" anchor="t">
            <a:spAutoFit/>
          </a:bodyPr>
          <a:lstStyle/>
          <a:p>
            <a:pPr algn="l">
              <a:lnSpc>
                <a:spcPct val="102000"/>
              </a:lnSpc>
              <a:spcBef>
                <a:spcPts val="0"/>
              </a:spcBef>
              <a:spcAft>
                <a:spcPts val="0"/>
              </a:spcAft>
            </a:pPr>
            <a:r>
              <a:rPr sz="1160" b="1">
                <a:solidFill>
                  <a:srgbClr val="C25E1A"/>
                </a:solidFill>
                <a:latin typeface="Calibri"/>
              </a:rPr>
              <a:t>Education</a:t>
            </a:r>
          </a:p>
        </p:txBody>
      </p:sp>
      <p:sp>
        <p:nvSpPr>
          <p:cNvPr id="15" name="TextBox 14"/>
          <p:cNvSpPr txBox="1"/>
          <p:nvPr/>
        </p:nvSpPr>
        <p:spPr>
          <a:xfrm>
            <a:off x="905256" y="3243630"/>
            <a:ext cx="5056632" cy="697433"/>
          </a:xfrm>
          <a:prstGeom prst="rect">
            <a:avLst/>
          </a:prstGeom>
          <a:noFill/>
        </p:spPr>
        <p:txBody>
          <a:bodyPr wrap="square" lIns="0" rIns="0" tIns="0" bIns="0" anchor="t">
            <a:spAutoFit/>
          </a:bodyPr>
          <a:lstStyle/>
          <a:p>
            <a:pPr algn="l">
              <a:lnSpc>
                <a:spcPct val="106000"/>
              </a:lnSpc>
              <a:spcBef>
                <a:spcPts val="0"/>
              </a:spcBef>
              <a:spcAft>
                <a:spcPts val="0"/>
              </a:spcAft>
            </a:pPr>
            <a:r>
              <a:rPr sz="1090" b="0">
                <a:solidFill>
                  <a:srgbClr val="333A42"/>
                </a:solidFill>
                <a:latin typeface="Calibri"/>
              </a:rPr>
              <a:t>The philosophy–education relation, its role in schooling, and five major traditions.</a:t>
            </a:r>
          </a:p>
        </p:txBody>
      </p:sp>
      <p:pic>
        <p:nvPicPr>
          <p:cNvPr id="16" name="Picture 15" descr="people_teal.png"/>
          <p:cNvPicPr>
            <a:picLocks noChangeAspect="1"/>
          </p:cNvPicPr>
          <p:nvPr/>
        </p:nvPicPr>
        <p:blipFill>
          <a:blip r:embed="rId4"/>
          <a:stretch>
            <a:fillRect/>
          </a:stretch>
        </p:blipFill>
        <p:spPr>
          <a:xfrm>
            <a:off x="566928" y="4078224"/>
            <a:ext cx="219456" cy="219456"/>
          </a:xfrm>
          <a:prstGeom prst="rect">
            <a:avLst/>
          </a:prstGeom>
        </p:spPr>
      </p:pic>
      <p:sp>
        <p:nvSpPr>
          <p:cNvPr id="17" name="TextBox 16"/>
          <p:cNvSpPr txBox="1"/>
          <p:nvPr/>
        </p:nvSpPr>
        <p:spPr>
          <a:xfrm>
            <a:off x="905256" y="4064508"/>
            <a:ext cx="5056632" cy="274320"/>
          </a:xfrm>
          <a:prstGeom prst="rect">
            <a:avLst/>
          </a:prstGeom>
          <a:noFill/>
        </p:spPr>
        <p:txBody>
          <a:bodyPr wrap="square" lIns="0" rIns="0" tIns="0" bIns="0" anchor="t">
            <a:spAutoFit/>
          </a:bodyPr>
          <a:lstStyle/>
          <a:p>
            <a:pPr algn="l">
              <a:lnSpc>
                <a:spcPct val="102000"/>
              </a:lnSpc>
              <a:spcBef>
                <a:spcPts val="0"/>
              </a:spcBef>
              <a:spcAft>
                <a:spcPts val="0"/>
              </a:spcAft>
            </a:pPr>
            <a:r>
              <a:rPr sz="1160" b="1">
                <a:solidFill>
                  <a:srgbClr val="166B67"/>
                </a:solidFill>
                <a:latin typeface="Calibri"/>
              </a:rPr>
              <a:t>Society</a:t>
            </a:r>
          </a:p>
        </p:txBody>
      </p:sp>
      <p:sp>
        <p:nvSpPr>
          <p:cNvPr id="18" name="TextBox 17"/>
          <p:cNvSpPr txBox="1"/>
          <p:nvPr/>
        </p:nvSpPr>
        <p:spPr>
          <a:xfrm>
            <a:off x="905256" y="4260900"/>
            <a:ext cx="5056632" cy="697433"/>
          </a:xfrm>
          <a:prstGeom prst="rect">
            <a:avLst/>
          </a:prstGeom>
          <a:noFill/>
        </p:spPr>
        <p:txBody>
          <a:bodyPr wrap="square" lIns="0" rIns="0" tIns="0" bIns="0" anchor="t">
            <a:spAutoFit/>
          </a:bodyPr>
          <a:lstStyle/>
          <a:p>
            <a:pPr algn="l">
              <a:lnSpc>
                <a:spcPct val="106000"/>
              </a:lnSpc>
              <a:spcBef>
                <a:spcPts val="0"/>
              </a:spcBef>
              <a:spcAft>
                <a:spcPts val="0"/>
              </a:spcAft>
            </a:pPr>
            <a:r>
              <a:rPr sz="1090" b="0">
                <a:solidFill>
                  <a:srgbClr val="333A42"/>
                </a:solidFill>
                <a:latin typeface="Calibri"/>
              </a:rPr>
              <a:t>Justice, equality, freedom and responsibility as publicly argued principles.</a:t>
            </a:r>
          </a:p>
        </p:txBody>
      </p:sp>
      <p:pic>
        <p:nvPicPr>
          <p:cNvPr id="19" name="Picture 18" descr="shield_purple.png"/>
          <p:cNvPicPr>
            <a:picLocks noChangeAspect="1"/>
          </p:cNvPicPr>
          <p:nvPr/>
        </p:nvPicPr>
        <p:blipFill>
          <a:blip r:embed="rId5"/>
          <a:stretch>
            <a:fillRect/>
          </a:stretch>
        </p:blipFill>
        <p:spPr>
          <a:xfrm>
            <a:off x="566928" y="5095494"/>
            <a:ext cx="219456" cy="219456"/>
          </a:xfrm>
          <a:prstGeom prst="rect">
            <a:avLst/>
          </a:prstGeom>
        </p:spPr>
      </p:pic>
      <p:sp>
        <p:nvSpPr>
          <p:cNvPr id="20" name="TextBox 19"/>
          <p:cNvSpPr txBox="1"/>
          <p:nvPr/>
        </p:nvSpPr>
        <p:spPr>
          <a:xfrm>
            <a:off x="905256" y="5081778"/>
            <a:ext cx="5056632" cy="274320"/>
          </a:xfrm>
          <a:prstGeom prst="rect">
            <a:avLst/>
          </a:prstGeom>
          <a:noFill/>
        </p:spPr>
        <p:txBody>
          <a:bodyPr wrap="square" lIns="0" rIns="0" tIns="0" bIns="0" anchor="t">
            <a:spAutoFit/>
          </a:bodyPr>
          <a:lstStyle/>
          <a:p>
            <a:pPr algn="l">
              <a:lnSpc>
                <a:spcPct val="102000"/>
              </a:lnSpc>
              <a:spcBef>
                <a:spcPts val="0"/>
              </a:spcBef>
              <a:spcAft>
                <a:spcPts val="0"/>
              </a:spcAft>
            </a:pPr>
            <a:r>
              <a:rPr sz="1160" b="1">
                <a:solidFill>
                  <a:srgbClr val="5B4B8A"/>
                </a:solidFill>
                <a:latin typeface="Calibri"/>
              </a:rPr>
              <a:t>Research and ethics</a:t>
            </a:r>
          </a:p>
        </p:txBody>
      </p:sp>
      <p:sp>
        <p:nvSpPr>
          <p:cNvPr id="21" name="TextBox 20"/>
          <p:cNvSpPr txBox="1"/>
          <p:nvPr/>
        </p:nvSpPr>
        <p:spPr>
          <a:xfrm>
            <a:off x="905256" y="5278170"/>
            <a:ext cx="5056632" cy="697433"/>
          </a:xfrm>
          <a:prstGeom prst="rect">
            <a:avLst/>
          </a:prstGeom>
          <a:noFill/>
        </p:spPr>
        <p:txBody>
          <a:bodyPr wrap="square" lIns="0" rIns="0" tIns="0" bIns="0" anchor="t">
            <a:spAutoFit/>
          </a:bodyPr>
          <a:lstStyle/>
          <a:p>
            <a:pPr algn="l">
              <a:lnSpc>
                <a:spcPct val="106000"/>
              </a:lnSpc>
              <a:spcBef>
                <a:spcPts val="0"/>
              </a:spcBef>
              <a:spcAft>
                <a:spcPts val="0"/>
              </a:spcAft>
            </a:pPr>
            <a:r>
              <a:rPr sz="1090" b="0">
                <a:solidFill>
                  <a:srgbClr val="333A42"/>
                </a:solidFill>
                <a:latin typeface="Calibri"/>
              </a:rPr>
              <a:t>Method, publication and integrity; consent, confidentiality, attribution.</a:t>
            </a:r>
          </a:p>
        </p:txBody>
      </p:sp>
      <p:pic>
        <p:nvPicPr>
          <p:cNvPr id="22" name="Picture 21" descr="s02_roadmap.png"/>
          <p:cNvPicPr>
            <a:picLocks noChangeAspect="1"/>
          </p:cNvPicPr>
          <p:nvPr/>
        </p:nvPicPr>
        <p:blipFill>
          <a:blip r:embed="rId6"/>
          <a:stretch>
            <a:fillRect/>
          </a:stretch>
        </p:blipFill>
        <p:spPr>
          <a:xfrm>
            <a:off x="6263640" y="1237774"/>
            <a:ext cx="5361401" cy="4903659"/>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6012" cy="6858000"/>
          </a:xfrm>
          <a:prstGeom prst="rect">
            <a:avLst/>
          </a:prstGeom>
          <a:solidFill>
            <a:srgbClr val="C25E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56616"/>
            <a:ext cx="11058113" cy="219456"/>
          </a:xfrm>
          <a:prstGeom prst="rect">
            <a:avLst/>
          </a:prstGeom>
          <a:noFill/>
        </p:spPr>
        <p:txBody>
          <a:bodyPr wrap="square" lIns="0" rIns="0" tIns="0" bIns="0" anchor="t">
            <a:spAutoFit/>
          </a:bodyPr>
          <a:lstStyle/>
          <a:p>
            <a:pPr algn="l">
              <a:lnSpc>
                <a:spcPct val="106000"/>
              </a:lnSpc>
              <a:spcBef>
                <a:spcPts val="0"/>
              </a:spcBef>
              <a:spcAft>
                <a:spcPts val="0"/>
              </a:spcAft>
            </a:pPr>
            <a:r>
              <a:rPr sz="960" b="1">
                <a:solidFill>
                  <a:srgbClr val="C25E1A"/>
                </a:solidFill>
                <a:latin typeface="Calibri"/>
              </a:rPr>
              <a:t>INTRODUCTION AND BACKGROUND</a:t>
            </a:r>
          </a:p>
        </p:txBody>
      </p:sp>
      <p:sp>
        <p:nvSpPr>
          <p:cNvPr id="5" name="TextBox 4"/>
          <p:cNvSpPr txBox="1"/>
          <p:nvPr/>
        </p:nvSpPr>
        <p:spPr>
          <a:xfrm>
            <a:off x="566928" y="557784"/>
            <a:ext cx="9960833" cy="566928"/>
          </a:xfrm>
          <a:prstGeom prst="rect">
            <a:avLst/>
          </a:prstGeom>
          <a:noFill/>
        </p:spPr>
        <p:txBody>
          <a:bodyPr wrap="square" lIns="0" rIns="0" tIns="0" bIns="0" anchor="t">
            <a:spAutoFit/>
          </a:bodyPr>
          <a:lstStyle/>
          <a:p>
            <a:pPr algn="l">
              <a:lnSpc>
                <a:spcPct val="100000"/>
              </a:lnSpc>
              <a:spcBef>
                <a:spcPts val="0"/>
              </a:spcBef>
              <a:spcAft>
                <a:spcPts val="0"/>
              </a:spcAft>
            </a:pPr>
            <a:r>
              <a:rPr sz="2500" b="1">
                <a:solidFill>
                  <a:srgbClr val="0F2D52"/>
                </a:solidFill>
                <a:latin typeface="Calibri"/>
              </a:rPr>
              <a:t>Why philosophy arises — and why it persists</a:t>
            </a:r>
          </a:p>
        </p:txBody>
      </p:sp>
      <p:sp>
        <p:nvSpPr>
          <p:cNvPr id="6" name="Rectangle 5"/>
          <p:cNvSpPr/>
          <p:nvPr/>
        </p:nvSpPr>
        <p:spPr>
          <a:xfrm>
            <a:off x="566928" y="950976"/>
            <a:ext cx="11058113" cy="10058"/>
          </a:xfrm>
          <a:prstGeom prst="rect">
            <a:avLst/>
          </a:prstGeom>
          <a:solidFill>
            <a:srgbClr val="D5D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6492240"/>
            <a:ext cx="10143713" cy="219456"/>
          </a:xfrm>
          <a:prstGeom prst="rect">
            <a:avLst/>
          </a:prstGeom>
          <a:noFill/>
        </p:spPr>
        <p:txBody>
          <a:bodyPr wrap="square" lIns="0" rIns="0" tIns="0" bIns="0" anchor="t">
            <a:spAutoFit/>
          </a:bodyPr>
          <a:lstStyle/>
          <a:p>
            <a:pPr algn="l">
              <a:lnSpc>
                <a:spcPct val="106000"/>
              </a:lnSpc>
              <a:spcBef>
                <a:spcPts val="0"/>
              </a:spcBef>
              <a:spcAft>
                <a:spcPts val="0"/>
              </a:spcAft>
            </a:pPr>
            <a:r>
              <a:rPr sz="819" b="0">
                <a:solidFill>
                  <a:srgbClr val="8A94A2"/>
                </a:solidFill>
                <a:latin typeface="Calibri"/>
              </a:rPr>
              <a:t>Philosophy and Its Role in Education and Society</a:t>
            </a:r>
          </a:p>
        </p:txBody>
      </p:sp>
      <p:sp>
        <p:nvSpPr>
          <p:cNvPr id="8" name="TextBox 7"/>
          <p:cNvSpPr txBox="1"/>
          <p:nvPr/>
        </p:nvSpPr>
        <p:spPr>
          <a:xfrm>
            <a:off x="10802081" y="6492240"/>
            <a:ext cx="822960" cy="219456"/>
          </a:xfrm>
          <a:prstGeom prst="rect">
            <a:avLst/>
          </a:prstGeom>
          <a:noFill/>
        </p:spPr>
        <p:txBody>
          <a:bodyPr wrap="square" lIns="0" rIns="0" tIns="0" bIns="0" anchor="t">
            <a:spAutoFit/>
          </a:bodyPr>
          <a:lstStyle/>
          <a:p>
            <a:pPr algn="r">
              <a:lnSpc>
                <a:spcPct val="106000"/>
              </a:lnSpc>
              <a:spcBef>
                <a:spcPts val="0"/>
              </a:spcBef>
              <a:spcAft>
                <a:spcPts val="0"/>
              </a:spcAft>
            </a:pPr>
            <a:r>
              <a:rPr sz="860" b="1">
                <a:solidFill>
                  <a:srgbClr val="5F6B7A"/>
                </a:solidFill>
                <a:latin typeface="Calibri"/>
              </a:rPr>
              <a:t>3 / 18</a:t>
            </a:r>
          </a:p>
        </p:txBody>
      </p:sp>
      <p:sp>
        <p:nvSpPr>
          <p:cNvPr id="9" name="TextBox 8"/>
          <p:cNvSpPr txBox="1"/>
          <p:nvPr/>
        </p:nvSpPr>
        <p:spPr>
          <a:xfrm>
            <a:off x="566928" y="1188720"/>
            <a:ext cx="5394960" cy="566928"/>
          </a:xfrm>
          <a:prstGeom prst="rect">
            <a:avLst/>
          </a:prstGeom>
          <a:noFill/>
        </p:spPr>
        <p:txBody>
          <a:bodyPr wrap="square" lIns="0" rIns="0" tIns="0" bIns="0" anchor="t">
            <a:spAutoFit/>
          </a:bodyPr>
          <a:lstStyle/>
          <a:p>
            <a:pPr algn="l">
              <a:lnSpc>
                <a:spcPct val="110000"/>
              </a:lnSpc>
              <a:spcBef>
                <a:spcPts val="0"/>
              </a:spcBef>
              <a:spcAft>
                <a:spcPts val="0"/>
              </a:spcAft>
            </a:pPr>
            <a:r>
              <a:rPr sz="1240" b="0">
                <a:solidFill>
                  <a:srgbClr val="333A42"/>
                </a:solidFill>
                <a:latin typeface="Calibri"/>
              </a:rPr>
              <a:t>Philosophy begins wherever human beings refuse to take the world for granted. The classical traditions locate its origin in wonder; modern traditions locate it in doubt. Both agree that it is a practice, not a body of settled answers.</a:t>
            </a:r>
          </a:p>
        </p:txBody>
      </p:sp>
      <p:pic>
        <p:nvPicPr>
          <p:cNvPr id="10" name="Picture 9" descr="quest_navy.png"/>
          <p:cNvPicPr>
            <a:picLocks noChangeAspect="1"/>
          </p:cNvPicPr>
          <p:nvPr/>
        </p:nvPicPr>
        <p:blipFill>
          <a:blip r:embed="rId2"/>
          <a:stretch>
            <a:fillRect/>
          </a:stretch>
        </p:blipFill>
        <p:spPr>
          <a:xfrm>
            <a:off x="566928" y="1988820"/>
            <a:ext cx="219456" cy="219456"/>
          </a:xfrm>
          <a:prstGeom prst="rect">
            <a:avLst/>
          </a:prstGeom>
        </p:spPr>
      </p:pic>
      <p:sp>
        <p:nvSpPr>
          <p:cNvPr id="11" name="TextBox 10"/>
          <p:cNvSpPr txBox="1"/>
          <p:nvPr/>
        </p:nvSpPr>
        <p:spPr>
          <a:xfrm>
            <a:off x="905256" y="1975104"/>
            <a:ext cx="5056632" cy="274320"/>
          </a:xfrm>
          <a:prstGeom prst="rect">
            <a:avLst/>
          </a:prstGeom>
          <a:noFill/>
        </p:spPr>
        <p:txBody>
          <a:bodyPr wrap="square" lIns="0" rIns="0" tIns="0" bIns="0" anchor="t">
            <a:spAutoFit/>
          </a:bodyPr>
          <a:lstStyle/>
          <a:p>
            <a:pPr algn="l">
              <a:lnSpc>
                <a:spcPct val="102000"/>
              </a:lnSpc>
              <a:spcBef>
                <a:spcPts val="0"/>
              </a:spcBef>
              <a:spcAft>
                <a:spcPts val="0"/>
              </a:spcAft>
            </a:pPr>
            <a:r>
              <a:rPr sz="1140" b="1">
                <a:solidFill>
                  <a:srgbClr val="0F2D52"/>
                </a:solidFill>
                <a:latin typeface="Calibri"/>
              </a:rPr>
              <a:t>Origins in wonder</a:t>
            </a:r>
          </a:p>
        </p:txBody>
      </p:sp>
      <p:sp>
        <p:nvSpPr>
          <p:cNvPr id="12" name="TextBox 11"/>
          <p:cNvSpPr txBox="1"/>
          <p:nvPr/>
        </p:nvSpPr>
        <p:spPr>
          <a:xfrm>
            <a:off x="905256" y="2168347"/>
            <a:ext cx="5056632" cy="714298"/>
          </a:xfrm>
          <a:prstGeom prst="rect">
            <a:avLst/>
          </a:prstGeom>
          <a:noFill/>
        </p:spPr>
        <p:txBody>
          <a:bodyPr wrap="square" lIns="0" rIns="0" tIns="0" bIns="0" anchor="t">
            <a:spAutoFit/>
          </a:bodyPr>
          <a:lstStyle/>
          <a:p>
            <a:pPr algn="l">
              <a:lnSpc>
                <a:spcPct val="106000"/>
              </a:lnSpc>
              <a:spcBef>
                <a:spcPts val="0"/>
              </a:spcBef>
              <a:spcAft>
                <a:spcPts val="0"/>
              </a:spcAft>
            </a:pPr>
            <a:r>
              <a:rPr sz="1070" b="0">
                <a:solidFill>
                  <a:srgbClr val="333A42"/>
                </a:solidFill>
                <a:latin typeface="Calibri"/>
              </a:rPr>
              <a:t>Perplexity at existence, knowledge and value: why is there something rather than nothing?</a:t>
            </a:r>
          </a:p>
        </p:txBody>
      </p:sp>
      <p:pic>
        <p:nvPicPr>
          <p:cNvPr id="13" name="Picture 12" descr="search_orange.png"/>
          <p:cNvPicPr>
            <a:picLocks noChangeAspect="1"/>
          </p:cNvPicPr>
          <p:nvPr/>
        </p:nvPicPr>
        <p:blipFill>
          <a:blip r:embed="rId3"/>
          <a:stretch>
            <a:fillRect/>
          </a:stretch>
        </p:blipFill>
        <p:spPr>
          <a:xfrm>
            <a:off x="566928" y="3019806"/>
            <a:ext cx="219456" cy="219456"/>
          </a:xfrm>
          <a:prstGeom prst="rect">
            <a:avLst/>
          </a:prstGeom>
        </p:spPr>
      </p:pic>
      <p:sp>
        <p:nvSpPr>
          <p:cNvPr id="14" name="TextBox 13"/>
          <p:cNvSpPr txBox="1"/>
          <p:nvPr/>
        </p:nvSpPr>
        <p:spPr>
          <a:xfrm>
            <a:off x="905256" y="3006090"/>
            <a:ext cx="5056632" cy="274320"/>
          </a:xfrm>
          <a:prstGeom prst="rect">
            <a:avLst/>
          </a:prstGeom>
          <a:noFill/>
        </p:spPr>
        <p:txBody>
          <a:bodyPr wrap="square" lIns="0" rIns="0" tIns="0" bIns="0" anchor="t">
            <a:spAutoFit/>
          </a:bodyPr>
          <a:lstStyle/>
          <a:p>
            <a:pPr algn="l">
              <a:lnSpc>
                <a:spcPct val="102000"/>
              </a:lnSpc>
              <a:spcBef>
                <a:spcPts val="0"/>
              </a:spcBef>
              <a:spcAft>
                <a:spcPts val="0"/>
              </a:spcAft>
            </a:pPr>
            <a:r>
              <a:rPr sz="1140" b="1">
                <a:solidFill>
                  <a:srgbClr val="C25E1A"/>
                </a:solidFill>
                <a:latin typeface="Calibri"/>
              </a:rPr>
              <a:t>Method of questioning</a:t>
            </a:r>
          </a:p>
        </p:txBody>
      </p:sp>
      <p:sp>
        <p:nvSpPr>
          <p:cNvPr id="15" name="TextBox 14"/>
          <p:cNvSpPr txBox="1"/>
          <p:nvPr/>
        </p:nvSpPr>
        <p:spPr>
          <a:xfrm>
            <a:off x="905256" y="3199333"/>
            <a:ext cx="5056632" cy="714298"/>
          </a:xfrm>
          <a:prstGeom prst="rect">
            <a:avLst/>
          </a:prstGeom>
          <a:noFill/>
        </p:spPr>
        <p:txBody>
          <a:bodyPr wrap="square" lIns="0" rIns="0" tIns="0" bIns="0" anchor="t">
            <a:spAutoFit/>
          </a:bodyPr>
          <a:lstStyle/>
          <a:p>
            <a:pPr algn="l">
              <a:lnSpc>
                <a:spcPct val="106000"/>
              </a:lnSpc>
              <a:spcBef>
                <a:spcPts val="0"/>
              </a:spcBef>
              <a:spcAft>
                <a:spcPts val="0"/>
              </a:spcAft>
            </a:pPr>
            <a:r>
              <a:rPr sz="1070" b="0">
                <a:solidFill>
                  <a:srgbClr val="333A42"/>
                </a:solidFill>
                <a:latin typeface="Calibri"/>
              </a:rPr>
              <a:t>Claims are tested by argument; the Socratic elenchus exposes inconsistency rather than asserting doctrine.</a:t>
            </a:r>
          </a:p>
        </p:txBody>
      </p:sp>
      <p:pic>
        <p:nvPicPr>
          <p:cNvPr id="16" name="Picture 15" descr="chart_teal.png"/>
          <p:cNvPicPr>
            <a:picLocks noChangeAspect="1"/>
          </p:cNvPicPr>
          <p:nvPr/>
        </p:nvPicPr>
        <p:blipFill>
          <a:blip r:embed="rId4"/>
          <a:stretch>
            <a:fillRect/>
          </a:stretch>
        </p:blipFill>
        <p:spPr>
          <a:xfrm>
            <a:off x="566928" y="4050791"/>
            <a:ext cx="219456" cy="219456"/>
          </a:xfrm>
          <a:prstGeom prst="rect">
            <a:avLst/>
          </a:prstGeom>
        </p:spPr>
      </p:pic>
      <p:sp>
        <p:nvSpPr>
          <p:cNvPr id="17" name="TextBox 16"/>
          <p:cNvSpPr txBox="1"/>
          <p:nvPr/>
        </p:nvSpPr>
        <p:spPr>
          <a:xfrm>
            <a:off x="905256" y="4037076"/>
            <a:ext cx="5056632" cy="274320"/>
          </a:xfrm>
          <a:prstGeom prst="rect">
            <a:avLst/>
          </a:prstGeom>
          <a:noFill/>
        </p:spPr>
        <p:txBody>
          <a:bodyPr wrap="square" lIns="0" rIns="0" tIns="0" bIns="0" anchor="t">
            <a:spAutoFit/>
          </a:bodyPr>
          <a:lstStyle/>
          <a:p>
            <a:pPr algn="l">
              <a:lnSpc>
                <a:spcPct val="102000"/>
              </a:lnSpc>
              <a:spcBef>
                <a:spcPts val="0"/>
              </a:spcBef>
              <a:spcAft>
                <a:spcPts val="0"/>
              </a:spcAft>
            </a:pPr>
            <a:r>
              <a:rPr sz="1140" b="1">
                <a:solidFill>
                  <a:srgbClr val="166B67"/>
                </a:solidFill>
                <a:latin typeface="Calibri"/>
              </a:rPr>
              <a:t>Continuity of the discipline</a:t>
            </a:r>
          </a:p>
        </p:txBody>
      </p:sp>
      <p:sp>
        <p:nvSpPr>
          <p:cNvPr id="18" name="TextBox 17"/>
          <p:cNvSpPr txBox="1"/>
          <p:nvPr/>
        </p:nvSpPr>
        <p:spPr>
          <a:xfrm>
            <a:off x="905256" y="4230319"/>
            <a:ext cx="5056632" cy="714298"/>
          </a:xfrm>
          <a:prstGeom prst="rect">
            <a:avLst/>
          </a:prstGeom>
          <a:noFill/>
        </p:spPr>
        <p:txBody>
          <a:bodyPr wrap="square" lIns="0" rIns="0" tIns="0" bIns="0" anchor="t">
            <a:spAutoFit/>
          </a:bodyPr>
          <a:lstStyle/>
          <a:p>
            <a:pPr algn="l">
              <a:lnSpc>
                <a:spcPct val="106000"/>
              </a:lnSpc>
              <a:spcBef>
                <a:spcPts val="0"/>
              </a:spcBef>
              <a:spcAft>
                <a:spcPts val="0"/>
              </a:spcAft>
            </a:pPr>
            <a:r>
              <a:rPr sz="1070" b="0">
                <a:solidFill>
                  <a:srgbClr val="333A42"/>
                </a:solidFill>
                <a:latin typeface="Calibri"/>
              </a:rPr>
              <a:t>From ancient Athens through the scientific revolution to contemporary ethics of technology.</a:t>
            </a:r>
          </a:p>
        </p:txBody>
      </p:sp>
      <p:pic>
        <p:nvPicPr>
          <p:cNvPr id="19" name="Picture 18" descr="globe_purple.png"/>
          <p:cNvPicPr>
            <a:picLocks noChangeAspect="1"/>
          </p:cNvPicPr>
          <p:nvPr/>
        </p:nvPicPr>
        <p:blipFill>
          <a:blip r:embed="rId5"/>
          <a:stretch>
            <a:fillRect/>
          </a:stretch>
        </p:blipFill>
        <p:spPr>
          <a:xfrm>
            <a:off x="566928" y="5081778"/>
            <a:ext cx="219456" cy="219456"/>
          </a:xfrm>
          <a:prstGeom prst="rect">
            <a:avLst/>
          </a:prstGeom>
        </p:spPr>
      </p:pic>
      <p:sp>
        <p:nvSpPr>
          <p:cNvPr id="20" name="TextBox 19"/>
          <p:cNvSpPr txBox="1"/>
          <p:nvPr/>
        </p:nvSpPr>
        <p:spPr>
          <a:xfrm>
            <a:off x="905256" y="5068062"/>
            <a:ext cx="5056632" cy="274320"/>
          </a:xfrm>
          <a:prstGeom prst="rect">
            <a:avLst/>
          </a:prstGeom>
          <a:noFill/>
        </p:spPr>
        <p:txBody>
          <a:bodyPr wrap="square" lIns="0" rIns="0" tIns="0" bIns="0" anchor="t">
            <a:spAutoFit/>
          </a:bodyPr>
          <a:lstStyle/>
          <a:p>
            <a:pPr algn="l">
              <a:lnSpc>
                <a:spcPct val="102000"/>
              </a:lnSpc>
              <a:spcBef>
                <a:spcPts val="0"/>
              </a:spcBef>
              <a:spcAft>
                <a:spcPts val="0"/>
              </a:spcAft>
            </a:pPr>
            <a:r>
              <a:rPr sz="1140" b="1">
                <a:solidFill>
                  <a:srgbClr val="5B4B8A"/>
                </a:solidFill>
                <a:latin typeface="Calibri"/>
              </a:rPr>
              <a:t>Cross-cultural reach</a:t>
            </a:r>
          </a:p>
        </p:txBody>
      </p:sp>
      <p:sp>
        <p:nvSpPr>
          <p:cNvPr id="21" name="TextBox 20"/>
          <p:cNvSpPr txBox="1"/>
          <p:nvPr/>
        </p:nvSpPr>
        <p:spPr>
          <a:xfrm>
            <a:off x="905256" y="5261305"/>
            <a:ext cx="5056632" cy="714298"/>
          </a:xfrm>
          <a:prstGeom prst="rect">
            <a:avLst/>
          </a:prstGeom>
          <a:noFill/>
        </p:spPr>
        <p:txBody>
          <a:bodyPr wrap="square" lIns="0" rIns="0" tIns="0" bIns="0" anchor="t">
            <a:spAutoFit/>
          </a:bodyPr>
          <a:lstStyle/>
          <a:p>
            <a:pPr algn="l">
              <a:lnSpc>
                <a:spcPct val="106000"/>
              </a:lnSpc>
              <a:spcBef>
                <a:spcPts val="0"/>
              </a:spcBef>
              <a:spcAft>
                <a:spcPts val="0"/>
              </a:spcAft>
            </a:pPr>
            <a:r>
              <a:rPr sz="1070" b="0">
                <a:solidFill>
                  <a:srgbClr val="333A42"/>
                </a:solidFill>
                <a:latin typeface="Calibri"/>
              </a:rPr>
              <a:t>Comparable traditions of systematic reflection appear in Indian, Chinese and Islamic thought.</a:t>
            </a:r>
          </a:p>
        </p:txBody>
      </p:sp>
      <p:pic>
        <p:nvPicPr>
          <p:cNvPr id="22" name="Picture 21" descr="academy.jpg"/>
          <p:cNvPicPr>
            <a:picLocks noChangeAspect="1"/>
          </p:cNvPicPr>
          <p:nvPr/>
        </p:nvPicPr>
        <p:blipFill>
          <a:blip r:embed="rId6"/>
          <a:srcRect l="8239" r="8239"/>
          <a:stretch>
            <a:fillRect/>
          </a:stretch>
        </p:blipFill>
        <p:spPr>
          <a:xfrm>
            <a:off x="6263640" y="1152144"/>
            <a:ext cx="5361401" cy="4279392"/>
          </a:xfrm>
          <a:prstGeom prst="rect">
            <a:avLst/>
          </a:prstGeom>
        </p:spPr>
      </p:pic>
      <p:sp>
        <p:nvSpPr>
          <p:cNvPr id="23" name="Rectangle 22"/>
          <p:cNvSpPr/>
          <p:nvPr/>
        </p:nvSpPr>
        <p:spPr>
          <a:xfrm>
            <a:off x="6263640" y="5431536"/>
            <a:ext cx="5361401" cy="475488"/>
          </a:xfrm>
          <a:prstGeom prst="rect">
            <a:avLst/>
          </a:prstGeom>
          <a:solidFill>
            <a:srgbClr val="EEF3F9"/>
          </a:solidFill>
          <a:ln w="9525">
            <a:solidFill>
              <a:srgbClr val="D5DA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391656" y="5500116"/>
            <a:ext cx="5105369" cy="347472"/>
          </a:xfrm>
          <a:prstGeom prst="rect">
            <a:avLst/>
          </a:prstGeom>
          <a:noFill/>
        </p:spPr>
        <p:txBody>
          <a:bodyPr wrap="square" lIns="0" rIns="0" tIns="0" bIns="0" anchor="t">
            <a:spAutoFit/>
          </a:bodyPr>
          <a:lstStyle/>
          <a:p>
            <a:pPr algn="l">
              <a:lnSpc>
                <a:spcPct val="105000"/>
              </a:lnSpc>
              <a:spcBef>
                <a:spcPts val="0"/>
              </a:spcBef>
              <a:spcAft>
                <a:spcPts val="0"/>
              </a:spcAft>
            </a:pPr>
            <a:r>
              <a:rPr sz="1040" b="0">
                <a:solidFill>
                  <a:srgbClr val="333A42"/>
                </a:solidFill>
                <a:latin typeface="Calibri"/>
              </a:rPr>
              <a:t>Raphael’s School of Athens (1509–1511) idealises philosophy as public, reasoned debate across traditions — the visual counterpart of the four stages above.</a:t>
            </a:r>
          </a:p>
        </p:txBody>
      </p:sp>
      <p:sp>
        <p:nvSpPr>
          <p:cNvPr id="25" name="TextBox 24"/>
          <p:cNvSpPr txBox="1"/>
          <p:nvPr/>
        </p:nvSpPr>
        <p:spPr>
          <a:xfrm>
            <a:off x="6263640" y="5943600"/>
            <a:ext cx="5361401" cy="219456"/>
          </a:xfrm>
          <a:prstGeom prst="rect">
            <a:avLst/>
          </a:prstGeom>
          <a:noFill/>
        </p:spPr>
        <p:txBody>
          <a:bodyPr wrap="square" lIns="0" rIns="0" tIns="0" bIns="0" anchor="t">
            <a:spAutoFit/>
          </a:bodyPr>
          <a:lstStyle/>
          <a:p>
            <a:pPr algn="l">
              <a:lnSpc>
                <a:spcPct val="100000"/>
              </a:lnSpc>
              <a:spcBef>
                <a:spcPts val="0"/>
              </a:spcBef>
              <a:spcAft>
                <a:spcPts val="0"/>
              </a:spcAft>
            </a:pPr>
            <a:r>
              <a:rPr sz="720" b="0">
                <a:solidFill>
                  <a:srgbClr val="8A94A2"/>
                </a:solidFill>
                <a:latin typeface="Calibri"/>
              </a:rPr>
              <a:t>Image: "School of Athens" by Raphael, Raphael Rooms, Vatican Museum (48466167851).jpg — Gary Todd from Xinzheng, China (Public domain), via Wikimedia Commons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6012" cy="6858000"/>
          </a:xfrm>
          <a:prstGeom prst="rect">
            <a:avLst/>
          </a:prstGeom>
          <a:solidFill>
            <a:srgbClr val="C25E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56616"/>
            <a:ext cx="11058113" cy="219456"/>
          </a:xfrm>
          <a:prstGeom prst="rect">
            <a:avLst/>
          </a:prstGeom>
          <a:noFill/>
        </p:spPr>
        <p:txBody>
          <a:bodyPr wrap="square" lIns="0" rIns="0" tIns="0" bIns="0" anchor="t">
            <a:spAutoFit/>
          </a:bodyPr>
          <a:lstStyle/>
          <a:p>
            <a:pPr algn="l">
              <a:lnSpc>
                <a:spcPct val="106000"/>
              </a:lnSpc>
              <a:spcBef>
                <a:spcPts val="0"/>
              </a:spcBef>
              <a:spcAft>
                <a:spcPts val="0"/>
              </a:spcAft>
            </a:pPr>
            <a:r>
              <a:rPr sz="960" b="1">
                <a:solidFill>
                  <a:srgbClr val="C25E1A"/>
                </a:solidFill>
                <a:latin typeface="Calibri"/>
              </a:rPr>
              <a:t>DEFINITION AND FOUNDATIONS</a:t>
            </a:r>
          </a:p>
        </p:txBody>
      </p:sp>
      <p:sp>
        <p:nvSpPr>
          <p:cNvPr id="5" name="TextBox 4"/>
          <p:cNvSpPr txBox="1"/>
          <p:nvPr/>
        </p:nvSpPr>
        <p:spPr>
          <a:xfrm>
            <a:off x="566928" y="557784"/>
            <a:ext cx="9960833" cy="566928"/>
          </a:xfrm>
          <a:prstGeom prst="rect">
            <a:avLst/>
          </a:prstGeom>
          <a:noFill/>
        </p:spPr>
        <p:txBody>
          <a:bodyPr wrap="square" lIns="0" rIns="0" tIns="0" bIns="0" anchor="t">
            <a:spAutoFit/>
          </a:bodyPr>
          <a:lstStyle/>
          <a:p>
            <a:pPr algn="l">
              <a:lnSpc>
                <a:spcPct val="100000"/>
              </a:lnSpc>
              <a:spcBef>
                <a:spcPts val="0"/>
              </a:spcBef>
              <a:spcAft>
                <a:spcPts val="0"/>
              </a:spcAft>
            </a:pPr>
            <a:r>
              <a:rPr sz="2500" b="1">
                <a:solidFill>
                  <a:srgbClr val="0F2D52"/>
                </a:solidFill>
                <a:latin typeface="Calibri"/>
              </a:rPr>
              <a:t>What philosophy is</a:t>
            </a:r>
          </a:p>
        </p:txBody>
      </p:sp>
      <p:sp>
        <p:nvSpPr>
          <p:cNvPr id="6" name="Rectangle 5"/>
          <p:cNvSpPr/>
          <p:nvPr/>
        </p:nvSpPr>
        <p:spPr>
          <a:xfrm>
            <a:off x="566928" y="950976"/>
            <a:ext cx="11058113" cy="10058"/>
          </a:xfrm>
          <a:prstGeom prst="rect">
            <a:avLst/>
          </a:prstGeom>
          <a:solidFill>
            <a:srgbClr val="D5D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6492240"/>
            <a:ext cx="10143713" cy="219456"/>
          </a:xfrm>
          <a:prstGeom prst="rect">
            <a:avLst/>
          </a:prstGeom>
          <a:noFill/>
        </p:spPr>
        <p:txBody>
          <a:bodyPr wrap="square" lIns="0" rIns="0" tIns="0" bIns="0" anchor="t">
            <a:spAutoFit/>
          </a:bodyPr>
          <a:lstStyle/>
          <a:p>
            <a:pPr algn="l">
              <a:lnSpc>
                <a:spcPct val="106000"/>
              </a:lnSpc>
              <a:spcBef>
                <a:spcPts val="0"/>
              </a:spcBef>
              <a:spcAft>
                <a:spcPts val="0"/>
              </a:spcAft>
            </a:pPr>
            <a:r>
              <a:rPr sz="819" b="0">
                <a:solidFill>
                  <a:srgbClr val="8A94A2"/>
                </a:solidFill>
                <a:latin typeface="Calibri"/>
              </a:rPr>
              <a:t>Philosophy and Its Role in Education and Society</a:t>
            </a:r>
          </a:p>
        </p:txBody>
      </p:sp>
      <p:sp>
        <p:nvSpPr>
          <p:cNvPr id="8" name="TextBox 7"/>
          <p:cNvSpPr txBox="1"/>
          <p:nvPr/>
        </p:nvSpPr>
        <p:spPr>
          <a:xfrm>
            <a:off x="10802081" y="6492240"/>
            <a:ext cx="822960" cy="219456"/>
          </a:xfrm>
          <a:prstGeom prst="rect">
            <a:avLst/>
          </a:prstGeom>
          <a:noFill/>
        </p:spPr>
        <p:txBody>
          <a:bodyPr wrap="square" lIns="0" rIns="0" tIns="0" bIns="0" anchor="t">
            <a:spAutoFit/>
          </a:bodyPr>
          <a:lstStyle/>
          <a:p>
            <a:pPr algn="r">
              <a:lnSpc>
                <a:spcPct val="106000"/>
              </a:lnSpc>
              <a:spcBef>
                <a:spcPts val="0"/>
              </a:spcBef>
              <a:spcAft>
                <a:spcPts val="0"/>
              </a:spcAft>
            </a:pPr>
            <a:r>
              <a:rPr sz="860" b="1">
                <a:solidFill>
                  <a:srgbClr val="5F6B7A"/>
                </a:solidFill>
                <a:latin typeface="Calibri"/>
              </a:rPr>
              <a:t>4 / 18</a:t>
            </a:r>
          </a:p>
        </p:txBody>
      </p:sp>
      <p:sp>
        <p:nvSpPr>
          <p:cNvPr id="9" name="TextBox 8"/>
          <p:cNvSpPr txBox="1"/>
          <p:nvPr/>
        </p:nvSpPr>
        <p:spPr>
          <a:xfrm>
            <a:off x="566928" y="1188720"/>
            <a:ext cx="5394960" cy="566928"/>
          </a:xfrm>
          <a:prstGeom prst="rect">
            <a:avLst/>
          </a:prstGeom>
          <a:noFill/>
        </p:spPr>
        <p:txBody>
          <a:bodyPr wrap="square" lIns="0" rIns="0" tIns="0" bIns="0" anchor="t">
            <a:spAutoFit/>
          </a:bodyPr>
          <a:lstStyle/>
          <a:p>
            <a:pPr algn="l">
              <a:lnSpc>
                <a:spcPct val="110000"/>
              </a:lnSpc>
              <a:spcBef>
                <a:spcPts val="0"/>
              </a:spcBef>
              <a:spcAft>
                <a:spcPts val="0"/>
              </a:spcAft>
            </a:pPr>
            <a:r>
              <a:rPr sz="1260" b="0">
                <a:solidFill>
                  <a:srgbClr val="333A42"/>
                </a:solidFill>
                <a:latin typeface="Calibri"/>
              </a:rPr>
              <a:t>Philosophy is the systematic, rational examination of the most general questions about reality, knowledge, value and meaning. Its aim is not to supply final answers but to make our reasons explicit and defensible.</a:t>
            </a:r>
          </a:p>
        </p:txBody>
      </p:sp>
      <p:pic>
        <p:nvPicPr>
          <p:cNvPr id="10" name="Picture 9" descr="quest_navy.png"/>
          <p:cNvPicPr>
            <a:picLocks noChangeAspect="1"/>
          </p:cNvPicPr>
          <p:nvPr/>
        </p:nvPicPr>
        <p:blipFill>
          <a:blip r:embed="rId2"/>
          <a:stretch>
            <a:fillRect/>
          </a:stretch>
        </p:blipFill>
        <p:spPr>
          <a:xfrm>
            <a:off x="566928" y="2025396"/>
            <a:ext cx="219456" cy="219456"/>
          </a:xfrm>
          <a:prstGeom prst="rect">
            <a:avLst/>
          </a:prstGeom>
        </p:spPr>
      </p:pic>
      <p:sp>
        <p:nvSpPr>
          <p:cNvPr id="11" name="TextBox 10"/>
          <p:cNvSpPr txBox="1"/>
          <p:nvPr/>
        </p:nvSpPr>
        <p:spPr>
          <a:xfrm>
            <a:off x="905256" y="2011680"/>
            <a:ext cx="5056632" cy="274320"/>
          </a:xfrm>
          <a:prstGeom prst="rect">
            <a:avLst/>
          </a:prstGeom>
          <a:noFill/>
        </p:spPr>
        <p:txBody>
          <a:bodyPr wrap="square" lIns="0" rIns="0" tIns="0" bIns="0" anchor="t">
            <a:spAutoFit/>
          </a:bodyPr>
          <a:lstStyle/>
          <a:p>
            <a:pPr algn="l">
              <a:lnSpc>
                <a:spcPct val="102000"/>
              </a:lnSpc>
              <a:spcBef>
                <a:spcPts val="0"/>
              </a:spcBef>
              <a:spcAft>
                <a:spcPts val="0"/>
              </a:spcAft>
            </a:pPr>
            <a:r>
              <a:rPr sz="1140" b="1">
                <a:solidFill>
                  <a:srgbClr val="0F2D52"/>
                </a:solidFill>
                <a:latin typeface="Calibri"/>
              </a:rPr>
              <a:t>Wonder as origin</a:t>
            </a:r>
          </a:p>
        </p:txBody>
      </p:sp>
      <p:sp>
        <p:nvSpPr>
          <p:cNvPr id="12" name="TextBox 11"/>
          <p:cNvSpPr txBox="1"/>
          <p:nvPr/>
        </p:nvSpPr>
        <p:spPr>
          <a:xfrm>
            <a:off x="905256" y="2204923"/>
            <a:ext cx="5056632" cy="705154"/>
          </a:xfrm>
          <a:prstGeom prst="rect">
            <a:avLst/>
          </a:prstGeom>
          <a:noFill/>
        </p:spPr>
        <p:txBody>
          <a:bodyPr wrap="square" lIns="0" rIns="0" tIns="0" bIns="0" anchor="t">
            <a:spAutoFit/>
          </a:bodyPr>
          <a:lstStyle/>
          <a:p>
            <a:pPr algn="l">
              <a:lnSpc>
                <a:spcPct val="106000"/>
              </a:lnSpc>
              <a:spcBef>
                <a:spcPts val="0"/>
              </a:spcBef>
              <a:spcAft>
                <a:spcPts val="0"/>
              </a:spcAft>
            </a:pPr>
            <a:r>
              <a:rPr sz="1070" b="0">
                <a:solidFill>
                  <a:srgbClr val="333A42"/>
                </a:solidFill>
                <a:latin typeface="Calibri"/>
              </a:rPr>
              <a:t>Perplexity about what is real, what can be known, and what is worth doing.</a:t>
            </a:r>
          </a:p>
        </p:txBody>
      </p:sp>
      <p:pic>
        <p:nvPicPr>
          <p:cNvPr id="13" name="Picture 12" descr="search_orange.png"/>
          <p:cNvPicPr>
            <a:picLocks noChangeAspect="1"/>
          </p:cNvPicPr>
          <p:nvPr/>
        </p:nvPicPr>
        <p:blipFill>
          <a:blip r:embed="rId3"/>
          <a:stretch>
            <a:fillRect/>
          </a:stretch>
        </p:blipFill>
        <p:spPr>
          <a:xfrm>
            <a:off x="566928" y="3047238"/>
            <a:ext cx="219456" cy="219456"/>
          </a:xfrm>
          <a:prstGeom prst="rect">
            <a:avLst/>
          </a:prstGeom>
        </p:spPr>
      </p:pic>
      <p:sp>
        <p:nvSpPr>
          <p:cNvPr id="14" name="TextBox 13"/>
          <p:cNvSpPr txBox="1"/>
          <p:nvPr/>
        </p:nvSpPr>
        <p:spPr>
          <a:xfrm>
            <a:off x="905256" y="3033522"/>
            <a:ext cx="5056632" cy="274320"/>
          </a:xfrm>
          <a:prstGeom prst="rect">
            <a:avLst/>
          </a:prstGeom>
          <a:noFill/>
        </p:spPr>
        <p:txBody>
          <a:bodyPr wrap="square" lIns="0" rIns="0" tIns="0" bIns="0" anchor="t">
            <a:spAutoFit/>
          </a:bodyPr>
          <a:lstStyle/>
          <a:p>
            <a:pPr algn="l">
              <a:lnSpc>
                <a:spcPct val="102000"/>
              </a:lnSpc>
              <a:spcBef>
                <a:spcPts val="0"/>
              </a:spcBef>
              <a:spcAft>
                <a:spcPts val="0"/>
              </a:spcAft>
            </a:pPr>
            <a:r>
              <a:rPr sz="1140" b="1">
                <a:solidFill>
                  <a:srgbClr val="C25E1A"/>
                </a:solidFill>
                <a:latin typeface="Calibri"/>
              </a:rPr>
              <a:t>Rational inquiry as method</a:t>
            </a:r>
          </a:p>
        </p:txBody>
      </p:sp>
      <p:sp>
        <p:nvSpPr>
          <p:cNvPr id="15" name="TextBox 14"/>
          <p:cNvSpPr txBox="1"/>
          <p:nvPr/>
        </p:nvSpPr>
        <p:spPr>
          <a:xfrm>
            <a:off x="905256" y="3226765"/>
            <a:ext cx="5056632" cy="705154"/>
          </a:xfrm>
          <a:prstGeom prst="rect">
            <a:avLst/>
          </a:prstGeom>
          <a:noFill/>
        </p:spPr>
        <p:txBody>
          <a:bodyPr wrap="square" lIns="0" rIns="0" tIns="0" bIns="0" anchor="t">
            <a:spAutoFit/>
          </a:bodyPr>
          <a:lstStyle/>
          <a:p>
            <a:pPr algn="l">
              <a:lnSpc>
                <a:spcPct val="106000"/>
              </a:lnSpc>
              <a:spcBef>
                <a:spcPts val="0"/>
              </a:spcBef>
              <a:spcAft>
                <a:spcPts val="0"/>
              </a:spcAft>
            </a:pPr>
            <a:r>
              <a:rPr sz="1070" b="0">
                <a:solidFill>
                  <a:srgbClr val="333A42"/>
                </a:solidFill>
                <a:latin typeface="Calibri"/>
              </a:rPr>
              <a:t>Arguments are examined for validity, evidence and coherence; authority alone is insufficient.</a:t>
            </a:r>
          </a:p>
        </p:txBody>
      </p:sp>
      <p:pic>
        <p:nvPicPr>
          <p:cNvPr id="16" name="Picture 15" descr="grid_teal.png"/>
          <p:cNvPicPr>
            <a:picLocks noChangeAspect="1"/>
          </p:cNvPicPr>
          <p:nvPr/>
        </p:nvPicPr>
        <p:blipFill>
          <a:blip r:embed="rId4"/>
          <a:stretch>
            <a:fillRect/>
          </a:stretch>
        </p:blipFill>
        <p:spPr>
          <a:xfrm>
            <a:off x="566928" y="4069080"/>
            <a:ext cx="219456" cy="219456"/>
          </a:xfrm>
          <a:prstGeom prst="rect">
            <a:avLst/>
          </a:prstGeom>
        </p:spPr>
      </p:pic>
      <p:sp>
        <p:nvSpPr>
          <p:cNvPr id="17" name="TextBox 16"/>
          <p:cNvSpPr txBox="1"/>
          <p:nvPr/>
        </p:nvSpPr>
        <p:spPr>
          <a:xfrm>
            <a:off x="905256" y="4055364"/>
            <a:ext cx="5056632" cy="274320"/>
          </a:xfrm>
          <a:prstGeom prst="rect">
            <a:avLst/>
          </a:prstGeom>
          <a:noFill/>
        </p:spPr>
        <p:txBody>
          <a:bodyPr wrap="square" lIns="0" rIns="0" tIns="0" bIns="0" anchor="t">
            <a:spAutoFit/>
          </a:bodyPr>
          <a:lstStyle/>
          <a:p>
            <a:pPr algn="l">
              <a:lnSpc>
                <a:spcPct val="102000"/>
              </a:lnSpc>
              <a:spcBef>
                <a:spcPts val="0"/>
              </a:spcBef>
              <a:spcAft>
                <a:spcPts val="0"/>
              </a:spcAft>
            </a:pPr>
            <a:r>
              <a:rPr sz="1140" b="1">
                <a:solidFill>
                  <a:srgbClr val="166B67"/>
                </a:solidFill>
                <a:latin typeface="Calibri"/>
              </a:rPr>
              <a:t>Systematic reflection as form</a:t>
            </a:r>
          </a:p>
        </p:txBody>
      </p:sp>
      <p:sp>
        <p:nvSpPr>
          <p:cNvPr id="18" name="TextBox 17"/>
          <p:cNvSpPr txBox="1"/>
          <p:nvPr/>
        </p:nvSpPr>
        <p:spPr>
          <a:xfrm>
            <a:off x="905256" y="4248607"/>
            <a:ext cx="5056632" cy="705154"/>
          </a:xfrm>
          <a:prstGeom prst="rect">
            <a:avLst/>
          </a:prstGeom>
          <a:noFill/>
        </p:spPr>
        <p:txBody>
          <a:bodyPr wrap="square" lIns="0" rIns="0" tIns="0" bIns="0" anchor="t">
            <a:spAutoFit/>
          </a:bodyPr>
          <a:lstStyle/>
          <a:p>
            <a:pPr algn="l">
              <a:lnSpc>
                <a:spcPct val="106000"/>
              </a:lnSpc>
              <a:spcBef>
                <a:spcPts val="0"/>
              </a:spcBef>
              <a:spcAft>
                <a:spcPts val="0"/>
              </a:spcAft>
            </a:pPr>
            <a:r>
              <a:rPr sz="1070" b="0">
                <a:solidFill>
                  <a:srgbClr val="333A42"/>
                </a:solidFill>
                <a:latin typeface="Calibri"/>
              </a:rPr>
              <a:t>Ideas are organised into coherent positions, and the consequences of each position are traced.</a:t>
            </a:r>
          </a:p>
        </p:txBody>
      </p:sp>
      <p:pic>
        <p:nvPicPr>
          <p:cNvPr id="19" name="Picture 18" descr="chat_purple.png"/>
          <p:cNvPicPr>
            <a:picLocks noChangeAspect="1"/>
          </p:cNvPicPr>
          <p:nvPr/>
        </p:nvPicPr>
        <p:blipFill>
          <a:blip r:embed="rId5"/>
          <a:stretch>
            <a:fillRect/>
          </a:stretch>
        </p:blipFill>
        <p:spPr>
          <a:xfrm>
            <a:off x="566928" y="5090922"/>
            <a:ext cx="219456" cy="219456"/>
          </a:xfrm>
          <a:prstGeom prst="rect">
            <a:avLst/>
          </a:prstGeom>
        </p:spPr>
      </p:pic>
      <p:sp>
        <p:nvSpPr>
          <p:cNvPr id="20" name="TextBox 19"/>
          <p:cNvSpPr txBox="1"/>
          <p:nvPr/>
        </p:nvSpPr>
        <p:spPr>
          <a:xfrm>
            <a:off x="905256" y="5077206"/>
            <a:ext cx="5056632" cy="274320"/>
          </a:xfrm>
          <a:prstGeom prst="rect">
            <a:avLst/>
          </a:prstGeom>
          <a:noFill/>
        </p:spPr>
        <p:txBody>
          <a:bodyPr wrap="square" lIns="0" rIns="0" tIns="0" bIns="0" anchor="t">
            <a:spAutoFit/>
          </a:bodyPr>
          <a:lstStyle/>
          <a:p>
            <a:pPr algn="l">
              <a:lnSpc>
                <a:spcPct val="102000"/>
              </a:lnSpc>
              <a:spcBef>
                <a:spcPts val="0"/>
              </a:spcBef>
              <a:spcAft>
                <a:spcPts val="0"/>
              </a:spcAft>
            </a:pPr>
            <a:r>
              <a:rPr sz="1140" b="1">
                <a:solidFill>
                  <a:srgbClr val="5B4B8A"/>
                </a:solidFill>
                <a:latin typeface="Calibri"/>
              </a:rPr>
              <a:t>Dialogue as practice</a:t>
            </a:r>
          </a:p>
        </p:txBody>
      </p:sp>
      <p:sp>
        <p:nvSpPr>
          <p:cNvPr id="21" name="TextBox 20"/>
          <p:cNvSpPr txBox="1"/>
          <p:nvPr/>
        </p:nvSpPr>
        <p:spPr>
          <a:xfrm>
            <a:off x="905256" y="5270449"/>
            <a:ext cx="5056632" cy="705154"/>
          </a:xfrm>
          <a:prstGeom prst="rect">
            <a:avLst/>
          </a:prstGeom>
          <a:noFill/>
        </p:spPr>
        <p:txBody>
          <a:bodyPr wrap="square" lIns="0" rIns="0" tIns="0" bIns="0" anchor="t">
            <a:spAutoFit/>
          </a:bodyPr>
          <a:lstStyle/>
          <a:p>
            <a:pPr algn="l">
              <a:lnSpc>
                <a:spcPct val="106000"/>
              </a:lnSpc>
              <a:spcBef>
                <a:spcPts val="0"/>
              </a:spcBef>
              <a:spcAft>
                <a:spcPts val="0"/>
              </a:spcAft>
            </a:pPr>
            <a:r>
              <a:rPr sz="1070" b="0">
                <a:solidFill>
                  <a:srgbClr val="333A42"/>
                </a:solidFill>
                <a:latin typeface="Calibri"/>
              </a:rPr>
              <a:t>Philosophy is conducted publicly, in criticism and reply, not privately.</a:t>
            </a:r>
          </a:p>
        </p:txBody>
      </p:sp>
      <p:pic>
        <p:nvPicPr>
          <p:cNvPr id="22" name="Picture 21" descr="s04_definition.png"/>
          <p:cNvPicPr>
            <a:picLocks noChangeAspect="1"/>
          </p:cNvPicPr>
          <p:nvPr/>
        </p:nvPicPr>
        <p:blipFill>
          <a:blip r:embed="rId6"/>
          <a:stretch>
            <a:fillRect/>
          </a:stretch>
        </p:blipFill>
        <p:spPr>
          <a:xfrm>
            <a:off x="6263640" y="1214914"/>
            <a:ext cx="5361401" cy="4903659"/>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6012" cy="6858000"/>
          </a:xfrm>
          <a:prstGeom prst="rect">
            <a:avLst/>
          </a:prstGeom>
          <a:solidFill>
            <a:srgbClr val="C25E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56616"/>
            <a:ext cx="11058113" cy="219456"/>
          </a:xfrm>
          <a:prstGeom prst="rect">
            <a:avLst/>
          </a:prstGeom>
          <a:noFill/>
        </p:spPr>
        <p:txBody>
          <a:bodyPr wrap="square" lIns="0" rIns="0" tIns="0" bIns="0" anchor="t">
            <a:spAutoFit/>
          </a:bodyPr>
          <a:lstStyle/>
          <a:p>
            <a:pPr algn="l">
              <a:lnSpc>
                <a:spcPct val="106000"/>
              </a:lnSpc>
              <a:spcBef>
                <a:spcPts val="0"/>
              </a:spcBef>
              <a:spcAft>
                <a:spcPts val="0"/>
              </a:spcAft>
            </a:pPr>
            <a:r>
              <a:rPr sz="960" b="1">
                <a:solidFill>
                  <a:srgbClr val="C25E1A"/>
                </a:solidFill>
                <a:latin typeface="Calibri"/>
              </a:rPr>
              <a:t>FOUNDATIONS</a:t>
            </a:r>
          </a:p>
        </p:txBody>
      </p:sp>
      <p:sp>
        <p:nvSpPr>
          <p:cNvPr id="5" name="TextBox 4"/>
          <p:cNvSpPr txBox="1"/>
          <p:nvPr/>
        </p:nvSpPr>
        <p:spPr>
          <a:xfrm>
            <a:off x="566928" y="557784"/>
            <a:ext cx="9960833" cy="566928"/>
          </a:xfrm>
          <a:prstGeom prst="rect">
            <a:avLst/>
          </a:prstGeom>
          <a:noFill/>
        </p:spPr>
        <p:txBody>
          <a:bodyPr wrap="square" lIns="0" rIns="0" tIns="0" bIns="0" anchor="t">
            <a:spAutoFit/>
          </a:bodyPr>
          <a:lstStyle/>
          <a:p>
            <a:pPr algn="l">
              <a:lnSpc>
                <a:spcPct val="100000"/>
              </a:lnSpc>
              <a:spcBef>
                <a:spcPts val="0"/>
              </a:spcBef>
              <a:spcAft>
                <a:spcPts val="0"/>
              </a:spcAft>
            </a:pPr>
            <a:r>
              <a:rPr sz="2500" b="1">
                <a:solidFill>
                  <a:srgbClr val="0F2D52"/>
                </a:solidFill>
                <a:latin typeface="Calibri"/>
              </a:rPr>
              <a:t>The five classical branches of philosophy</a:t>
            </a:r>
          </a:p>
        </p:txBody>
      </p:sp>
      <p:sp>
        <p:nvSpPr>
          <p:cNvPr id="6" name="Rectangle 5"/>
          <p:cNvSpPr/>
          <p:nvPr/>
        </p:nvSpPr>
        <p:spPr>
          <a:xfrm>
            <a:off x="566928" y="950976"/>
            <a:ext cx="11058113" cy="10058"/>
          </a:xfrm>
          <a:prstGeom prst="rect">
            <a:avLst/>
          </a:prstGeom>
          <a:solidFill>
            <a:srgbClr val="D5D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6492240"/>
            <a:ext cx="10143713" cy="219456"/>
          </a:xfrm>
          <a:prstGeom prst="rect">
            <a:avLst/>
          </a:prstGeom>
          <a:noFill/>
        </p:spPr>
        <p:txBody>
          <a:bodyPr wrap="square" lIns="0" rIns="0" tIns="0" bIns="0" anchor="t">
            <a:spAutoFit/>
          </a:bodyPr>
          <a:lstStyle/>
          <a:p>
            <a:pPr algn="l">
              <a:lnSpc>
                <a:spcPct val="106000"/>
              </a:lnSpc>
              <a:spcBef>
                <a:spcPts val="0"/>
              </a:spcBef>
              <a:spcAft>
                <a:spcPts val="0"/>
              </a:spcAft>
            </a:pPr>
            <a:r>
              <a:rPr sz="819" b="0">
                <a:solidFill>
                  <a:srgbClr val="8A94A2"/>
                </a:solidFill>
                <a:latin typeface="Calibri"/>
              </a:rPr>
              <a:t>Philosophy and Its Role in Education and Society</a:t>
            </a:r>
          </a:p>
        </p:txBody>
      </p:sp>
      <p:sp>
        <p:nvSpPr>
          <p:cNvPr id="8" name="TextBox 7"/>
          <p:cNvSpPr txBox="1"/>
          <p:nvPr/>
        </p:nvSpPr>
        <p:spPr>
          <a:xfrm>
            <a:off x="10802081" y="6492240"/>
            <a:ext cx="822960" cy="219456"/>
          </a:xfrm>
          <a:prstGeom prst="rect">
            <a:avLst/>
          </a:prstGeom>
          <a:noFill/>
        </p:spPr>
        <p:txBody>
          <a:bodyPr wrap="square" lIns="0" rIns="0" tIns="0" bIns="0" anchor="t">
            <a:spAutoFit/>
          </a:bodyPr>
          <a:lstStyle/>
          <a:p>
            <a:pPr algn="r">
              <a:lnSpc>
                <a:spcPct val="106000"/>
              </a:lnSpc>
              <a:spcBef>
                <a:spcPts val="0"/>
              </a:spcBef>
              <a:spcAft>
                <a:spcPts val="0"/>
              </a:spcAft>
            </a:pPr>
            <a:r>
              <a:rPr sz="860" b="1">
                <a:solidFill>
                  <a:srgbClr val="5F6B7A"/>
                </a:solidFill>
                <a:latin typeface="Calibri"/>
              </a:rPr>
              <a:t>5 / 18</a:t>
            </a:r>
          </a:p>
        </p:txBody>
      </p:sp>
      <p:sp>
        <p:nvSpPr>
          <p:cNvPr id="9" name="TextBox 8"/>
          <p:cNvSpPr txBox="1"/>
          <p:nvPr/>
        </p:nvSpPr>
        <p:spPr>
          <a:xfrm>
            <a:off x="566928" y="1188720"/>
            <a:ext cx="5394960" cy="566928"/>
          </a:xfrm>
          <a:prstGeom prst="rect">
            <a:avLst/>
          </a:prstGeom>
          <a:noFill/>
        </p:spPr>
        <p:txBody>
          <a:bodyPr wrap="square" lIns="0" rIns="0" tIns="0" bIns="0" anchor="t">
            <a:spAutoFit/>
          </a:bodyPr>
          <a:lstStyle/>
          <a:p>
            <a:pPr algn="l">
              <a:lnSpc>
                <a:spcPct val="110000"/>
              </a:lnSpc>
              <a:spcBef>
                <a:spcPts val="0"/>
              </a:spcBef>
              <a:spcAft>
                <a:spcPts val="0"/>
              </a:spcAft>
            </a:pPr>
            <a:r>
              <a:rPr sz="1220" b="0">
                <a:solidFill>
                  <a:srgbClr val="333A42"/>
                </a:solidFill>
                <a:latin typeface="Calibri"/>
              </a:rPr>
              <a:t>Each branch asks a distinctive question, and each supplies a distinctive test of adequacy. Together they form the working toolkit that the later sections of this presentation apply to education and research.</a:t>
            </a:r>
          </a:p>
        </p:txBody>
      </p:sp>
      <p:pic>
        <p:nvPicPr>
          <p:cNvPr id="10" name="Picture 9" descr="bulb_navy.png"/>
          <p:cNvPicPr>
            <a:picLocks noChangeAspect="1"/>
          </p:cNvPicPr>
          <p:nvPr/>
        </p:nvPicPr>
        <p:blipFill>
          <a:blip r:embed="rId2"/>
          <a:stretch>
            <a:fillRect/>
          </a:stretch>
        </p:blipFill>
        <p:spPr>
          <a:xfrm>
            <a:off x="566928" y="1952244"/>
            <a:ext cx="219456" cy="219456"/>
          </a:xfrm>
          <a:prstGeom prst="rect">
            <a:avLst/>
          </a:prstGeom>
        </p:spPr>
      </p:pic>
      <p:sp>
        <p:nvSpPr>
          <p:cNvPr id="11" name="TextBox 10"/>
          <p:cNvSpPr txBox="1"/>
          <p:nvPr/>
        </p:nvSpPr>
        <p:spPr>
          <a:xfrm>
            <a:off x="905256" y="1938528"/>
            <a:ext cx="5056632" cy="274320"/>
          </a:xfrm>
          <a:prstGeom prst="rect">
            <a:avLst/>
          </a:prstGeom>
          <a:noFill/>
        </p:spPr>
        <p:txBody>
          <a:bodyPr wrap="square" lIns="0" rIns="0" tIns="0" bIns="0" anchor="t">
            <a:spAutoFit/>
          </a:bodyPr>
          <a:lstStyle/>
          <a:p>
            <a:pPr algn="l">
              <a:lnSpc>
                <a:spcPct val="102000"/>
              </a:lnSpc>
              <a:spcBef>
                <a:spcPts val="0"/>
              </a:spcBef>
              <a:spcAft>
                <a:spcPts val="0"/>
              </a:spcAft>
            </a:pPr>
            <a:r>
              <a:rPr sz="1100" b="1">
                <a:solidFill>
                  <a:srgbClr val="0F2D52"/>
                </a:solidFill>
                <a:latin typeface="Calibri"/>
              </a:rPr>
              <a:t>Metaphysics — what is real?</a:t>
            </a:r>
          </a:p>
        </p:txBody>
      </p:sp>
      <p:sp>
        <p:nvSpPr>
          <p:cNvPr id="12" name="TextBox 11"/>
          <p:cNvSpPr txBox="1"/>
          <p:nvPr/>
        </p:nvSpPr>
        <p:spPr>
          <a:xfrm>
            <a:off x="905256" y="2125472"/>
            <a:ext cx="5056632" cy="543661"/>
          </a:xfrm>
          <a:prstGeom prst="rect">
            <a:avLst/>
          </a:prstGeom>
          <a:noFill/>
        </p:spPr>
        <p:txBody>
          <a:bodyPr wrap="square" lIns="0" rIns="0" tIns="0" bIns="0" anchor="t">
            <a:spAutoFit/>
          </a:bodyPr>
          <a:lstStyle/>
          <a:p>
            <a:pPr algn="l">
              <a:lnSpc>
                <a:spcPct val="106000"/>
              </a:lnSpc>
              <a:spcBef>
                <a:spcPts val="0"/>
              </a:spcBef>
              <a:spcAft>
                <a:spcPts val="0"/>
              </a:spcAft>
            </a:pPr>
            <a:r>
              <a:rPr sz="1030" b="0">
                <a:solidFill>
                  <a:srgbClr val="333A42"/>
                </a:solidFill>
                <a:latin typeface="Calibri"/>
              </a:rPr>
              <a:t>Reality, existence, mind, causation and time. It underpins any claim about what there is.</a:t>
            </a:r>
          </a:p>
        </p:txBody>
      </p:sp>
      <p:pic>
        <p:nvPicPr>
          <p:cNvPr id="13" name="Picture 12" descr="search_orange.png"/>
          <p:cNvPicPr>
            <a:picLocks noChangeAspect="1"/>
          </p:cNvPicPr>
          <p:nvPr/>
        </p:nvPicPr>
        <p:blipFill>
          <a:blip r:embed="rId3"/>
          <a:stretch>
            <a:fillRect/>
          </a:stretch>
        </p:blipFill>
        <p:spPr>
          <a:xfrm>
            <a:off x="566928" y="2778861"/>
            <a:ext cx="219456" cy="219456"/>
          </a:xfrm>
          <a:prstGeom prst="rect">
            <a:avLst/>
          </a:prstGeom>
        </p:spPr>
      </p:pic>
      <p:sp>
        <p:nvSpPr>
          <p:cNvPr id="14" name="TextBox 13"/>
          <p:cNvSpPr txBox="1"/>
          <p:nvPr/>
        </p:nvSpPr>
        <p:spPr>
          <a:xfrm>
            <a:off x="905256" y="2765145"/>
            <a:ext cx="5056632" cy="274320"/>
          </a:xfrm>
          <a:prstGeom prst="rect">
            <a:avLst/>
          </a:prstGeom>
          <a:noFill/>
        </p:spPr>
        <p:txBody>
          <a:bodyPr wrap="square" lIns="0" rIns="0" tIns="0" bIns="0" anchor="t">
            <a:spAutoFit/>
          </a:bodyPr>
          <a:lstStyle/>
          <a:p>
            <a:pPr algn="l">
              <a:lnSpc>
                <a:spcPct val="102000"/>
              </a:lnSpc>
              <a:spcBef>
                <a:spcPts val="0"/>
              </a:spcBef>
              <a:spcAft>
                <a:spcPts val="0"/>
              </a:spcAft>
            </a:pPr>
            <a:r>
              <a:rPr sz="1100" b="1">
                <a:solidFill>
                  <a:srgbClr val="C25E1A"/>
                </a:solidFill>
                <a:latin typeface="Calibri"/>
              </a:rPr>
              <a:t>Epistemology — what can we know?</a:t>
            </a:r>
          </a:p>
        </p:txBody>
      </p:sp>
      <p:sp>
        <p:nvSpPr>
          <p:cNvPr id="15" name="TextBox 14"/>
          <p:cNvSpPr txBox="1"/>
          <p:nvPr/>
        </p:nvSpPr>
        <p:spPr>
          <a:xfrm>
            <a:off x="905256" y="2952089"/>
            <a:ext cx="5056632" cy="543661"/>
          </a:xfrm>
          <a:prstGeom prst="rect">
            <a:avLst/>
          </a:prstGeom>
          <a:noFill/>
        </p:spPr>
        <p:txBody>
          <a:bodyPr wrap="square" lIns="0" rIns="0" tIns="0" bIns="0" anchor="t">
            <a:spAutoFit/>
          </a:bodyPr>
          <a:lstStyle/>
          <a:p>
            <a:pPr algn="l">
              <a:lnSpc>
                <a:spcPct val="106000"/>
              </a:lnSpc>
              <a:spcBef>
                <a:spcPts val="0"/>
              </a:spcBef>
              <a:spcAft>
                <a:spcPts val="0"/>
              </a:spcAft>
            </a:pPr>
            <a:r>
              <a:rPr sz="1030" b="0">
                <a:solidFill>
                  <a:srgbClr val="333A42"/>
                </a:solidFill>
                <a:latin typeface="Calibri"/>
              </a:rPr>
              <a:t>Knowledge, belief, truth, justification and evidence. It guides research method.</a:t>
            </a:r>
          </a:p>
        </p:txBody>
      </p:sp>
      <p:pic>
        <p:nvPicPr>
          <p:cNvPr id="16" name="Picture 15" descr="scales_teal.png"/>
          <p:cNvPicPr>
            <a:picLocks noChangeAspect="1"/>
          </p:cNvPicPr>
          <p:nvPr/>
        </p:nvPicPr>
        <p:blipFill>
          <a:blip r:embed="rId4"/>
          <a:stretch>
            <a:fillRect/>
          </a:stretch>
        </p:blipFill>
        <p:spPr>
          <a:xfrm>
            <a:off x="566928" y="3605479"/>
            <a:ext cx="219456" cy="219456"/>
          </a:xfrm>
          <a:prstGeom prst="rect">
            <a:avLst/>
          </a:prstGeom>
        </p:spPr>
      </p:pic>
      <p:sp>
        <p:nvSpPr>
          <p:cNvPr id="17" name="TextBox 16"/>
          <p:cNvSpPr txBox="1"/>
          <p:nvPr/>
        </p:nvSpPr>
        <p:spPr>
          <a:xfrm>
            <a:off x="905256" y="3591763"/>
            <a:ext cx="5056632" cy="274320"/>
          </a:xfrm>
          <a:prstGeom prst="rect">
            <a:avLst/>
          </a:prstGeom>
          <a:noFill/>
        </p:spPr>
        <p:txBody>
          <a:bodyPr wrap="square" lIns="0" rIns="0" tIns="0" bIns="0" anchor="t">
            <a:spAutoFit/>
          </a:bodyPr>
          <a:lstStyle/>
          <a:p>
            <a:pPr algn="l">
              <a:lnSpc>
                <a:spcPct val="102000"/>
              </a:lnSpc>
              <a:spcBef>
                <a:spcPts val="0"/>
              </a:spcBef>
              <a:spcAft>
                <a:spcPts val="0"/>
              </a:spcAft>
            </a:pPr>
            <a:r>
              <a:rPr sz="1100" b="1">
                <a:solidFill>
                  <a:srgbClr val="166B67"/>
                </a:solidFill>
                <a:latin typeface="Calibri"/>
              </a:rPr>
              <a:t>Ethics — what ought we to do?</a:t>
            </a:r>
          </a:p>
        </p:txBody>
      </p:sp>
      <p:sp>
        <p:nvSpPr>
          <p:cNvPr id="18" name="TextBox 17"/>
          <p:cNvSpPr txBox="1"/>
          <p:nvPr/>
        </p:nvSpPr>
        <p:spPr>
          <a:xfrm>
            <a:off x="905256" y="3778707"/>
            <a:ext cx="5056632" cy="543661"/>
          </a:xfrm>
          <a:prstGeom prst="rect">
            <a:avLst/>
          </a:prstGeom>
          <a:noFill/>
        </p:spPr>
        <p:txBody>
          <a:bodyPr wrap="square" lIns="0" rIns="0" tIns="0" bIns="0" anchor="t">
            <a:spAutoFit/>
          </a:bodyPr>
          <a:lstStyle/>
          <a:p>
            <a:pPr algn="l">
              <a:lnSpc>
                <a:spcPct val="106000"/>
              </a:lnSpc>
              <a:spcBef>
                <a:spcPts val="0"/>
              </a:spcBef>
              <a:spcAft>
                <a:spcPts val="0"/>
              </a:spcAft>
            </a:pPr>
            <a:r>
              <a:rPr sz="1030" b="0">
                <a:solidFill>
                  <a:srgbClr val="333A42"/>
                </a:solidFill>
                <a:latin typeface="Calibri"/>
              </a:rPr>
              <a:t>Right action, virtue, duty and consequence. It guides conduct and professional codes.</a:t>
            </a:r>
          </a:p>
        </p:txBody>
      </p:sp>
      <p:pic>
        <p:nvPicPr>
          <p:cNvPr id="19" name="Picture 18" descr="gear_purple.png"/>
          <p:cNvPicPr>
            <a:picLocks noChangeAspect="1"/>
          </p:cNvPicPr>
          <p:nvPr/>
        </p:nvPicPr>
        <p:blipFill>
          <a:blip r:embed="rId5"/>
          <a:stretch>
            <a:fillRect/>
          </a:stretch>
        </p:blipFill>
        <p:spPr>
          <a:xfrm>
            <a:off x="566928" y="4432096"/>
            <a:ext cx="219456" cy="219456"/>
          </a:xfrm>
          <a:prstGeom prst="rect">
            <a:avLst/>
          </a:prstGeom>
        </p:spPr>
      </p:pic>
      <p:sp>
        <p:nvSpPr>
          <p:cNvPr id="20" name="TextBox 19"/>
          <p:cNvSpPr txBox="1"/>
          <p:nvPr/>
        </p:nvSpPr>
        <p:spPr>
          <a:xfrm>
            <a:off x="905256" y="4418380"/>
            <a:ext cx="5056632" cy="274320"/>
          </a:xfrm>
          <a:prstGeom prst="rect">
            <a:avLst/>
          </a:prstGeom>
          <a:noFill/>
        </p:spPr>
        <p:txBody>
          <a:bodyPr wrap="square" lIns="0" rIns="0" tIns="0" bIns="0" anchor="t">
            <a:spAutoFit/>
          </a:bodyPr>
          <a:lstStyle/>
          <a:p>
            <a:pPr algn="l">
              <a:lnSpc>
                <a:spcPct val="102000"/>
              </a:lnSpc>
              <a:spcBef>
                <a:spcPts val="0"/>
              </a:spcBef>
              <a:spcAft>
                <a:spcPts val="0"/>
              </a:spcAft>
            </a:pPr>
            <a:r>
              <a:rPr sz="1100" b="1">
                <a:solidFill>
                  <a:srgbClr val="5B4B8A"/>
                </a:solidFill>
                <a:latin typeface="Calibri"/>
              </a:rPr>
              <a:t>Logic — what follows?</a:t>
            </a:r>
          </a:p>
        </p:txBody>
      </p:sp>
      <p:sp>
        <p:nvSpPr>
          <p:cNvPr id="21" name="TextBox 20"/>
          <p:cNvSpPr txBox="1"/>
          <p:nvPr/>
        </p:nvSpPr>
        <p:spPr>
          <a:xfrm>
            <a:off x="905256" y="4605324"/>
            <a:ext cx="5056632" cy="543661"/>
          </a:xfrm>
          <a:prstGeom prst="rect">
            <a:avLst/>
          </a:prstGeom>
          <a:noFill/>
        </p:spPr>
        <p:txBody>
          <a:bodyPr wrap="square" lIns="0" rIns="0" tIns="0" bIns="0" anchor="t">
            <a:spAutoFit/>
          </a:bodyPr>
          <a:lstStyle/>
          <a:p>
            <a:pPr algn="l">
              <a:lnSpc>
                <a:spcPct val="106000"/>
              </a:lnSpc>
              <a:spcBef>
                <a:spcPts val="0"/>
              </a:spcBef>
              <a:spcAft>
                <a:spcPts val="0"/>
              </a:spcAft>
            </a:pPr>
            <a:r>
              <a:rPr sz="1030" b="0">
                <a:solidFill>
                  <a:srgbClr val="333A42"/>
                </a:solidFill>
                <a:latin typeface="Calibri"/>
              </a:rPr>
              <a:t>Validity, inference and argument structure. It guards reasoning from fallacy.</a:t>
            </a:r>
          </a:p>
        </p:txBody>
      </p:sp>
      <p:pic>
        <p:nvPicPr>
          <p:cNvPr id="22" name="Picture 21" descr="heart_crimson.png"/>
          <p:cNvPicPr>
            <a:picLocks noChangeAspect="1"/>
          </p:cNvPicPr>
          <p:nvPr/>
        </p:nvPicPr>
        <p:blipFill>
          <a:blip r:embed="rId6"/>
          <a:stretch>
            <a:fillRect/>
          </a:stretch>
        </p:blipFill>
        <p:spPr>
          <a:xfrm>
            <a:off x="566928" y="5258714"/>
            <a:ext cx="219456" cy="219456"/>
          </a:xfrm>
          <a:prstGeom prst="rect">
            <a:avLst/>
          </a:prstGeom>
        </p:spPr>
      </p:pic>
      <p:sp>
        <p:nvSpPr>
          <p:cNvPr id="23" name="TextBox 22"/>
          <p:cNvSpPr txBox="1"/>
          <p:nvPr/>
        </p:nvSpPr>
        <p:spPr>
          <a:xfrm>
            <a:off x="905256" y="5244998"/>
            <a:ext cx="5056632" cy="274320"/>
          </a:xfrm>
          <a:prstGeom prst="rect">
            <a:avLst/>
          </a:prstGeom>
          <a:noFill/>
        </p:spPr>
        <p:txBody>
          <a:bodyPr wrap="square" lIns="0" rIns="0" tIns="0" bIns="0" anchor="t">
            <a:spAutoFit/>
          </a:bodyPr>
          <a:lstStyle/>
          <a:p>
            <a:pPr algn="l">
              <a:lnSpc>
                <a:spcPct val="102000"/>
              </a:lnSpc>
              <a:spcBef>
                <a:spcPts val="0"/>
              </a:spcBef>
              <a:spcAft>
                <a:spcPts val="0"/>
              </a:spcAft>
            </a:pPr>
            <a:r>
              <a:rPr sz="1100" b="1">
                <a:solidFill>
                  <a:srgbClr val="9E2B2B"/>
                </a:solidFill>
                <a:latin typeface="Calibri"/>
              </a:rPr>
              <a:t>Aesthetics — what is beauty?</a:t>
            </a:r>
          </a:p>
        </p:txBody>
      </p:sp>
      <p:sp>
        <p:nvSpPr>
          <p:cNvPr id="24" name="TextBox 23"/>
          <p:cNvSpPr txBox="1"/>
          <p:nvPr/>
        </p:nvSpPr>
        <p:spPr>
          <a:xfrm>
            <a:off x="905256" y="5431942"/>
            <a:ext cx="5056632" cy="543661"/>
          </a:xfrm>
          <a:prstGeom prst="rect">
            <a:avLst/>
          </a:prstGeom>
          <a:noFill/>
        </p:spPr>
        <p:txBody>
          <a:bodyPr wrap="square" lIns="0" rIns="0" tIns="0" bIns="0" anchor="t">
            <a:spAutoFit/>
          </a:bodyPr>
          <a:lstStyle/>
          <a:p>
            <a:pPr algn="l">
              <a:lnSpc>
                <a:spcPct val="106000"/>
              </a:lnSpc>
              <a:spcBef>
                <a:spcPts val="0"/>
              </a:spcBef>
              <a:spcAft>
                <a:spcPts val="0"/>
              </a:spcAft>
            </a:pPr>
            <a:r>
              <a:rPr sz="1030" b="0">
                <a:solidFill>
                  <a:srgbClr val="333A42"/>
                </a:solidFill>
                <a:latin typeface="Calibri"/>
              </a:rPr>
              <a:t>Art, taste, judgement, expression and form. It guides criticism and interpretation.</a:t>
            </a:r>
          </a:p>
        </p:txBody>
      </p:sp>
      <p:pic>
        <p:nvPicPr>
          <p:cNvPr id="25" name="Picture 24" descr="s05_branches.png"/>
          <p:cNvPicPr>
            <a:picLocks noChangeAspect="1"/>
          </p:cNvPicPr>
          <p:nvPr/>
        </p:nvPicPr>
        <p:blipFill>
          <a:blip r:embed="rId7"/>
          <a:stretch>
            <a:fillRect/>
          </a:stretch>
        </p:blipFill>
        <p:spPr>
          <a:xfrm>
            <a:off x="6263640" y="2923952"/>
            <a:ext cx="5361401" cy="1485582"/>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6012" cy="6858000"/>
          </a:xfrm>
          <a:prstGeom prst="rect">
            <a:avLst/>
          </a:prstGeom>
          <a:solidFill>
            <a:srgbClr val="C25E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56616"/>
            <a:ext cx="11058113" cy="219456"/>
          </a:xfrm>
          <a:prstGeom prst="rect">
            <a:avLst/>
          </a:prstGeom>
          <a:noFill/>
        </p:spPr>
        <p:txBody>
          <a:bodyPr wrap="square" lIns="0" rIns="0" tIns="0" bIns="0" anchor="t">
            <a:spAutoFit/>
          </a:bodyPr>
          <a:lstStyle/>
          <a:p>
            <a:pPr algn="l">
              <a:lnSpc>
                <a:spcPct val="106000"/>
              </a:lnSpc>
              <a:spcBef>
                <a:spcPts val="0"/>
              </a:spcBef>
              <a:spcAft>
                <a:spcPts val="0"/>
              </a:spcAft>
            </a:pPr>
            <a:r>
              <a:rPr sz="960" b="1">
                <a:solidFill>
                  <a:srgbClr val="C25E1A"/>
                </a:solidFill>
                <a:latin typeface="Calibri"/>
              </a:rPr>
              <a:t>PHILOSOPHY AND EDUCATION</a:t>
            </a:r>
          </a:p>
        </p:txBody>
      </p:sp>
      <p:sp>
        <p:nvSpPr>
          <p:cNvPr id="5" name="TextBox 4"/>
          <p:cNvSpPr txBox="1"/>
          <p:nvPr/>
        </p:nvSpPr>
        <p:spPr>
          <a:xfrm>
            <a:off x="566928" y="557784"/>
            <a:ext cx="9960833" cy="566928"/>
          </a:xfrm>
          <a:prstGeom prst="rect">
            <a:avLst/>
          </a:prstGeom>
          <a:noFill/>
        </p:spPr>
        <p:txBody>
          <a:bodyPr wrap="square" lIns="0" rIns="0" tIns="0" bIns="0" anchor="t">
            <a:spAutoFit/>
          </a:bodyPr>
          <a:lstStyle/>
          <a:p>
            <a:pPr algn="l">
              <a:lnSpc>
                <a:spcPct val="100000"/>
              </a:lnSpc>
              <a:spcBef>
                <a:spcPts val="0"/>
              </a:spcBef>
              <a:spcAft>
                <a:spcPts val="0"/>
              </a:spcAft>
            </a:pPr>
            <a:r>
              <a:rPr sz="2500" b="1">
                <a:solidFill>
                  <a:srgbClr val="0F2D52"/>
                </a:solidFill>
                <a:latin typeface="Calibri"/>
              </a:rPr>
              <a:t>The relationship between philosophy and education</a:t>
            </a:r>
          </a:p>
        </p:txBody>
      </p:sp>
      <p:sp>
        <p:nvSpPr>
          <p:cNvPr id="6" name="Rectangle 5"/>
          <p:cNvSpPr/>
          <p:nvPr/>
        </p:nvSpPr>
        <p:spPr>
          <a:xfrm>
            <a:off x="566928" y="950976"/>
            <a:ext cx="11058113" cy="10058"/>
          </a:xfrm>
          <a:prstGeom prst="rect">
            <a:avLst/>
          </a:prstGeom>
          <a:solidFill>
            <a:srgbClr val="D5D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6492240"/>
            <a:ext cx="10143713" cy="219456"/>
          </a:xfrm>
          <a:prstGeom prst="rect">
            <a:avLst/>
          </a:prstGeom>
          <a:noFill/>
        </p:spPr>
        <p:txBody>
          <a:bodyPr wrap="square" lIns="0" rIns="0" tIns="0" bIns="0" anchor="t">
            <a:spAutoFit/>
          </a:bodyPr>
          <a:lstStyle/>
          <a:p>
            <a:pPr algn="l">
              <a:lnSpc>
                <a:spcPct val="106000"/>
              </a:lnSpc>
              <a:spcBef>
                <a:spcPts val="0"/>
              </a:spcBef>
              <a:spcAft>
                <a:spcPts val="0"/>
              </a:spcAft>
            </a:pPr>
            <a:r>
              <a:rPr sz="819" b="0">
                <a:solidFill>
                  <a:srgbClr val="8A94A2"/>
                </a:solidFill>
                <a:latin typeface="Calibri"/>
              </a:rPr>
              <a:t>Philosophy and Its Role in Education and Society</a:t>
            </a:r>
          </a:p>
        </p:txBody>
      </p:sp>
      <p:sp>
        <p:nvSpPr>
          <p:cNvPr id="8" name="TextBox 7"/>
          <p:cNvSpPr txBox="1"/>
          <p:nvPr/>
        </p:nvSpPr>
        <p:spPr>
          <a:xfrm>
            <a:off x="10802081" y="6492240"/>
            <a:ext cx="822960" cy="219456"/>
          </a:xfrm>
          <a:prstGeom prst="rect">
            <a:avLst/>
          </a:prstGeom>
          <a:noFill/>
        </p:spPr>
        <p:txBody>
          <a:bodyPr wrap="square" lIns="0" rIns="0" tIns="0" bIns="0" anchor="t">
            <a:spAutoFit/>
          </a:bodyPr>
          <a:lstStyle/>
          <a:p>
            <a:pPr algn="r">
              <a:lnSpc>
                <a:spcPct val="106000"/>
              </a:lnSpc>
              <a:spcBef>
                <a:spcPts val="0"/>
              </a:spcBef>
              <a:spcAft>
                <a:spcPts val="0"/>
              </a:spcAft>
            </a:pPr>
            <a:r>
              <a:rPr sz="860" b="1">
                <a:solidFill>
                  <a:srgbClr val="5F6B7A"/>
                </a:solidFill>
                <a:latin typeface="Calibri"/>
              </a:rPr>
              <a:t>6 / 18</a:t>
            </a:r>
          </a:p>
        </p:txBody>
      </p:sp>
      <p:sp>
        <p:nvSpPr>
          <p:cNvPr id="9" name="TextBox 8"/>
          <p:cNvSpPr txBox="1"/>
          <p:nvPr/>
        </p:nvSpPr>
        <p:spPr>
          <a:xfrm>
            <a:off x="566928" y="1188720"/>
            <a:ext cx="5394960" cy="566928"/>
          </a:xfrm>
          <a:prstGeom prst="rect">
            <a:avLst/>
          </a:prstGeom>
          <a:noFill/>
        </p:spPr>
        <p:txBody>
          <a:bodyPr wrap="square" lIns="0" rIns="0" tIns="0" bIns="0" anchor="t">
            <a:spAutoFit/>
          </a:bodyPr>
          <a:lstStyle/>
          <a:p>
            <a:pPr algn="l">
              <a:lnSpc>
                <a:spcPct val="110000"/>
              </a:lnSpc>
              <a:spcBef>
                <a:spcPts val="0"/>
              </a:spcBef>
              <a:spcAft>
                <a:spcPts val="0"/>
              </a:spcAft>
            </a:pPr>
            <a:r>
              <a:rPr sz="1240" b="0">
                <a:solidFill>
                  <a:srgbClr val="333A42"/>
                </a:solidFill>
                <a:latin typeface="Calibri"/>
              </a:rPr>
              <a:t>The relationship runs in both directions. Philosophy clarifies the aims, values and criteria of education; education tests those aims against experience and makes them public. Neither can be reduced to the other.</a:t>
            </a:r>
          </a:p>
        </p:txBody>
      </p:sp>
      <p:pic>
        <p:nvPicPr>
          <p:cNvPr id="10" name="Picture 9" descr="target_navy.png"/>
          <p:cNvPicPr>
            <a:picLocks noChangeAspect="1"/>
          </p:cNvPicPr>
          <p:nvPr/>
        </p:nvPicPr>
        <p:blipFill>
          <a:blip r:embed="rId2"/>
          <a:stretch>
            <a:fillRect/>
          </a:stretch>
        </p:blipFill>
        <p:spPr>
          <a:xfrm>
            <a:off x="566928" y="1988820"/>
            <a:ext cx="219456" cy="219456"/>
          </a:xfrm>
          <a:prstGeom prst="rect">
            <a:avLst/>
          </a:prstGeom>
        </p:spPr>
      </p:pic>
      <p:sp>
        <p:nvSpPr>
          <p:cNvPr id="11" name="TextBox 10"/>
          <p:cNvSpPr txBox="1"/>
          <p:nvPr/>
        </p:nvSpPr>
        <p:spPr>
          <a:xfrm>
            <a:off x="905256" y="1975104"/>
            <a:ext cx="5056632" cy="274320"/>
          </a:xfrm>
          <a:prstGeom prst="rect">
            <a:avLst/>
          </a:prstGeom>
          <a:noFill/>
        </p:spPr>
        <p:txBody>
          <a:bodyPr wrap="square" lIns="0" rIns="0" tIns="0" bIns="0" anchor="t">
            <a:spAutoFit/>
          </a:bodyPr>
          <a:lstStyle/>
          <a:p>
            <a:pPr algn="l">
              <a:lnSpc>
                <a:spcPct val="102000"/>
              </a:lnSpc>
              <a:spcBef>
                <a:spcPts val="0"/>
              </a:spcBef>
              <a:spcAft>
                <a:spcPts val="0"/>
              </a:spcAft>
            </a:pPr>
            <a:r>
              <a:rPr sz="1120" b="1">
                <a:solidFill>
                  <a:srgbClr val="0F2D52"/>
                </a:solidFill>
                <a:latin typeface="Calibri"/>
              </a:rPr>
              <a:t>Aims</a:t>
            </a:r>
          </a:p>
        </p:txBody>
      </p:sp>
      <p:sp>
        <p:nvSpPr>
          <p:cNvPr id="12" name="TextBox 11"/>
          <p:cNvSpPr txBox="1"/>
          <p:nvPr/>
        </p:nvSpPr>
        <p:spPr>
          <a:xfrm>
            <a:off x="905256" y="2165197"/>
            <a:ext cx="5056632" cy="717448"/>
          </a:xfrm>
          <a:prstGeom prst="rect">
            <a:avLst/>
          </a:prstGeom>
          <a:noFill/>
        </p:spPr>
        <p:txBody>
          <a:bodyPr wrap="square" lIns="0" rIns="0" tIns="0" bIns="0" anchor="t">
            <a:spAutoFit/>
          </a:bodyPr>
          <a:lstStyle/>
          <a:p>
            <a:pPr algn="l">
              <a:lnSpc>
                <a:spcPct val="106000"/>
              </a:lnSpc>
              <a:spcBef>
                <a:spcPts val="0"/>
              </a:spcBef>
              <a:spcAft>
                <a:spcPts val="0"/>
              </a:spcAft>
            </a:pPr>
            <a:r>
              <a:rPr sz="1050" b="0">
                <a:solidFill>
                  <a:srgbClr val="333A42"/>
                </a:solidFill>
                <a:latin typeface="Calibri"/>
              </a:rPr>
              <a:t>What is education for? Growth, autonomy, citizenship, employability — each is a value claim.</a:t>
            </a:r>
          </a:p>
        </p:txBody>
      </p:sp>
      <p:pic>
        <p:nvPicPr>
          <p:cNvPr id="13" name="Picture 12" descr="book_orange.png"/>
          <p:cNvPicPr>
            <a:picLocks noChangeAspect="1"/>
          </p:cNvPicPr>
          <p:nvPr/>
        </p:nvPicPr>
        <p:blipFill>
          <a:blip r:embed="rId3"/>
          <a:stretch>
            <a:fillRect/>
          </a:stretch>
        </p:blipFill>
        <p:spPr>
          <a:xfrm>
            <a:off x="566928" y="3019806"/>
            <a:ext cx="219456" cy="219456"/>
          </a:xfrm>
          <a:prstGeom prst="rect">
            <a:avLst/>
          </a:prstGeom>
        </p:spPr>
      </p:pic>
      <p:sp>
        <p:nvSpPr>
          <p:cNvPr id="14" name="TextBox 13"/>
          <p:cNvSpPr txBox="1"/>
          <p:nvPr/>
        </p:nvSpPr>
        <p:spPr>
          <a:xfrm>
            <a:off x="905256" y="3006090"/>
            <a:ext cx="5056632" cy="274320"/>
          </a:xfrm>
          <a:prstGeom prst="rect">
            <a:avLst/>
          </a:prstGeom>
          <a:noFill/>
        </p:spPr>
        <p:txBody>
          <a:bodyPr wrap="square" lIns="0" rIns="0" tIns="0" bIns="0" anchor="t">
            <a:spAutoFit/>
          </a:bodyPr>
          <a:lstStyle/>
          <a:p>
            <a:pPr algn="l">
              <a:lnSpc>
                <a:spcPct val="102000"/>
              </a:lnSpc>
              <a:spcBef>
                <a:spcPts val="0"/>
              </a:spcBef>
              <a:spcAft>
                <a:spcPts val="0"/>
              </a:spcAft>
            </a:pPr>
            <a:r>
              <a:rPr sz="1120" b="1">
                <a:solidFill>
                  <a:srgbClr val="C25E1A"/>
                </a:solidFill>
                <a:latin typeface="Calibri"/>
              </a:rPr>
              <a:t>Curriculum</a:t>
            </a:r>
          </a:p>
        </p:txBody>
      </p:sp>
      <p:sp>
        <p:nvSpPr>
          <p:cNvPr id="15" name="TextBox 14"/>
          <p:cNvSpPr txBox="1"/>
          <p:nvPr/>
        </p:nvSpPr>
        <p:spPr>
          <a:xfrm>
            <a:off x="905256" y="3196183"/>
            <a:ext cx="5056632" cy="717448"/>
          </a:xfrm>
          <a:prstGeom prst="rect">
            <a:avLst/>
          </a:prstGeom>
          <a:noFill/>
        </p:spPr>
        <p:txBody>
          <a:bodyPr wrap="square" lIns="0" rIns="0" tIns="0" bIns="0" anchor="t">
            <a:spAutoFit/>
          </a:bodyPr>
          <a:lstStyle/>
          <a:p>
            <a:pPr algn="l">
              <a:lnSpc>
                <a:spcPct val="106000"/>
              </a:lnSpc>
              <a:spcBef>
                <a:spcPts val="0"/>
              </a:spcBef>
              <a:spcAft>
                <a:spcPts val="0"/>
              </a:spcAft>
            </a:pPr>
            <a:r>
              <a:rPr sz="1050" b="0">
                <a:solidFill>
                  <a:srgbClr val="333A42"/>
                </a:solidFill>
                <a:latin typeface="Calibri"/>
              </a:rPr>
              <a:t>Which knowledge is most worth teaching, and on what grounds is that selection made?</a:t>
            </a:r>
          </a:p>
        </p:txBody>
      </p:sp>
      <p:pic>
        <p:nvPicPr>
          <p:cNvPr id="16" name="Picture 15" descr="people_teal.png"/>
          <p:cNvPicPr>
            <a:picLocks noChangeAspect="1"/>
          </p:cNvPicPr>
          <p:nvPr/>
        </p:nvPicPr>
        <p:blipFill>
          <a:blip r:embed="rId4"/>
          <a:stretch>
            <a:fillRect/>
          </a:stretch>
        </p:blipFill>
        <p:spPr>
          <a:xfrm>
            <a:off x="566928" y="4050791"/>
            <a:ext cx="219456" cy="219456"/>
          </a:xfrm>
          <a:prstGeom prst="rect">
            <a:avLst/>
          </a:prstGeom>
        </p:spPr>
      </p:pic>
      <p:sp>
        <p:nvSpPr>
          <p:cNvPr id="17" name="TextBox 16"/>
          <p:cNvSpPr txBox="1"/>
          <p:nvPr/>
        </p:nvSpPr>
        <p:spPr>
          <a:xfrm>
            <a:off x="905256" y="4037076"/>
            <a:ext cx="5056632" cy="274320"/>
          </a:xfrm>
          <a:prstGeom prst="rect">
            <a:avLst/>
          </a:prstGeom>
          <a:noFill/>
        </p:spPr>
        <p:txBody>
          <a:bodyPr wrap="square" lIns="0" rIns="0" tIns="0" bIns="0" anchor="t">
            <a:spAutoFit/>
          </a:bodyPr>
          <a:lstStyle/>
          <a:p>
            <a:pPr algn="l">
              <a:lnSpc>
                <a:spcPct val="102000"/>
              </a:lnSpc>
              <a:spcBef>
                <a:spcPts val="0"/>
              </a:spcBef>
              <a:spcAft>
                <a:spcPts val="0"/>
              </a:spcAft>
            </a:pPr>
            <a:r>
              <a:rPr sz="1120" b="1">
                <a:solidFill>
                  <a:srgbClr val="166B67"/>
                </a:solidFill>
                <a:latin typeface="Calibri"/>
              </a:rPr>
              <a:t>Pedagogy</a:t>
            </a:r>
          </a:p>
        </p:txBody>
      </p:sp>
      <p:sp>
        <p:nvSpPr>
          <p:cNvPr id="18" name="TextBox 17"/>
          <p:cNvSpPr txBox="1"/>
          <p:nvPr/>
        </p:nvSpPr>
        <p:spPr>
          <a:xfrm>
            <a:off x="905256" y="4227169"/>
            <a:ext cx="5056632" cy="717448"/>
          </a:xfrm>
          <a:prstGeom prst="rect">
            <a:avLst/>
          </a:prstGeom>
          <a:noFill/>
        </p:spPr>
        <p:txBody>
          <a:bodyPr wrap="square" lIns="0" rIns="0" tIns="0" bIns="0" anchor="t">
            <a:spAutoFit/>
          </a:bodyPr>
          <a:lstStyle/>
          <a:p>
            <a:pPr algn="l">
              <a:lnSpc>
                <a:spcPct val="106000"/>
              </a:lnSpc>
              <a:spcBef>
                <a:spcPts val="0"/>
              </a:spcBef>
              <a:spcAft>
                <a:spcPts val="0"/>
              </a:spcAft>
            </a:pPr>
            <a:r>
              <a:rPr sz="1050" b="0">
                <a:solidFill>
                  <a:srgbClr val="333A42"/>
                </a:solidFill>
                <a:latin typeface="Calibri"/>
              </a:rPr>
              <a:t>How should teaching and learning be conducted? Authority, dialogue, discovery or instruction?</a:t>
            </a:r>
          </a:p>
        </p:txBody>
      </p:sp>
      <p:pic>
        <p:nvPicPr>
          <p:cNvPr id="19" name="Picture 18" descr="check_purple.png"/>
          <p:cNvPicPr>
            <a:picLocks noChangeAspect="1"/>
          </p:cNvPicPr>
          <p:nvPr/>
        </p:nvPicPr>
        <p:blipFill>
          <a:blip r:embed="rId5"/>
          <a:stretch>
            <a:fillRect/>
          </a:stretch>
        </p:blipFill>
        <p:spPr>
          <a:xfrm>
            <a:off x="566928" y="5081778"/>
            <a:ext cx="219456" cy="219456"/>
          </a:xfrm>
          <a:prstGeom prst="rect">
            <a:avLst/>
          </a:prstGeom>
        </p:spPr>
      </p:pic>
      <p:sp>
        <p:nvSpPr>
          <p:cNvPr id="20" name="TextBox 19"/>
          <p:cNvSpPr txBox="1"/>
          <p:nvPr/>
        </p:nvSpPr>
        <p:spPr>
          <a:xfrm>
            <a:off x="905256" y="5068062"/>
            <a:ext cx="5056632" cy="274320"/>
          </a:xfrm>
          <a:prstGeom prst="rect">
            <a:avLst/>
          </a:prstGeom>
          <a:noFill/>
        </p:spPr>
        <p:txBody>
          <a:bodyPr wrap="square" lIns="0" rIns="0" tIns="0" bIns="0" anchor="t">
            <a:spAutoFit/>
          </a:bodyPr>
          <a:lstStyle/>
          <a:p>
            <a:pPr algn="l">
              <a:lnSpc>
                <a:spcPct val="102000"/>
              </a:lnSpc>
              <a:spcBef>
                <a:spcPts val="0"/>
              </a:spcBef>
              <a:spcAft>
                <a:spcPts val="0"/>
              </a:spcAft>
            </a:pPr>
            <a:r>
              <a:rPr sz="1120" b="1">
                <a:solidFill>
                  <a:srgbClr val="5B4B8A"/>
                </a:solidFill>
                <a:latin typeface="Calibri"/>
              </a:rPr>
              <a:t>Assessment</a:t>
            </a:r>
          </a:p>
        </p:txBody>
      </p:sp>
      <p:sp>
        <p:nvSpPr>
          <p:cNvPr id="21" name="TextBox 20"/>
          <p:cNvSpPr txBox="1"/>
          <p:nvPr/>
        </p:nvSpPr>
        <p:spPr>
          <a:xfrm>
            <a:off x="905256" y="5258155"/>
            <a:ext cx="5056632" cy="717448"/>
          </a:xfrm>
          <a:prstGeom prst="rect">
            <a:avLst/>
          </a:prstGeom>
          <a:noFill/>
        </p:spPr>
        <p:txBody>
          <a:bodyPr wrap="square" lIns="0" rIns="0" tIns="0" bIns="0" anchor="t">
            <a:spAutoFit/>
          </a:bodyPr>
          <a:lstStyle/>
          <a:p>
            <a:pPr algn="l">
              <a:lnSpc>
                <a:spcPct val="106000"/>
              </a:lnSpc>
              <a:spcBef>
                <a:spcPts val="0"/>
              </a:spcBef>
              <a:spcAft>
                <a:spcPts val="0"/>
              </a:spcAft>
            </a:pPr>
            <a:r>
              <a:rPr sz="1050" b="0">
                <a:solidFill>
                  <a:srgbClr val="333A42"/>
                </a:solidFill>
                <a:latin typeface="Calibri"/>
              </a:rPr>
              <a:t>What counts as genuine educational success, and what does measuring it distort?</a:t>
            </a:r>
          </a:p>
        </p:txBody>
      </p:sp>
      <p:pic>
        <p:nvPicPr>
          <p:cNvPr id="22" name="Picture 21" descr="s06_edu_bridge.png"/>
          <p:cNvPicPr>
            <a:picLocks noChangeAspect="1"/>
          </p:cNvPicPr>
          <p:nvPr/>
        </p:nvPicPr>
        <p:blipFill>
          <a:blip r:embed="rId6"/>
          <a:stretch>
            <a:fillRect/>
          </a:stretch>
        </p:blipFill>
        <p:spPr>
          <a:xfrm>
            <a:off x="6263640" y="1214914"/>
            <a:ext cx="5361401" cy="4903659"/>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6012" cy="6858000"/>
          </a:xfrm>
          <a:prstGeom prst="rect">
            <a:avLst/>
          </a:prstGeom>
          <a:solidFill>
            <a:srgbClr val="C25E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56616"/>
            <a:ext cx="11058113" cy="219456"/>
          </a:xfrm>
          <a:prstGeom prst="rect">
            <a:avLst/>
          </a:prstGeom>
          <a:noFill/>
        </p:spPr>
        <p:txBody>
          <a:bodyPr wrap="square" lIns="0" rIns="0" tIns="0" bIns="0" anchor="t">
            <a:spAutoFit/>
          </a:bodyPr>
          <a:lstStyle/>
          <a:p>
            <a:pPr algn="l">
              <a:lnSpc>
                <a:spcPct val="106000"/>
              </a:lnSpc>
              <a:spcBef>
                <a:spcPts val="0"/>
              </a:spcBef>
              <a:spcAft>
                <a:spcPts val="0"/>
              </a:spcAft>
            </a:pPr>
            <a:r>
              <a:rPr sz="960" b="1">
                <a:solidFill>
                  <a:srgbClr val="C25E1A"/>
                </a:solidFill>
                <a:latin typeface="Calibri"/>
              </a:rPr>
              <a:t>PHILOSOPHY AND EDUCATION</a:t>
            </a:r>
          </a:p>
        </p:txBody>
      </p:sp>
      <p:sp>
        <p:nvSpPr>
          <p:cNvPr id="5" name="TextBox 4"/>
          <p:cNvSpPr txBox="1"/>
          <p:nvPr/>
        </p:nvSpPr>
        <p:spPr>
          <a:xfrm>
            <a:off x="566928" y="557784"/>
            <a:ext cx="9960833" cy="566928"/>
          </a:xfrm>
          <a:prstGeom prst="rect">
            <a:avLst/>
          </a:prstGeom>
          <a:noFill/>
        </p:spPr>
        <p:txBody>
          <a:bodyPr wrap="square" lIns="0" rIns="0" tIns="0" bIns="0" anchor="t">
            <a:spAutoFit/>
          </a:bodyPr>
          <a:lstStyle/>
          <a:p>
            <a:pPr algn="l">
              <a:lnSpc>
                <a:spcPct val="100000"/>
              </a:lnSpc>
              <a:spcBef>
                <a:spcPts val="0"/>
              </a:spcBef>
              <a:spcAft>
                <a:spcPts val="0"/>
              </a:spcAft>
            </a:pPr>
            <a:r>
              <a:rPr sz="2500" b="1">
                <a:solidFill>
                  <a:srgbClr val="0F2D52"/>
                </a:solidFill>
                <a:latin typeface="Calibri"/>
              </a:rPr>
              <a:t>The role of philosophy in education</a:t>
            </a:r>
          </a:p>
        </p:txBody>
      </p:sp>
      <p:sp>
        <p:nvSpPr>
          <p:cNvPr id="6" name="Rectangle 5"/>
          <p:cNvSpPr/>
          <p:nvPr/>
        </p:nvSpPr>
        <p:spPr>
          <a:xfrm>
            <a:off x="566928" y="950976"/>
            <a:ext cx="11058113" cy="10058"/>
          </a:xfrm>
          <a:prstGeom prst="rect">
            <a:avLst/>
          </a:prstGeom>
          <a:solidFill>
            <a:srgbClr val="D5D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6492240"/>
            <a:ext cx="10143713" cy="219456"/>
          </a:xfrm>
          <a:prstGeom prst="rect">
            <a:avLst/>
          </a:prstGeom>
          <a:noFill/>
        </p:spPr>
        <p:txBody>
          <a:bodyPr wrap="square" lIns="0" rIns="0" tIns="0" bIns="0" anchor="t">
            <a:spAutoFit/>
          </a:bodyPr>
          <a:lstStyle/>
          <a:p>
            <a:pPr algn="l">
              <a:lnSpc>
                <a:spcPct val="106000"/>
              </a:lnSpc>
              <a:spcBef>
                <a:spcPts val="0"/>
              </a:spcBef>
              <a:spcAft>
                <a:spcPts val="0"/>
              </a:spcAft>
            </a:pPr>
            <a:r>
              <a:rPr sz="819" b="0">
                <a:solidFill>
                  <a:srgbClr val="8A94A2"/>
                </a:solidFill>
                <a:latin typeface="Calibri"/>
              </a:rPr>
              <a:t>Philosophy and Its Role in Education and Society</a:t>
            </a:r>
          </a:p>
        </p:txBody>
      </p:sp>
      <p:sp>
        <p:nvSpPr>
          <p:cNvPr id="8" name="TextBox 7"/>
          <p:cNvSpPr txBox="1"/>
          <p:nvPr/>
        </p:nvSpPr>
        <p:spPr>
          <a:xfrm>
            <a:off x="10802081" y="6492240"/>
            <a:ext cx="822960" cy="219456"/>
          </a:xfrm>
          <a:prstGeom prst="rect">
            <a:avLst/>
          </a:prstGeom>
          <a:noFill/>
        </p:spPr>
        <p:txBody>
          <a:bodyPr wrap="square" lIns="0" rIns="0" tIns="0" bIns="0" anchor="t">
            <a:spAutoFit/>
          </a:bodyPr>
          <a:lstStyle/>
          <a:p>
            <a:pPr algn="r">
              <a:lnSpc>
                <a:spcPct val="106000"/>
              </a:lnSpc>
              <a:spcBef>
                <a:spcPts val="0"/>
              </a:spcBef>
              <a:spcAft>
                <a:spcPts val="0"/>
              </a:spcAft>
            </a:pPr>
            <a:r>
              <a:rPr sz="860" b="1">
                <a:solidFill>
                  <a:srgbClr val="5F6B7A"/>
                </a:solidFill>
                <a:latin typeface="Calibri"/>
              </a:rPr>
              <a:t>7 / 18</a:t>
            </a:r>
          </a:p>
        </p:txBody>
      </p:sp>
      <p:sp>
        <p:nvSpPr>
          <p:cNvPr id="9" name="TextBox 8"/>
          <p:cNvSpPr txBox="1"/>
          <p:nvPr/>
        </p:nvSpPr>
        <p:spPr>
          <a:xfrm>
            <a:off x="566928" y="1188720"/>
            <a:ext cx="5394960" cy="566928"/>
          </a:xfrm>
          <a:prstGeom prst="rect">
            <a:avLst/>
          </a:prstGeom>
          <a:noFill/>
        </p:spPr>
        <p:txBody>
          <a:bodyPr wrap="square" lIns="0" rIns="0" tIns="0" bIns="0" anchor="t">
            <a:spAutoFit/>
          </a:bodyPr>
          <a:lstStyle/>
          <a:p>
            <a:pPr algn="l">
              <a:lnSpc>
                <a:spcPct val="110000"/>
              </a:lnSpc>
              <a:spcBef>
                <a:spcPts val="0"/>
              </a:spcBef>
              <a:spcAft>
                <a:spcPts val="0"/>
              </a:spcAft>
            </a:pPr>
            <a:r>
              <a:rPr sz="1220" b="0">
                <a:solidFill>
                  <a:srgbClr val="333A42"/>
                </a:solidFill>
                <a:latin typeface="Calibri"/>
              </a:rPr>
              <a:t>In practice philosophy performs five tasks in education. It does not tell teachers what to do; it makes the reasons for what they do available for examination.</a:t>
            </a:r>
          </a:p>
        </p:txBody>
      </p:sp>
      <p:pic>
        <p:nvPicPr>
          <p:cNvPr id="10" name="Picture 9" descr="target_navy.png"/>
          <p:cNvPicPr>
            <a:picLocks noChangeAspect="1"/>
          </p:cNvPicPr>
          <p:nvPr/>
        </p:nvPicPr>
        <p:blipFill>
          <a:blip r:embed="rId2"/>
          <a:stretch>
            <a:fillRect/>
          </a:stretch>
        </p:blipFill>
        <p:spPr>
          <a:xfrm>
            <a:off x="566928" y="1897380"/>
            <a:ext cx="219456" cy="219456"/>
          </a:xfrm>
          <a:prstGeom prst="rect">
            <a:avLst/>
          </a:prstGeom>
        </p:spPr>
      </p:pic>
      <p:sp>
        <p:nvSpPr>
          <p:cNvPr id="11" name="TextBox 10"/>
          <p:cNvSpPr txBox="1"/>
          <p:nvPr/>
        </p:nvSpPr>
        <p:spPr>
          <a:xfrm>
            <a:off x="905256" y="1883664"/>
            <a:ext cx="5056632" cy="274320"/>
          </a:xfrm>
          <a:prstGeom prst="rect">
            <a:avLst/>
          </a:prstGeom>
          <a:noFill/>
        </p:spPr>
        <p:txBody>
          <a:bodyPr wrap="square" lIns="0" rIns="0" tIns="0" bIns="0" anchor="t">
            <a:spAutoFit/>
          </a:bodyPr>
          <a:lstStyle/>
          <a:p>
            <a:pPr algn="l">
              <a:lnSpc>
                <a:spcPct val="102000"/>
              </a:lnSpc>
              <a:spcBef>
                <a:spcPts val="0"/>
              </a:spcBef>
              <a:spcAft>
                <a:spcPts val="0"/>
              </a:spcAft>
            </a:pPr>
            <a:r>
              <a:rPr sz="1100" b="1">
                <a:solidFill>
                  <a:srgbClr val="0F2D52"/>
                </a:solidFill>
                <a:latin typeface="Calibri"/>
              </a:rPr>
              <a:t>Clarifying aims</a:t>
            </a:r>
          </a:p>
        </p:txBody>
      </p:sp>
      <p:sp>
        <p:nvSpPr>
          <p:cNvPr id="12" name="TextBox 11"/>
          <p:cNvSpPr txBox="1"/>
          <p:nvPr/>
        </p:nvSpPr>
        <p:spPr>
          <a:xfrm>
            <a:off x="905256" y="2070608"/>
            <a:ext cx="5056632" cy="554634"/>
          </a:xfrm>
          <a:prstGeom prst="rect">
            <a:avLst/>
          </a:prstGeom>
          <a:noFill/>
        </p:spPr>
        <p:txBody>
          <a:bodyPr wrap="square" lIns="0" rIns="0" tIns="0" bIns="0" anchor="t">
            <a:spAutoFit/>
          </a:bodyPr>
          <a:lstStyle/>
          <a:p>
            <a:pPr algn="l">
              <a:lnSpc>
                <a:spcPct val="106000"/>
              </a:lnSpc>
              <a:spcBef>
                <a:spcPts val="0"/>
              </a:spcBef>
              <a:spcAft>
                <a:spcPts val="0"/>
              </a:spcAft>
            </a:pPr>
            <a:r>
              <a:rPr sz="1030" b="0">
                <a:solidFill>
                  <a:srgbClr val="333A42"/>
                </a:solidFill>
                <a:latin typeface="Calibri"/>
              </a:rPr>
              <a:t>Distinguishing what education is for from what it currently measures.</a:t>
            </a:r>
          </a:p>
        </p:txBody>
      </p:sp>
      <p:pic>
        <p:nvPicPr>
          <p:cNvPr id="13" name="Picture 12" descr="gear_orange.png"/>
          <p:cNvPicPr>
            <a:picLocks noChangeAspect="1"/>
          </p:cNvPicPr>
          <p:nvPr/>
        </p:nvPicPr>
        <p:blipFill>
          <a:blip r:embed="rId3"/>
          <a:stretch>
            <a:fillRect/>
          </a:stretch>
        </p:blipFill>
        <p:spPr>
          <a:xfrm>
            <a:off x="566928" y="2734970"/>
            <a:ext cx="219456" cy="219456"/>
          </a:xfrm>
          <a:prstGeom prst="rect">
            <a:avLst/>
          </a:prstGeom>
        </p:spPr>
      </p:pic>
      <p:sp>
        <p:nvSpPr>
          <p:cNvPr id="14" name="TextBox 13"/>
          <p:cNvSpPr txBox="1"/>
          <p:nvPr/>
        </p:nvSpPr>
        <p:spPr>
          <a:xfrm>
            <a:off x="905256" y="2721254"/>
            <a:ext cx="5056632" cy="274320"/>
          </a:xfrm>
          <a:prstGeom prst="rect">
            <a:avLst/>
          </a:prstGeom>
          <a:noFill/>
        </p:spPr>
        <p:txBody>
          <a:bodyPr wrap="square" lIns="0" rIns="0" tIns="0" bIns="0" anchor="t">
            <a:spAutoFit/>
          </a:bodyPr>
          <a:lstStyle/>
          <a:p>
            <a:pPr algn="l">
              <a:lnSpc>
                <a:spcPct val="102000"/>
              </a:lnSpc>
              <a:spcBef>
                <a:spcPts val="0"/>
              </a:spcBef>
              <a:spcAft>
                <a:spcPts val="0"/>
              </a:spcAft>
            </a:pPr>
            <a:r>
              <a:rPr sz="1100" b="1">
                <a:solidFill>
                  <a:srgbClr val="C25E1A"/>
                </a:solidFill>
                <a:latin typeface="Calibri"/>
              </a:rPr>
              <a:t>Examining assumptions</a:t>
            </a:r>
          </a:p>
        </p:txBody>
      </p:sp>
      <p:sp>
        <p:nvSpPr>
          <p:cNvPr id="15" name="TextBox 14"/>
          <p:cNvSpPr txBox="1"/>
          <p:nvPr/>
        </p:nvSpPr>
        <p:spPr>
          <a:xfrm>
            <a:off x="905256" y="2908198"/>
            <a:ext cx="5056632" cy="554634"/>
          </a:xfrm>
          <a:prstGeom prst="rect">
            <a:avLst/>
          </a:prstGeom>
          <a:noFill/>
        </p:spPr>
        <p:txBody>
          <a:bodyPr wrap="square" lIns="0" rIns="0" tIns="0" bIns="0" anchor="t">
            <a:spAutoFit/>
          </a:bodyPr>
          <a:lstStyle/>
          <a:p>
            <a:pPr algn="l">
              <a:lnSpc>
                <a:spcPct val="106000"/>
              </a:lnSpc>
              <a:spcBef>
                <a:spcPts val="0"/>
              </a:spcBef>
              <a:spcAft>
                <a:spcPts val="0"/>
              </a:spcAft>
            </a:pPr>
            <a:r>
              <a:rPr sz="1030" b="0">
                <a:solidFill>
                  <a:srgbClr val="333A42"/>
                </a:solidFill>
                <a:latin typeface="Calibri"/>
              </a:rPr>
              <a:t>Making implicit beliefs about learners, knowledge and authority explicit.</a:t>
            </a:r>
          </a:p>
        </p:txBody>
      </p:sp>
      <p:pic>
        <p:nvPicPr>
          <p:cNvPr id="16" name="Picture 15" descr="search_teal.png"/>
          <p:cNvPicPr>
            <a:picLocks noChangeAspect="1"/>
          </p:cNvPicPr>
          <p:nvPr/>
        </p:nvPicPr>
        <p:blipFill>
          <a:blip r:embed="rId4"/>
          <a:stretch>
            <a:fillRect/>
          </a:stretch>
        </p:blipFill>
        <p:spPr>
          <a:xfrm>
            <a:off x="566928" y="3572560"/>
            <a:ext cx="219456" cy="219456"/>
          </a:xfrm>
          <a:prstGeom prst="rect">
            <a:avLst/>
          </a:prstGeom>
        </p:spPr>
      </p:pic>
      <p:sp>
        <p:nvSpPr>
          <p:cNvPr id="17" name="TextBox 16"/>
          <p:cNvSpPr txBox="1"/>
          <p:nvPr/>
        </p:nvSpPr>
        <p:spPr>
          <a:xfrm>
            <a:off x="905256" y="3558844"/>
            <a:ext cx="5056632" cy="274320"/>
          </a:xfrm>
          <a:prstGeom prst="rect">
            <a:avLst/>
          </a:prstGeom>
          <a:noFill/>
        </p:spPr>
        <p:txBody>
          <a:bodyPr wrap="square" lIns="0" rIns="0" tIns="0" bIns="0" anchor="t">
            <a:spAutoFit/>
          </a:bodyPr>
          <a:lstStyle/>
          <a:p>
            <a:pPr algn="l">
              <a:lnSpc>
                <a:spcPct val="102000"/>
              </a:lnSpc>
              <a:spcBef>
                <a:spcPts val="0"/>
              </a:spcBef>
              <a:spcAft>
                <a:spcPts val="0"/>
              </a:spcAft>
            </a:pPr>
            <a:r>
              <a:rPr sz="1100" b="1">
                <a:solidFill>
                  <a:srgbClr val="166B67"/>
                </a:solidFill>
                <a:latin typeface="Calibri"/>
              </a:rPr>
              <a:t>Developing critical thinking</a:t>
            </a:r>
          </a:p>
        </p:txBody>
      </p:sp>
      <p:sp>
        <p:nvSpPr>
          <p:cNvPr id="18" name="TextBox 17"/>
          <p:cNvSpPr txBox="1"/>
          <p:nvPr/>
        </p:nvSpPr>
        <p:spPr>
          <a:xfrm>
            <a:off x="905256" y="3745788"/>
            <a:ext cx="5056632" cy="554634"/>
          </a:xfrm>
          <a:prstGeom prst="rect">
            <a:avLst/>
          </a:prstGeom>
          <a:noFill/>
        </p:spPr>
        <p:txBody>
          <a:bodyPr wrap="square" lIns="0" rIns="0" tIns="0" bIns="0" anchor="t">
            <a:spAutoFit/>
          </a:bodyPr>
          <a:lstStyle/>
          <a:p>
            <a:pPr algn="l">
              <a:lnSpc>
                <a:spcPct val="106000"/>
              </a:lnSpc>
              <a:spcBef>
                <a:spcPts val="0"/>
              </a:spcBef>
              <a:spcAft>
                <a:spcPts val="0"/>
              </a:spcAft>
            </a:pPr>
            <a:r>
              <a:rPr sz="1030" b="0">
                <a:solidFill>
                  <a:srgbClr val="333A42"/>
                </a:solidFill>
                <a:latin typeface="Calibri"/>
              </a:rPr>
              <a:t>Teaching the evaluation of evidence and argument as a curriculum objective, not a by-product.</a:t>
            </a:r>
          </a:p>
        </p:txBody>
      </p:sp>
      <p:pic>
        <p:nvPicPr>
          <p:cNvPr id="19" name="Picture 18" descr="scales_purple.png"/>
          <p:cNvPicPr>
            <a:picLocks noChangeAspect="1"/>
          </p:cNvPicPr>
          <p:nvPr/>
        </p:nvPicPr>
        <p:blipFill>
          <a:blip r:embed="rId5"/>
          <a:stretch>
            <a:fillRect/>
          </a:stretch>
        </p:blipFill>
        <p:spPr>
          <a:xfrm>
            <a:off x="566928" y="4410151"/>
            <a:ext cx="219456" cy="219456"/>
          </a:xfrm>
          <a:prstGeom prst="rect">
            <a:avLst/>
          </a:prstGeom>
        </p:spPr>
      </p:pic>
      <p:sp>
        <p:nvSpPr>
          <p:cNvPr id="20" name="TextBox 19"/>
          <p:cNvSpPr txBox="1"/>
          <p:nvPr/>
        </p:nvSpPr>
        <p:spPr>
          <a:xfrm>
            <a:off x="905256" y="4396435"/>
            <a:ext cx="5056632" cy="274320"/>
          </a:xfrm>
          <a:prstGeom prst="rect">
            <a:avLst/>
          </a:prstGeom>
          <a:noFill/>
        </p:spPr>
        <p:txBody>
          <a:bodyPr wrap="square" lIns="0" rIns="0" tIns="0" bIns="0" anchor="t">
            <a:spAutoFit/>
          </a:bodyPr>
          <a:lstStyle/>
          <a:p>
            <a:pPr algn="l">
              <a:lnSpc>
                <a:spcPct val="102000"/>
              </a:lnSpc>
              <a:spcBef>
                <a:spcPts val="0"/>
              </a:spcBef>
              <a:spcAft>
                <a:spcPts val="0"/>
              </a:spcAft>
            </a:pPr>
            <a:r>
              <a:rPr sz="1100" b="1">
                <a:solidFill>
                  <a:srgbClr val="5B4B8A"/>
                </a:solidFill>
                <a:latin typeface="Calibri"/>
              </a:rPr>
              <a:t>Grounding moral education</a:t>
            </a:r>
          </a:p>
        </p:txBody>
      </p:sp>
      <p:sp>
        <p:nvSpPr>
          <p:cNvPr id="21" name="TextBox 20"/>
          <p:cNvSpPr txBox="1"/>
          <p:nvPr/>
        </p:nvSpPr>
        <p:spPr>
          <a:xfrm>
            <a:off x="905256" y="4583379"/>
            <a:ext cx="5056632" cy="554634"/>
          </a:xfrm>
          <a:prstGeom prst="rect">
            <a:avLst/>
          </a:prstGeom>
          <a:noFill/>
        </p:spPr>
        <p:txBody>
          <a:bodyPr wrap="square" lIns="0" rIns="0" tIns="0" bIns="0" anchor="t">
            <a:spAutoFit/>
          </a:bodyPr>
          <a:lstStyle/>
          <a:p>
            <a:pPr algn="l">
              <a:lnSpc>
                <a:spcPct val="106000"/>
              </a:lnSpc>
              <a:spcBef>
                <a:spcPts val="0"/>
              </a:spcBef>
              <a:spcAft>
                <a:spcPts val="0"/>
              </a:spcAft>
            </a:pPr>
            <a:r>
              <a:rPr sz="1030" b="0">
                <a:solidFill>
                  <a:srgbClr val="333A42"/>
                </a:solidFill>
                <a:latin typeface="Calibri"/>
              </a:rPr>
              <a:t>Providing reasoned frameworks for values education rather than assertion.</a:t>
            </a:r>
          </a:p>
        </p:txBody>
      </p:sp>
      <p:pic>
        <p:nvPicPr>
          <p:cNvPr id="22" name="Picture 21" descr="people_crimson.png"/>
          <p:cNvPicPr>
            <a:picLocks noChangeAspect="1"/>
          </p:cNvPicPr>
          <p:nvPr/>
        </p:nvPicPr>
        <p:blipFill>
          <a:blip r:embed="rId6"/>
          <a:stretch>
            <a:fillRect/>
          </a:stretch>
        </p:blipFill>
        <p:spPr>
          <a:xfrm>
            <a:off x="566928" y="5247741"/>
            <a:ext cx="219456" cy="219456"/>
          </a:xfrm>
          <a:prstGeom prst="rect">
            <a:avLst/>
          </a:prstGeom>
        </p:spPr>
      </p:pic>
      <p:sp>
        <p:nvSpPr>
          <p:cNvPr id="23" name="TextBox 22"/>
          <p:cNvSpPr txBox="1"/>
          <p:nvPr/>
        </p:nvSpPr>
        <p:spPr>
          <a:xfrm>
            <a:off x="905256" y="5234025"/>
            <a:ext cx="5056632" cy="274320"/>
          </a:xfrm>
          <a:prstGeom prst="rect">
            <a:avLst/>
          </a:prstGeom>
          <a:noFill/>
        </p:spPr>
        <p:txBody>
          <a:bodyPr wrap="square" lIns="0" rIns="0" tIns="0" bIns="0" anchor="t">
            <a:spAutoFit/>
          </a:bodyPr>
          <a:lstStyle/>
          <a:p>
            <a:pPr algn="l">
              <a:lnSpc>
                <a:spcPct val="102000"/>
              </a:lnSpc>
              <a:spcBef>
                <a:spcPts val="0"/>
              </a:spcBef>
              <a:spcAft>
                <a:spcPts val="0"/>
              </a:spcAft>
            </a:pPr>
            <a:r>
              <a:rPr sz="1100" b="1">
                <a:solidFill>
                  <a:srgbClr val="9E2B2B"/>
                </a:solidFill>
                <a:latin typeface="Calibri"/>
              </a:rPr>
              <a:t>Framing policy debate</a:t>
            </a:r>
          </a:p>
        </p:txBody>
      </p:sp>
      <p:sp>
        <p:nvSpPr>
          <p:cNvPr id="24" name="TextBox 23"/>
          <p:cNvSpPr txBox="1"/>
          <p:nvPr/>
        </p:nvSpPr>
        <p:spPr>
          <a:xfrm>
            <a:off x="905256" y="5420969"/>
            <a:ext cx="5056632" cy="554634"/>
          </a:xfrm>
          <a:prstGeom prst="rect">
            <a:avLst/>
          </a:prstGeom>
          <a:noFill/>
        </p:spPr>
        <p:txBody>
          <a:bodyPr wrap="square" lIns="0" rIns="0" tIns="0" bIns="0" anchor="t">
            <a:spAutoFit/>
          </a:bodyPr>
          <a:lstStyle/>
          <a:p>
            <a:pPr algn="l">
              <a:lnSpc>
                <a:spcPct val="106000"/>
              </a:lnSpc>
              <a:spcBef>
                <a:spcPts val="0"/>
              </a:spcBef>
              <a:spcAft>
                <a:spcPts val="0"/>
              </a:spcAft>
            </a:pPr>
            <a:r>
              <a:rPr sz="1030" b="0">
                <a:solidFill>
                  <a:srgbClr val="333A42"/>
                </a:solidFill>
                <a:latin typeface="Calibri"/>
              </a:rPr>
              <a:t>Supplying the normative vocabulary in which competing proposals can be compared.</a:t>
            </a:r>
          </a:p>
        </p:txBody>
      </p:sp>
      <p:pic>
        <p:nvPicPr>
          <p:cNvPr id="25" name="Picture 24" descr="classroom.jpg"/>
          <p:cNvPicPr>
            <a:picLocks noChangeAspect="1"/>
          </p:cNvPicPr>
          <p:nvPr/>
        </p:nvPicPr>
        <p:blipFill>
          <a:blip r:embed="rId7"/>
          <a:srcRect l="8239" r="8239"/>
          <a:stretch>
            <a:fillRect/>
          </a:stretch>
        </p:blipFill>
        <p:spPr>
          <a:xfrm>
            <a:off x="6263640" y="1152144"/>
            <a:ext cx="5361401" cy="4279392"/>
          </a:xfrm>
          <a:prstGeom prst="rect">
            <a:avLst/>
          </a:prstGeom>
        </p:spPr>
      </p:pic>
      <p:sp>
        <p:nvSpPr>
          <p:cNvPr id="26" name="Rectangle 25"/>
          <p:cNvSpPr/>
          <p:nvPr/>
        </p:nvSpPr>
        <p:spPr>
          <a:xfrm>
            <a:off x="6263640" y="5431536"/>
            <a:ext cx="5361401" cy="475488"/>
          </a:xfrm>
          <a:prstGeom prst="rect">
            <a:avLst/>
          </a:prstGeom>
          <a:solidFill>
            <a:srgbClr val="EEF3F9"/>
          </a:solidFill>
          <a:ln w="9525">
            <a:solidFill>
              <a:srgbClr val="D5DA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391656" y="5500116"/>
            <a:ext cx="5105369" cy="347472"/>
          </a:xfrm>
          <a:prstGeom prst="rect">
            <a:avLst/>
          </a:prstGeom>
          <a:noFill/>
        </p:spPr>
        <p:txBody>
          <a:bodyPr wrap="square" lIns="0" rIns="0" tIns="0" bIns="0" anchor="t">
            <a:spAutoFit/>
          </a:bodyPr>
          <a:lstStyle/>
          <a:p>
            <a:pPr algn="l">
              <a:lnSpc>
                <a:spcPct val="105000"/>
              </a:lnSpc>
              <a:spcBef>
                <a:spcPts val="0"/>
              </a:spcBef>
              <a:spcAft>
                <a:spcPts val="0"/>
              </a:spcAft>
            </a:pPr>
            <a:r>
              <a:rPr sz="1040" b="0">
                <a:solidFill>
                  <a:srgbClr val="333A42"/>
                </a:solidFill>
                <a:latin typeface="Calibri"/>
              </a:rPr>
              <a:t>A teacher working with pupils in a Jordanian classroom. Philosophy enters such a room through the aims, assumptions and judgements the teacher brings — not as an extra subject.</a:t>
            </a:r>
          </a:p>
        </p:txBody>
      </p:sp>
      <p:sp>
        <p:nvSpPr>
          <p:cNvPr id="28" name="TextBox 27"/>
          <p:cNvSpPr txBox="1"/>
          <p:nvPr/>
        </p:nvSpPr>
        <p:spPr>
          <a:xfrm>
            <a:off x="6263640" y="5943600"/>
            <a:ext cx="5361401" cy="219456"/>
          </a:xfrm>
          <a:prstGeom prst="rect">
            <a:avLst/>
          </a:prstGeom>
          <a:noFill/>
        </p:spPr>
        <p:txBody>
          <a:bodyPr wrap="square" lIns="0" rIns="0" tIns="0" bIns="0" anchor="t">
            <a:spAutoFit/>
          </a:bodyPr>
          <a:lstStyle/>
          <a:p>
            <a:pPr algn="l">
              <a:lnSpc>
                <a:spcPct val="100000"/>
              </a:lnSpc>
              <a:spcBef>
                <a:spcPts val="0"/>
              </a:spcBef>
              <a:spcAft>
                <a:spcPts val="0"/>
              </a:spcAft>
            </a:pPr>
            <a:r>
              <a:rPr sz="720" b="0">
                <a:solidFill>
                  <a:srgbClr val="8A94A2"/>
                </a:solidFill>
                <a:latin typeface="Calibri"/>
              </a:rPr>
              <a:t>Image: A Lebanese teacher lends a hand to Syrian children in Zaatari, Jordan.jpg — DFID (CC BY 2.0), via Wikimedia Commons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6012" cy="6858000"/>
          </a:xfrm>
          <a:prstGeom prst="rect">
            <a:avLst/>
          </a:prstGeom>
          <a:solidFill>
            <a:srgbClr val="C25E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56616"/>
            <a:ext cx="11058113" cy="219456"/>
          </a:xfrm>
          <a:prstGeom prst="rect">
            <a:avLst/>
          </a:prstGeom>
          <a:noFill/>
        </p:spPr>
        <p:txBody>
          <a:bodyPr wrap="square" lIns="0" rIns="0" tIns="0" bIns="0" anchor="t">
            <a:spAutoFit/>
          </a:bodyPr>
          <a:lstStyle/>
          <a:p>
            <a:pPr algn="l">
              <a:lnSpc>
                <a:spcPct val="106000"/>
              </a:lnSpc>
              <a:spcBef>
                <a:spcPts val="0"/>
              </a:spcBef>
              <a:spcAft>
                <a:spcPts val="0"/>
              </a:spcAft>
            </a:pPr>
            <a:r>
              <a:rPr sz="960" b="1">
                <a:solidFill>
                  <a:srgbClr val="C25E1A"/>
                </a:solidFill>
                <a:latin typeface="Calibri"/>
              </a:rPr>
              <a:t>EDUCATIONAL PHILOSOPHIES</a:t>
            </a:r>
          </a:p>
        </p:txBody>
      </p:sp>
      <p:sp>
        <p:nvSpPr>
          <p:cNvPr id="5" name="TextBox 4"/>
          <p:cNvSpPr txBox="1"/>
          <p:nvPr/>
        </p:nvSpPr>
        <p:spPr>
          <a:xfrm>
            <a:off x="566928" y="557784"/>
            <a:ext cx="9960833" cy="566928"/>
          </a:xfrm>
          <a:prstGeom prst="rect">
            <a:avLst/>
          </a:prstGeom>
          <a:noFill/>
        </p:spPr>
        <p:txBody>
          <a:bodyPr wrap="square" lIns="0" rIns="0" tIns="0" bIns="0" anchor="t">
            <a:spAutoFit/>
          </a:bodyPr>
          <a:lstStyle/>
          <a:p>
            <a:pPr algn="l">
              <a:lnSpc>
                <a:spcPct val="100000"/>
              </a:lnSpc>
              <a:spcBef>
                <a:spcPts val="0"/>
              </a:spcBef>
              <a:spcAft>
                <a:spcPts val="0"/>
              </a:spcAft>
            </a:pPr>
            <a:r>
              <a:rPr sz="2500" b="1">
                <a:solidFill>
                  <a:srgbClr val="0F2D52"/>
                </a:solidFill>
                <a:latin typeface="Calibri"/>
              </a:rPr>
              <a:t>Five major educational philosophies compared</a:t>
            </a:r>
          </a:p>
        </p:txBody>
      </p:sp>
      <p:sp>
        <p:nvSpPr>
          <p:cNvPr id="6" name="Rectangle 5"/>
          <p:cNvSpPr/>
          <p:nvPr/>
        </p:nvSpPr>
        <p:spPr>
          <a:xfrm>
            <a:off x="566928" y="950976"/>
            <a:ext cx="11058113" cy="10058"/>
          </a:xfrm>
          <a:prstGeom prst="rect">
            <a:avLst/>
          </a:prstGeom>
          <a:solidFill>
            <a:srgbClr val="D5D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6492240"/>
            <a:ext cx="10143713" cy="219456"/>
          </a:xfrm>
          <a:prstGeom prst="rect">
            <a:avLst/>
          </a:prstGeom>
          <a:noFill/>
        </p:spPr>
        <p:txBody>
          <a:bodyPr wrap="square" lIns="0" rIns="0" tIns="0" bIns="0" anchor="t">
            <a:spAutoFit/>
          </a:bodyPr>
          <a:lstStyle/>
          <a:p>
            <a:pPr algn="l">
              <a:lnSpc>
                <a:spcPct val="106000"/>
              </a:lnSpc>
              <a:spcBef>
                <a:spcPts val="0"/>
              </a:spcBef>
              <a:spcAft>
                <a:spcPts val="0"/>
              </a:spcAft>
            </a:pPr>
            <a:r>
              <a:rPr sz="819" b="0">
                <a:solidFill>
                  <a:srgbClr val="8A94A2"/>
                </a:solidFill>
                <a:latin typeface="Calibri"/>
              </a:rPr>
              <a:t>Philosophy and Its Role in Education and Society</a:t>
            </a:r>
          </a:p>
        </p:txBody>
      </p:sp>
      <p:sp>
        <p:nvSpPr>
          <p:cNvPr id="8" name="TextBox 7"/>
          <p:cNvSpPr txBox="1"/>
          <p:nvPr/>
        </p:nvSpPr>
        <p:spPr>
          <a:xfrm>
            <a:off x="10802081" y="6492240"/>
            <a:ext cx="822960" cy="219456"/>
          </a:xfrm>
          <a:prstGeom prst="rect">
            <a:avLst/>
          </a:prstGeom>
          <a:noFill/>
        </p:spPr>
        <p:txBody>
          <a:bodyPr wrap="square" lIns="0" rIns="0" tIns="0" bIns="0" anchor="t">
            <a:spAutoFit/>
          </a:bodyPr>
          <a:lstStyle/>
          <a:p>
            <a:pPr algn="r">
              <a:lnSpc>
                <a:spcPct val="106000"/>
              </a:lnSpc>
              <a:spcBef>
                <a:spcPts val="0"/>
              </a:spcBef>
              <a:spcAft>
                <a:spcPts val="0"/>
              </a:spcAft>
            </a:pPr>
            <a:r>
              <a:rPr sz="860" b="1">
                <a:solidFill>
                  <a:srgbClr val="5F6B7A"/>
                </a:solidFill>
                <a:latin typeface="Calibri"/>
              </a:rPr>
              <a:t>8 / 18</a:t>
            </a:r>
          </a:p>
        </p:txBody>
      </p:sp>
      <p:sp>
        <p:nvSpPr>
          <p:cNvPr id="9" name="TextBox 8"/>
          <p:cNvSpPr txBox="1"/>
          <p:nvPr/>
        </p:nvSpPr>
        <p:spPr>
          <a:xfrm>
            <a:off x="566928" y="1188720"/>
            <a:ext cx="5394960" cy="566928"/>
          </a:xfrm>
          <a:prstGeom prst="rect">
            <a:avLst/>
          </a:prstGeom>
          <a:noFill/>
        </p:spPr>
        <p:txBody>
          <a:bodyPr wrap="square" lIns="0" rIns="0" tIns="0" bIns="0" anchor="t">
            <a:spAutoFit/>
          </a:bodyPr>
          <a:lstStyle/>
          <a:p>
            <a:pPr algn="l">
              <a:lnSpc>
                <a:spcPct val="110000"/>
              </a:lnSpc>
              <a:spcBef>
                <a:spcPts val="0"/>
              </a:spcBef>
              <a:spcAft>
                <a:spcPts val="0"/>
              </a:spcAft>
            </a:pPr>
            <a:r>
              <a:rPr sz="1200" b="0">
                <a:solidFill>
                  <a:srgbClr val="333A42"/>
                </a:solidFill>
                <a:latin typeface="Calibri"/>
              </a:rPr>
              <a:t>The five traditions below differ not about whether to teach, but about what reality and knowledge are taken to be — and therefore about what teaching should aim at. The comparison is conceptual, not empirical.</a:t>
            </a:r>
          </a:p>
        </p:txBody>
      </p:sp>
      <p:pic>
        <p:nvPicPr>
          <p:cNvPr id="10" name="Picture 9" descr="chat_navy.png"/>
          <p:cNvPicPr>
            <a:picLocks noChangeAspect="1"/>
          </p:cNvPicPr>
          <p:nvPr/>
        </p:nvPicPr>
        <p:blipFill>
          <a:blip r:embed="rId2"/>
          <a:stretch>
            <a:fillRect/>
          </a:stretch>
        </p:blipFill>
        <p:spPr>
          <a:xfrm>
            <a:off x="566928" y="1860804"/>
            <a:ext cx="219456" cy="219456"/>
          </a:xfrm>
          <a:prstGeom prst="rect">
            <a:avLst/>
          </a:prstGeom>
        </p:spPr>
      </p:pic>
      <p:sp>
        <p:nvSpPr>
          <p:cNvPr id="11" name="TextBox 10"/>
          <p:cNvSpPr txBox="1"/>
          <p:nvPr/>
        </p:nvSpPr>
        <p:spPr>
          <a:xfrm>
            <a:off x="905256" y="1847088"/>
            <a:ext cx="5056632" cy="274320"/>
          </a:xfrm>
          <a:prstGeom prst="rect">
            <a:avLst/>
          </a:prstGeom>
          <a:noFill/>
        </p:spPr>
        <p:txBody>
          <a:bodyPr wrap="square" lIns="0" rIns="0" tIns="0" bIns="0" anchor="t">
            <a:spAutoFit/>
          </a:bodyPr>
          <a:lstStyle/>
          <a:p>
            <a:pPr algn="l">
              <a:lnSpc>
                <a:spcPct val="102000"/>
              </a:lnSpc>
              <a:spcBef>
                <a:spcPts val="0"/>
              </a:spcBef>
              <a:spcAft>
                <a:spcPts val="0"/>
              </a:spcAft>
            </a:pPr>
            <a:r>
              <a:rPr sz="1080" b="1">
                <a:solidFill>
                  <a:srgbClr val="0F2D52"/>
                </a:solidFill>
                <a:latin typeface="Calibri"/>
              </a:rPr>
              <a:t>Idealism</a:t>
            </a:r>
          </a:p>
        </p:txBody>
      </p:sp>
      <p:sp>
        <p:nvSpPr>
          <p:cNvPr id="12" name="TextBox 11"/>
          <p:cNvSpPr txBox="1"/>
          <p:nvPr/>
        </p:nvSpPr>
        <p:spPr>
          <a:xfrm>
            <a:off x="905256" y="2030882"/>
            <a:ext cx="5056632" cy="572414"/>
          </a:xfrm>
          <a:prstGeom prst="rect">
            <a:avLst/>
          </a:prstGeom>
          <a:noFill/>
        </p:spPr>
        <p:txBody>
          <a:bodyPr wrap="square" lIns="0" rIns="0" tIns="0" bIns="0" anchor="t">
            <a:spAutoFit/>
          </a:bodyPr>
          <a:lstStyle/>
          <a:p>
            <a:pPr algn="l">
              <a:lnSpc>
                <a:spcPct val="106000"/>
              </a:lnSpc>
              <a:spcBef>
                <a:spcPts val="0"/>
              </a:spcBef>
              <a:spcAft>
                <a:spcPts val="0"/>
              </a:spcAft>
            </a:pPr>
            <a:r>
              <a:rPr sz="1010" b="0">
                <a:solidFill>
                  <a:srgbClr val="333A42"/>
                </a:solidFill>
                <a:latin typeface="Calibri"/>
              </a:rPr>
              <a:t>Reality is mind-dependent. Teacher as exemplar; Socratic dialogue and character formation.</a:t>
            </a:r>
          </a:p>
        </p:txBody>
      </p:sp>
      <p:pic>
        <p:nvPicPr>
          <p:cNvPr id="13" name="Picture 12" descr="search_navy.png"/>
          <p:cNvPicPr>
            <a:picLocks noChangeAspect="1"/>
          </p:cNvPicPr>
          <p:nvPr/>
        </p:nvPicPr>
        <p:blipFill>
          <a:blip r:embed="rId3"/>
          <a:stretch>
            <a:fillRect/>
          </a:stretch>
        </p:blipFill>
        <p:spPr>
          <a:xfrm>
            <a:off x="566928" y="2703880"/>
            <a:ext cx="219456" cy="219456"/>
          </a:xfrm>
          <a:prstGeom prst="rect">
            <a:avLst/>
          </a:prstGeom>
        </p:spPr>
      </p:pic>
      <p:sp>
        <p:nvSpPr>
          <p:cNvPr id="14" name="TextBox 13"/>
          <p:cNvSpPr txBox="1"/>
          <p:nvPr/>
        </p:nvSpPr>
        <p:spPr>
          <a:xfrm>
            <a:off x="905256" y="2690164"/>
            <a:ext cx="5056632" cy="274320"/>
          </a:xfrm>
          <a:prstGeom prst="rect">
            <a:avLst/>
          </a:prstGeom>
          <a:noFill/>
        </p:spPr>
        <p:txBody>
          <a:bodyPr wrap="square" lIns="0" rIns="0" tIns="0" bIns="0" anchor="t">
            <a:spAutoFit/>
          </a:bodyPr>
          <a:lstStyle/>
          <a:p>
            <a:pPr algn="l">
              <a:lnSpc>
                <a:spcPct val="102000"/>
              </a:lnSpc>
              <a:spcBef>
                <a:spcPts val="0"/>
              </a:spcBef>
              <a:spcAft>
                <a:spcPts val="0"/>
              </a:spcAft>
            </a:pPr>
            <a:r>
              <a:rPr sz="1080" b="1">
                <a:solidFill>
                  <a:srgbClr val="0F2D52"/>
                </a:solidFill>
                <a:latin typeface="Calibri"/>
              </a:rPr>
              <a:t>Realism</a:t>
            </a:r>
          </a:p>
        </p:txBody>
      </p:sp>
      <p:sp>
        <p:nvSpPr>
          <p:cNvPr id="15" name="TextBox 14"/>
          <p:cNvSpPr txBox="1"/>
          <p:nvPr/>
        </p:nvSpPr>
        <p:spPr>
          <a:xfrm>
            <a:off x="905256" y="2873959"/>
            <a:ext cx="5056632" cy="572414"/>
          </a:xfrm>
          <a:prstGeom prst="rect">
            <a:avLst/>
          </a:prstGeom>
          <a:noFill/>
        </p:spPr>
        <p:txBody>
          <a:bodyPr wrap="square" lIns="0" rIns="0" tIns="0" bIns="0" anchor="t">
            <a:spAutoFit/>
          </a:bodyPr>
          <a:lstStyle/>
          <a:p>
            <a:pPr algn="l">
              <a:lnSpc>
                <a:spcPct val="106000"/>
              </a:lnSpc>
              <a:spcBef>
                <a:spcPts val="0"/>
              </a:spcBef>
              <a:spcAft>
                <a:spcPts val="0"/>
              </a:spcAft>
            </a:pPr>
            <a:r>
              <a:rPr sz="1010" b="0">
                <a:solidFill>
                  <a:srgbClr val="333A42"/>
                </a:solidFill>
                <a:latin typeface="Calibri"/>
              </a:rPr>
              <a:t>Reality exists independently. Teacher as authority; demonstration and subject mastery.</a:t>
            </a:r>
          </a:p>
        </p:txBody>
      </p:sp>
      <p:pic>
        <p:nvPicPr>
          <p:cNvPr id="16" name="Picture 15" descr="gear_orange.png"/>
          <p:cNvPicPr>
            <a:picLocks noChangeAspect="1"/>
          </p:cNvPicPr>
          <p:nvPr/>
        </p:nvPicPr>
        <p:blipFill>
          <a:blip r:embed="rId4"/>
          <a:stretch>
            <a:fillRect/>
          </a:stretch>
        </p:blipFill>
        <p:spPr>
          <a:xfrm>
            <a:off x="566928" y="3546957"/>
            <a:ext cx="219456" cy="219456"/>
          </a:xfrm>
          <a:prstGeom prst="rect">
            <a:avLst/>
          </a:prstGeom>
        </p:spPr>
      </p:pic>
      <p:sp>
        <p:nvSpPr>
          <p:cNvPr id="17" name="TextBox 16"/>
          <p:cNvSpPr txBox="1"/>
          <p:nvPr/>
        </p:nvSpPr>
        <p:spPr>
          <a:xfrm>
            <a:off x="905256" y="3533241"/>
            <a:ext cx="5056632" cy="274320"/>
          </a:xfrm>
          <a:prstGeom prst="rect">
            <a:avLst/>
          </a:prstGeom>
          <a:noFill/>
        </p:spPr>
        <p:txBody>
          <a:bodyPr wrap="square" lIns="0" rIns="0" tIns="0" bIns="0" anchor="t">
            <a:spAutoFit/>
          </a:bodyPr>
          <a:lstStyle/>
          <a:p>
            <a:pPr algn="l">
              <a:lnSpc>
                <a:spcPct val="102000"/>
              </a:lnSpc>
              <a:spcBef>
                <a:spcPts val="0"/>
              </a:spcBef>
              <a:spcAft>
                <a:spcPts val="0"/>
              </a:spcAft>
            </a:pPr>
            <a:r>
              <a:rPr sz="1080" b="1">
                <a:solidFill>
                  <a:srgbClr val="C25E1A"/>
                </a:solidFill>
                <a:latin typeface="Calibri"/>
              </a:rPr>
              <a:t>Pragmatism</a:t>
            </a:r>
          </a:p>
        </p:txBody>
      </p:sp>
      <p:sp>
        <p:nvSpPr>
          <p:cNvPr id="18" name="TextBox 17"/>
          <p:cNvSpPr txBox="1"/>
          <p:nvPr/>
        </p:nvSpPr>
        <p:spPr>
          <a:xfrm>
            <a:off x="905256" y="3717035"/>
            <a:ext cx="5056632" cy="572414"/>
          </a:xfrm>
          <a:prstGeom prst="rect">
            <a:avLst/>
          </a:prstGeom>
          <a:noFill/>
        </p:spPr>
        <p:txBody>
          <a:bodyPr wrap="square" lIns="0" rIns="0" tIns="0" bIns="0" anchor="t">
            <a:spAutoFit/>
          </a:bodyPr>
          <a:lstStyle/>
          <a:p>
            <a:pPr algn="l">
              <a:lnSpc>
                <a:spcPct val="106000"/>
              </a:lnSpc>
              <a:spcBef>
                <a:spcPts val="0"/>
              </a:spcBef>
              <a:spcAft>
                <a:spcPts val="0"/>
              </a:spcAft>
            </a:pPr>
            <a:r>
              <a:rPr sz="1010" b="0">
                <a:solidFill>
                  <a:srgbClr val="333A42"/>
                </a:solidFill>
                <a:latin typeface="Calibri"/>
              </a:rPr>
              <a:t>Reality is experience; truth is what works in inquiry. Projects and learning by doing.</a:t>
            </a:r>
          </a:p>
        </p:txBody>
      </p:sp>
      <p:pic>
        <p:nvPicPr>
          <p:cNvPr id="19" name="Picture 18" descr="heart_teal.png"/>
          <p:cNvPicPr>
            <a:picLocks noChangeAspect="1"/>
          </p:cNvPicPr>
          <p:nvPr/>
        </p:nvPicPr>
        <p:blipFill>
          <a:blip r:embed="rId5"/>
          <a:stretch>
            <a:fillRect/>
          </a:stretch>
        </p:blipFill>
        <p:spPr>
          <a:xfrm>
            <a:off x="566928" y="4390034"/>
            <a:ext cx="219456" cy="219456"/>
          </a:xfrm>
          <a:prstGeom prst="rect">
            <a:avLst/>
          </a:prstGeom>
        </p:spPr>
      </p:pic>
      <p:sp>
        <p:nvSpPr>
          <p:cNvPr id="20" name="TextBox 19"/>
          <p:cNvSpPr txBox="1"/>
          <p:nvPr/>
        </p:nvSpPr>
        <p:spPr>
          <a:xfrm>
            <a:off x="905256" y="4376318"/>
            <a:ext cx="5056632" cy="274320"/>
          </a:xfrm>
          <a:prstGeom prst="rect">
            <a:avLst/>
          </a:prstGeom>
          <a:noFill/>
        </p:spPr>
        <p:txBody>
          <a:bodyPr wrap="square" lIns="0" rIns="0" tIns="0" bIns="0" anchor="t">
            <a:spAutoFit/>
          </a:bodyPr>
          <a:lstStyle/>
          <a:p>
            <a:pPr algn="l">
              <a:lnSpc>
                <a:spcPct val="102000"/>
              </a:lnSpc>
              <a:spcBef>
                <a:spcPts val="0"/>
              </a:spcBef>
              <a:spcAft>
                <a:spcPts val="0"/>
              </a:spcAft>
            </a:pPr>
            <a:r>
              <a:rPr sz="1080" b="1">
                <a:solidFill>
                  <a:srgbClr val="166B67"/>
                </a:solidFill>
                <a:latin typeface="Calibri"/>
              </a:rPr>
              <a:t>Naturalism</a:t>
            </a:r>
          </a:p>
        </p:txBody>
      </p:sp>
      <p:sp>
        <p:nvSpPr>
          <p:cNvPr id="21" name="TextBox 20"/>
          <p:cNvSpPr txBox="1"/>
          <p:nvPr/>
        </p:nvSpPr>
        <p:spPr>
          <a:xfrm>
            <a:off x="905256" y="4560112"/>
            <a:ext cx="5056632" cy="572414"/>
          </a:xfrm>
          <a:prstGeom prst="rect">
            <a:avLst/>
          </a:prstGeom>
          <a:noFill/>
        </p:spPr>
        <p:txBody>
          <a:bodyPr wrap="square" lIns="0" rIns="0" tIns="0" bIns="0" anchor="t">
            <a:spAutoFit/>
          </a:bodyPr>
          <a:lstStyle/>
          <a:p>
            <a:pPr algn="l">
              <a:lnSpc>
                <a:spcPct val="106000"/>
              </a:lnSpc>
              <a:spcBef>
                <a:spcPts val="0"/>
              </a:spcBef>
              <a:spcAft>
                <a:spcPts val="0"/>
              </a:spcAft>
            </a:pPr>
            <a:r>
              <a:rPr sz="1010" b="0">
                <a:solidFill>
                  <a:srgbClr val="333A42"/>
                </a:solidFill>
                <a:latin typeface="Calibri"/>
              </a:rPr>
              <a:t>Nature is the whole of reality. Teacher as facilitator; interest-led, experiential work.</a:t>
            </a:r>
          </a:p>
        </p:txBody>
      </p:sp>
      <p:pic>
        <p:nvPicPr>
          <p:cNvPr id="22" name="Picture 21" descr="quest_purple.png"/>
          <p:cNvPicPr>
            <a:picLocks noChangeAspect="1"/>
          </p:cNvPicPr>
          <p:nvPr/>
        </p:nvPicPr>
        <p:blipFill>
          <a:blip r:embed="rId6"/>
          <a:stretch>
            <a:fillRect/>
          </a:stretch>
        </p:blipFill>
        <p:spPr>
          <a:xfrm>
            <a:off x="566928" y="5233111"/>
            <a:ext cx="219456" cy="219456"/>
          </a:xfrm>
          <a:prstGeom prst="rect">
            <a:avLst/>
          </a:prstGeom>
        </p:spPr>
      </p:pic>
      <p:sp>
        <p:nvSpPr>
          <p:cNvPr id="23" name="TextBox 22"/>
          <p:cNvSpPr txBox="1"/>
          <p:nvPr/>
        </p:nvSpPr>
        <p:spPr>
          <a:xfrm>
            <a:off x="905256" y="5219395"/>
            <a:ext cx="5056632" cy="274320"/>
          </a:xfrm>
          <a:prstGeom prst="rect">
            <a:avLst/>
          </a:prstGeom>
          <a:noFill/>
        </p:spPr>
        <p:txBody>
          <a:bodyPr wrap="square" lIns="0" rIns="0" tIns="0" bIns="0" anchor="t">
            <a:spAutoFit/>
          </a:bodyPr>
          <a:lstStyle/>
          <a:p>
            <a:pPr algn="l">
              <a:lnSpc>
                <a:spcPct val="102000"/>
              </a:lnSpc>
              <a:spcBef>
                <a:spcPts val="0"/>
              </a:spcBef>
              <a:spcAft>
                <a:spcPts val="0"/>
              </a:spcAft>
            </a:pPr>
            <a:r>
              <a:rPr sz="1080" b="1">
                <a:solidFill>
                  <a:srgbClr val="5B4B8A"/>
                </a:solidFill>
                <a:latin typeface="Calibri"/>
              </a:rPr>
              <a:t>Existentialism</a:t>
            </a:r>
          </a:p>
        </p:txBody>
      </p:sp>
      <p:sp>
        <p:nvSpPr>
          <p:cNvPr id="24" name="TextBox 23"/>
          <p:cNvSpPr txBox="1"/>
          <p:nvPr/>
        </p:nvSpPr>
        <p:spPr>
          <a:xfrm>
            <a:off x="905256" y="5403189"/>
            <a:ext cx="5056632" cy="572414"/>
          </a:xfrm>
          <a:prstGeom prst="rect">
            <a:avLst/>
          </a:prstGeom>
          <a:noFill/>
        </p:spPr>
        <p:txBody>
          <a:bodyPr wrap="square" lIns="0" rIns="0" tIns="0" bIns="0" anchor="t">
            <a:spAutoFit/>
          </a:bodyPr>
          <a:lstStyle/>
          <a:p>
            <a:pPr algn="l">
              <a:lnSpc>
                <a:spcPct val="106000"/>
              </a:lnSpc>
              <a:spcBef>
                <a:spcPts val="0"/>
              </a:spcBef>
              <a:spcAft>
                <a:spcPts val="0"/>
              </a:spcAft>
            </a:pPr>
            <a:r>
              <a:rPr sz="1010" b="0">
                <a:solidFill>
                  <a:srgbClr val="333A42"/>
                </a:solidFill>
                <a:latin typeface="Calibri"/>
              </a:rPr>
              <a:t>Existence precedes essence; meaning is chosen. Reflection and discussion of dilemmas.</a:t>
            </a:r>
          </a:p>
        </p:txBody>
      </p:sp>
      <p:pic>
        <p:nvPicPr>
          <p:cNvPr id="25" name="Picture 24" descr="s07_edphil.png"/>
          <p:cNvPicPr>
            <a:picLocks noChangeAspect="1"/>
          </p:cNvPicPr>
          <p:nvPr/>
        </p:nvPicPr>
        <p:blipFill>
          <a:blip r:embed="rId7"/>
          <a:stretch>
            <a:fillRect/>
          </a:stretch>
        </p:blipFill>
        <p:spPr>
          <a:xfrm>
            <a:off x="6172200" y="2488072"/>
            <a:ext cx="5544281" cy="2430495"/>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6012" cy="6858000"/>
          </a:xfrm>
          <a:prstGeom prst="rect">
            <a:avLst/>
          </a:prstGeom>
          <a:solidFill>
            <a:srgbClr val="C25E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56616"/>
            <a:ext cx="11058113" cy="219456"/>
          </a:xfrm>
          <a:prstGeom prst="rect">
            <a:avLst/>
          </a:prstGeom>
          <a:noFill/>
        </p:spPr>
        <p:txBody>
          <a:bodyPr wrap="square" lIns="0" rIns="0" tIns="0" bIns="0" anchor="t">
            <a:spAutoFit/>
          </a:bodyPr>
          <a:lstStyle/>
          <a:p>
            <a:pPr algn="l">
              <a:lnSpc>
                <a:spcPct val="106000"/>
              </a:lnSpc>
              <a:spcBef>
                <a:spcPts val="0"/>
              </a:spcBef>
              <a:spcAft>
                <a:spcPts val="0"/>
              </a:spcAft>
            </a:pPr>
            <a:r>
              <a:rPr sz="960" b="1">
                <a:solidFill>
                  <a:srgbClr val="C25E1A"/>
                </a:solidFill>
                <a:latin typeface="Calibri"/>
              </a:rPr>
              <a:t>EDUCATIONAL PHILOSOPHIES</a:t>
            </a:r>
          </a:p>
        </p:txBody>
      </p:sp>
      <p:sp>
        <p:nvSpPr>
          <p:cNvPr id="5" name="TextBox 4"/>
          <p:cNvSpPr txBox="1"/>
          <p:nvPr/>
        </p:nvSpPr>
        <p:spPr>
          <a:xfrm>
            <a:off x="566928" y="557784"/>
            <a:ext cx="9960833" cy="566928"/>
          </a:xfrm>
          <a:prstGeom prst="rect">
            <a:avLst/>
          </a:prstGeom>
          <a:noFill/>
        </p:spPr>
        <p:txBody>
          <a:bodyPr wrap="square" lIns="0" rIns="0" tIns="0" bIns="0" anchor="t">
            <a:spAutoFit/>
          </a:bodyPr>
          <a:lstStyle/>
          <a:p>
            <a:pPr algn="l">
              <a:lnSpc>
                <a:spcPct val="100000"/>
              </a:lnSpc>
              <a:spcBef>
                <a:spcPts val="0"/>
              </a:spcBef>
              <a:spcAft>
                <a:spcPts val="0"/>
              </a:spcAft>
            </a:pPr>
            <a:r>
              <a:rPr sz="2500" b="1">
                <a:solidFill>
                  <a:srgbClr val="0F2D52"/>
                </a:solidFill>
                <a:latin typeface="Calibri"/>
              </a:rPr>
              <a:t>Classroom applications of each tradition</a:t>
            </a:r>
          </a:p>
        </p:txBody>
      </p:sp>
      <p:sp>
        <p:nvSpPr>
          <p:cNvPr id="6" name="Rectangle 5"/>
          <p:cNvSpPr/>
          <p:nvPr/>
        </p:nvSpPr>
        <p:spPr>
          <a:xfrm>
            <a:off x="566928" y="950976"/>
            <a:ext cx="11058113" cy="10058"/>
          </a:xfrm>
          <a:prstGeom prst="rect">
            <a:avLst/>
          </a:prstGeom>
          <a:solidFill>
            <a:srgbClr val="D5D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6492240"/>
            <a:ext cx="10143713" cy="219456"/>
          </a:xfrm>
          <a:prstGeom prst="rect">
            <a:avLst/>
          </a:prstGeom>
          <a:noFill/>
        </p:spPr>
        <p:txBody>
          <a:bodyPr wrap="square" lIns="0" rIns="0" tIns="0" bIns="0" anchor="t">
            <a:spAutoFit/>
          </a:bodyPr>
          <a:lstStyle/>
          <a:p>
            <a:pPr algn="l">
              <a:lnSpc>
                <a:spcPct val="106000"/>
              </a:lnSpc>
              <a:spcBef>
                <a:spcPts val="0"/>
              </a:spcBef>
              <a:spcAft>
                <a:spcPts val="0"/>
              </a:spcAft>
            </a:pPr>
            <a:r>
              <a:rPr sz="819" b="0">
                <a:solidFill>
                  <a:srgbClr val="8A94A2"/>
                </a:solidFill>
                <a:latin typeface="Calibri"/>
              </a:rPr>
              <a:t>Philosophy and Its Role in Education and Society</a:t>
            </a:r>
          </a:p>
        </p:txBody>
      </p:sp>
      <p:sp>
        <p:nvSpPr>
          <p:cNvPr id="8" name="TextBox 7"/>
          <p:cNvSpPr txBox="1"/>
          <p:nvPr/>
        </p:nvSpPr>
        <p:spPr>
          <a:xfrm>
            <a:off x="10802081" y="6492240"/>
            <a:ext cx="822960" cy="219456"/>
          </a:xfrm>
          <a:prstGeom prst="rect">
            <a:avLst/>
          </a:prstGeom>
          <a:noFill/>
        </p:spPr>
        <p:txBody>
          <a:bodyPr wrap="square" lIns="0" rIns="0" tIns="0" bIns="0" anchor="t">
            <a:spAutoFit/>
          </a:bodyPr>
          <a:lstStyle/>
          <a:p>
            <a:pPr algn="r">
              <a:lnSpc>
                <a:spcPct val="106000"/>
              </a:lnSpc>
              <a:spcBef>
                <a:spcPts val="0"/>
              </a:spcBef>
              <a:spcAft>
                <a:spcPts val="0"/>
              </a:spcAft>
            </a:pPr>
            <a:r>
              <a:rPr sz="860" b="1">
                <a:solidFill>
                  <a:srgbClr val="5F6B7A"/>
                </a:solidFill>
                <a:latin typeface="Calibri"/>
              </a:rPr>
              <a:t>9 / 18</a:t>
            </a:r>
          </a:p>
        </p:txBody>
      </p:sp>
      <p:sp>
        <p:nvSpPr>
          <p:cNvPr id="9" name="TextBox 8"/>
          <p:cNvSpPr txBox="1"/>
          <p:nvPr/>
        </p:nvSpPr>
        <p:spPr>
          <a:xfrm>
            <a:off x="566928" y="1188720"/>
            <a:ext cx="5394960" cy="566928"/>
          </a:xfrm>
          <a:prstGeom prst="rect">
            <a:avLst/>
          </a:prstGeom>
          <a:noFill/>
        </p:spPr>
        <p:txBody>
          <a:bodyPr wrap="square" lIns="0" rIns="0" tIns="0" bIns="0" anchor="t">
            <a:spAutoFit/>
          </a:bodyPr>
          <a:lstStyle/>
          <a:p>
            <a:pPr algn="l">
              <a:lnSpc>
                <a:spcPct val="110000"/>
              </a:lnSpc>
              <a:spcBef>
                <a:spcPts val="0"/>
              </a:spcBef>
              <a:spcAft>
                <a:spcPts val="0"/>
              </a:spcAft>
            </a:pPr>
            <a:r>
              <a:rPr sz="1220" b="0">
                <a:solidFill>
                  <a:srgbClr val="333A42"/>
                </a:solidFill>
                <a:latin typeface="Calibri"/>
              </a:rPr>
              <a:t>The same syllabus can be taught in five different ways. Each tradition produces a recognisable classroom signature, and each carries a risk that its critics identify.</a:t>
            </a:r>
          </a:p>
        </p:txBody>
      </p:sp>
      <p:pic>
        <p:nvPicPr>
          <p:cNvPr id="10" name="Picture 9" descr="chat_navy.png"/>
          <p:cNvPicPr>
            <a:picLocks noChangeAspect="1"/>
          </p:cNvPicPr>
          <p:nvPr/>
        </p:nvPicPr>
        <p:blipFill>
          <a:blip r:embed="rId2"/>
          <a:stretch>
            <a:fillRect/>
          </a:stretch>
        </p:blipFill>
        <p:spPr>
          <a:xfrm>
            <a:off x="566928" y="1897380"/>
            <a:ext cx="219456" cy="219456"/>
          </a:xfrm>
          <a:prstGeom prst="rect">
            <a:avLst/>
          </a:prstGeom>
        </p:spPr>
      </p:pic>
      <p:sp>
        <p:nvSpPr>
          <p:cNvPr id="11" name="TextBox 10"/>
          <p:cNvSpPr txBox="1"/>
          <p:nvPr/>
        </p:nvSpPr>
        <p:spPr>
          <a:xfrm>
            <a:off x="905256" y="1883664"/>
            <a:ext cx="5056632" cy="274320"/>
          </a:xfrm>
          <a:prstGeom prst="rect">
            <a:avLst/>
          </a:prstGeom>
          <a:noFill/>
        </p:spPr>
        <p:txBody>
          <a:bodyPr wrap="square" lIns="0" rIns="0" tIns="0" bIns="0" anchor="t">
            <a:spAutoFit/>
          </a:bodyPr>
          <a:lstStyle/>
          <a:p>
            <a:pPr algn="l">
              <a:lnSpc>
                <a:spcPct val="102000"/>
              </a:lnSpc>
              <a:spcBef>
                <a:spcPts val="0"/>
              </a:spcBef>
              <a:spcAft>
                <a:spcPts val="0"/>
              </a:spcAft>
            </a:pPr>
            <a:r>
              <a:rPr sz="1080" b="1">
                <a:solidFill>
                  <a:srgbClr val="0F2D52"/>
                </a:solidFill>
                <a:latin typeface="Calibri"/>
              </a:rPr>
              <a:t>Idealism in practice</a:t>
            </a:r>
          </a:p>
        </p:txBody>
      </p:sp>
      <p:sp>
        <p:nvSpPr>
          <p:cNvPr id="12" name="TextBox 11"/>
          <p:cNvSpPr txBox="1"/>
          <p:nvPr/>
        </p:nvSpPr>
        <p:spPr>
          <a:xfrm>
            <a:off x="905256" y="2067458"/>
            <a:ext cx="5056632" cy="565099"/>
          </a:xfrm>
          <a:prstGeom prst="rect">
            <a:avLst/>
          </a:prstGeom>
          <a:noFill/>
        </p:spPr>
        <p:txBody>
          <a:bodyPr wrap="square" lIns="0" rIns="0" tIns="0" bIns="0" anchor="t">
            <a:spAutoFit/>
          </a:bodyPr>
          <a:lstStyle/>
          <a:p>
            <a:pPr algn="l">
              <a:lnSpc>
                <a:spcPct val="106000"/>
              </a:lnSpc>
              <a:spcBef>
                <a:spcPts val="0"/>
              </a:spcBef>
              <a:spcAft>
                <a:spcPts val="0"/>
              </a:spcAft>
            </a:pPr>
            <a:r>
              <a:rPr sz="1010" b="0">
                <a:solidFill>
                  <a:srgbClr val="333A42"/>
                </a:solidFill>
                <a:latin typeface="Calibri"/>
              </a:rPr>
              <a:t>Seminar questioning that asks pupils to justify beliefs. Risk: neglecting practical skills.</a:t>
            </a:r>
          </a:p>
        </p:txBody>
      </p:sp>
      <p:pic>
        <p:nvPicPr>
          <p:cNvPr id="13" name="Picture 12" descr="search_navy.png"/>
          <p:cNvPicPr>
            <a:picLocks noChangeAspect="1"/>
          </p:cNvPicPr>
          <p:nvPr/>
        </p:nvPicPr>
        <p:blipFill>
          <a:blip r:embed="rId3"/>
          <a:stretch>
            <a:fillRect/>
          </a:stretch>
        </p:blipFill>
        <p:spPr>
          <a:xfrm>
            <a:off x="566928" y="2733141"/>
            <a:ext cx="219456" cy="219456"/>
          </a:xfrm>
          <a:prstGeom prst="rect">
            <a:avLst/>
          </a:prstGeom>
        </p:spPr>
      </p:pic>
      <p:sp>
        <p:nvSpPr>
          <p:cNvPr id="14" name="TextBox 13"/>
          <p:cNvSpPr txBox="1"/>
          <p:nvPr/>
        </p:nvSpPr>
        <p:spPr>
          <a:xfrm>
            <a:off x="905256" y="2719425"/>
            <a:ext cx="5056632" cy="274320"/>
          </a:xfrm>
          <a:prstGeom prst="rect">
            <a:avLst/>
          </a:prstGeom>
          <a:noFill/>
        </p:spPr>
        <p:txBody>
          <a:bodyPr wrap="square" lIns="0" rIns="0" tIns="0" bIns="0" anchor="t">
            <a:spAutoFit/>
          </a:bodyPr>
          <a:lstStyle/>
          <a:p>
            <a:pPr algn="l">
              <a:lnSpc>
                <a:spcPct val="102000"/>
              </a:lnSpc>
              <a:spcBef>
                <a:spcPts val="0"/>
              </a:spcBef>
              <a:spcAft>
                <a:spcPts val="0"/>
              </a:spcAft>
            </a:pPr>
            <a:r>
              <a:rPr sz="1080" b="1">
                <a:solidFill>
                  <a:srgbClr val="0F2D52"/>
                </a:solidFill>
                <a:latin typeface="Calibri"/>
              </a:rPr>
              <a:t>Realism in practice</a:t>
            </a:r>
          </a:p>
        </p:txBody>
      </p:sp>
      <p:sp>
        <p:nvSpPr>
          <p:cNvPr id="15" name="TextBox 14"/>
          <p:cNvSpPr txBox="1"/>
          <p:nvPr/>
        </p:nvSpPr>
        <p:spPr>
          <a:xfrm>
            <a:off x="905256" y="2903220"/>
            <a:ext cx="5056632" cy="565099"/>
          </a:xfrm>
          <a:prstGeom prst="rect">
            <a:avLst/>
          </a:prstGeom>
          <a:noFill/>
        </p:spPr>
        <p:txBody>
          <a:bodyPr wrap="square" lIns="0" rIns="0" tIns="0" bIns="0" anchor="t">
            <a:spAutoFit/>
          </a:bodyPr>
          <a:lstStyle/>
          <a:p>
            <a:pPr algn="l">
              <a:lnSpc>
                <a:spcPct val="106000"/>
              </a:lnSpc>
              <a:spcBef>
                <a:spcPts val="0"/>
              </a:spcBef>
              <a:spcAft>
                <a:spcPts val="0"/>
              </a:spcAft>
            </a:pPr>
            <a:r>
              <a:rPr sz="1010" b="0">
                <a:solidFill>
                  <a:srgbClr val="333A42"/>
                </a:solidFill>
                <a:latin typeface="Calibri"/>
              </a:rPr>
              <a:t>Careful observation, worked examples, mastery of established knowledge. Risk: passivity.</a:t>
            </a:r>
          </a:p>
        </p:txBody>
      </p:sp>
      <p:pic>
        <p:nvPicPr>
          <p:cNvPr id="16" name="Picture 15" descr="gear_orange.png"/>
          <p:cNvPicPr>
            <a:picLocks noChangeAspect="1"/>
          </p:cNvPicPr>
          <p:nvPr/>
        </p:nvPicPr>
        <p:blipFill>
          <a:blip r:embed="rId4"/>
          <a:stretch>
            <a:fillRect/>
          </a:stretch>
        </p:blipFill>
        <p:spPr>
          <a:xfrm>
            <a:off x="566928" y="3568903"/>
            <a:ext cx="219456" cy="219456"/>
          </a:xfrm>
          <a:prstGeom prst="rect">
            <a:avLst/>
          </a:prstGeom>
        </p:spPr>
      </p:pic>
      <p:sp>
        <p:nvSpPr>
          <p:cNvPr id="17" name="TextBox 16"/>
          <p:cNvSpPr txBox="1"/>
          <p:nvPr/>
        </p:nvSpPr>
        <p:spPr>
          <a:xfrm>
            <a:off x="905256" y="3555187"/>
            <a:ext cx="5056632" cy="274320"/>
          </a:xfrm>
          <a:prstGeom prst="rect">
            <a:avLst/>
          </a:prstGeom>
          <a:noFill/>
        </p:spPr>
        <p:txBody>
          <a:bodyPr wrap="square" lIns="0" rIns="0" tIns="0" bIns="0" anchor="t">
            <a:spAutoFit/>
          </a:bodyPr>
          <a:lstStyle/>
          <a:p>
            <a:pPr algn="l">
              <a:lnSpc>
                <a:spcPct val="102000"/>
              </a:lnSpc>
              <a:spcBef>
                <a:spcPts val="0"/>
              </a:spcBef>
              <a:spcAft>
                <a:spcPts val="0"/>
              </a:spcAft>
            </a:pPr>
            <a:r>
              <a:rPr sz="1080" b="1">
                <a:solidFill>
                  <a:srgbClr val="C25E1A"/>
                </a:solidFill>
                <a:latin typeface="Calibri"/>
              </a:rPr>
              <a:t>Pragmatism in practice</a:t>
            </a:r>
          </a:p>
        </p:txBody>
      </p:sp>
      <p:sp>
        <p:nvSpPr>
          <p:cNvPr id="18" name="TextBox 17"/>
          <p:cNvSpPr txBox="1"/>
          <p:nvPr/>
        </p:nvSpPr>
        <p:spPr>
          <a:xfrm>
            <a:off x="905256" y="3738981"/>
            <a:ext cx="5056632" cy="565099"/>
          </a:xfrm>
          <a:prstGeom prst="rect">
            <a:avLst/>
          </a:prstGeom>
          <a:noFill/>
        </p:spPr>
        <p:txBody>
          <a:bodyPr wrap="square" lIns="0" rIns="0" tIns="0" bIns="0" anchor="t">
            <a:spAutoFit/>
          </a:bodyPr>
          <a:lstStyle/>
          <a:p>
            <a:pPr algn="l">
              <a:lnSpc>
                <a:spcPct val="106000"/>
              </a:lnSpc>
              <a:spcBef>
                <a:spcPts val="0"/>
              </a:spcBef>
              <a:spcAft>
                <a:spcPts val="0"/>
              </a:spcAft>
            </a:pPr>
            <a:r>
              <a:rPr sz="1010" b="0">
                <a:solidFill>
                  <a:srgbClr val="333A42"/>
                </a:solidFill>
                <a:latin typeface="Calibri"/>
              </a:rPr>
              <a:t>Projects that solve real problems and test ideas. Risk: fragmenting systematic knowledge.</a:t>
            </a:r>
          </a:p>
        </p:txBody>
      </p:sp>
      <p:pic>
        <p:nvPicPr>
          <p:cNvPr id="19" name="Picture 18" descr="heart_teal.png"/>
          <p:cNvPicPr>
            <a:picLocks noChangeAspect="1"/>
          </p:cNvPicPr>
          <p:nvPr/>
        </p:nvPicPr>
        <p:blipFill>
          <a:blip r:embed="rId5"/>
          <a:stretch>
            <a:fillRect/>
          </a:stretch>
        </p:blipFill>
        <p:spPr>
          <a:xfrm>
            <a:off x="566928" y="4404664"/>
            <a:ext cx="219456" cy="219456"/>
          </a:xfrm>
          <a:prstGeom prst="rect">
            <a:avLst/>
          </a:prstGeom>
        </p:spPr>
      </p:pic>
      <p:sp>
        <p:nvSpPr>
          <p:cNvPr id="20" name="TextBox 19"/>
          <p:cNvSpPr txBox="1"/>
          <p:nvPr/>
        </p:nvSpPr>
        <p:spPr>
          <a:xfrm>
            <a:off x="905256" y="4390948"/>
            <a:ext cx="5056632" cy="274320"/>
          </a:xfrm>
          <a:prstGeom prst="rect">
            <a:avLst/>
          </a:prstGeom>
          <a:noFill/>
        </p:spPr>
        <p:txBody>
          <a:bodyPr wrap="square" lIns="0" rIns="0" tIns="0" bIns="0" anchor="t">
            <a:spAutoFit/>
          </a:bodyPr>
          <a:lstStyle/>
          <a:p>
            <a:pPr algn="l">
              <a:lnSpc>
                <a:spcPct val="102000"/>
              </a:lnSpc>
              <a:spcBef>
                <a:spcPts val="0"/>
              </a:spcBef>
              <a:spcAft>
                <a:spcPts val="0"/>
              </a:spcAft>
            </a:pPr>
            <a:r>
              <a:rPr sz="1080" b="1">
                <a:solidFill>
                  <a:srgbClr val="166B67"/>
                </a:solidFill>
                <a:latin typeface="Calibri"/>
              </a:rPr>
              <a:t>Naturalism in practice</a:t>
            </a:r>
          </a:p>
        </p:txBody>
      </p:sp>
      <p:sp>
        <p:nvSpPr>
          <p:cNvPr id="21" name="TextBox 20"/>
          <p:cNvSpPr txBox="1"/>
          <p:nvPr/>
        </p:nvSpPr>
        <p:spPr>
          <a:xfrm>
            <a:off x="905256" y="4574743"/>
            <a:ext cx="5056632" cy="565099"/>
          </a:xfrm>
          <a:prstGeom prst="rect">
            <a:avLst/>
          </a:prstGeom>
          <a:noFill/>
        </p:spPr>
        <p:txBody>
          <a:bodyPr wrap="square" lIns="0" rIns="0" tIns="0" bIns="0" anchor="t">
            <a:spAutoFit/>
          </a:bodyPr>
          <a:lstStyle/>
          <a:p>
            <a:pPr algn="l">
              <a:lnSpc>
                <a:spcPct val="106000"/>
              </a:lnSpc>
              <a:spcBef>
                <a:spcPts val="0"/>
              </a:spcBef>
              <a:spcAft>
                <a:spcPts val="0"/>
              </a:spcAft>
            </a:pPr>
            <a:r>
              <a:rPr sz="1010" b="0">
                <a:solidFill>
                  <a:srgbClr val="333A42"/>
                </a:solidFill>
                <a:latin typeface="Calibri"/>
              </a:rPr>
              <a:t>Interest-led discovery and outdoor, experiential work. Risk: uneven coverage.</a:t>
            </a:r>
          </a:p>
        </p:txBody>
      </p:sp>
      <p:pic>
        <p:nvPicPr>
          <p:cNvPr id="22" name="Picture 21" descr="quest_purple.png"/>
          <p:cNvPicPr>
            <a:picLocks noChangeAspect="1"/>
          </p:cNvPicPr>
          <p:nvPr/>
        </p:nvPicPr>
        <p:blipFill>
          <a:blip r:embed="rId6"/>
          <a:stretch>
            <a:fillRect/>
          </a:stretch>
        </p:blipFill>
        <p:spPr>
          <a:xfrm>
            <a:off x="566928" y="5240426"/>
            <a:ext cx="219456" cy="219456"/>
          </a:xfrm>
          <a:prstGeom prst="rect">
            <a:avLst/>
          </a:prstGeom>
        </p:spPr>
      </p:pic>
      <p:sp>
        <p:nvSpPr>
          <p:cNvPr id="23" name="TextBox 22"/>
          <p:cNvSpPr txBox="1"/>
          <p:nvPr/>
        </p:nvSpPr>
        <p:spPr>
          <a:xfrm>
            <a:off x="905256" y="5226710"/>
            <a:ext cx="5056632" cy="274320"/>
          </a:xfrm>
          <a:prstGeom prst="rect">
            <a:avLst/>
          </a:prstGeom>
          <a:noFill/>
        </p:spPr>
        <p:txBody>
          <a:bodyPr wrap="square" lIns="0" rIns="0" tIns="0" bIns="0" anchor="t">
            <a:spAutoFit/>
          </a:bodyPr>
          <a:lstStyle/>
          <a:p>
            <a:pPr algn="l">
              <a:lnSpc>
                <a:spcPct val="102000"/>
              </a:lnSpc>
              <a:spcBef>
                <a:spcPts val="0"/>
              </a:spcBef>
              <a:spcAft>
                <a:spcPts val="0"/>
              </a:spcAft>
            </a:pPr>
            <a:r>
              <a:rPr sz="1080" b="1">
                <a:solidFill>
                  <a:srgbClr val="5B4B8A"/>
                </a:solidFill>
                <a:latin typeface="Calibri"/>
              </a:rPr>
              <a:t>Existentialism in practice</a:t>
            </a:r>
          </a:p>
        </p:txBody>
      </p:sp>
      <p:sp>
        <p:nvSpPr>
          <p:cNvPr id="24" name="TextBox 23"/>
          <p:cNvSpPr txBox="1"/>
          <p:nvPr/>
        </p:nvSpPr>
        <p:spPr>
          <a:xfrm>
            <a:off x="905256" y="5410504"/>
            <a:ext cx="5056632" cy="565099"/>
          </a:xfrm>
          <a:prstGeom prst="rect">
            <a:avLst/>
          </a:prstGeom>
          <a:noFill/>
        </p:spPr>
        <p:txBody>
          <a:bodyPr wrap="square" lIns="0" rIns="0" tIns="0" bIns="0" anchor="t">
            <a:spAutoFit/>
          </a:bodyPr>
          <a:lstStyle/>
          <a:p>
            <a:pPr algn="l">
              <a:lnSpc>
                <a:spcPct val="106000"/>
              </a:lnSpc>
              <a:spcBef>
                <a:spcPts val="0"/>
              </a:spcBef>
              <a:spcAft>
                <a:spcPts val="0"/>
              </a:spcAft>
            </a:pPr>
            <a:r>
              <a:rPr sz="1010" b="0">
                <a:solidFill>
                  <a:srgbClr val="333A42"/>
                </a:solidFill>
                <a:latin typeface="Calibri"/>
              </a:rPr>
              <a:t>Reflective journals and open dilemmas of choice. Risk: underplaying shared knowledge.</a:t>
            </a:r>
          </a:p>
        </p:txBody>
      </p:sp>
      <p:pic>
        <p:nvPicPr>
          <p:cNvPr id="25" name="Picture 24" descr="s08_classroom.png"/>
          <p:cNvPicPr>
            <a:picLocks noChangeAspect="1"/>
          </p:cNvPicPr>
          <p:nvPr/>
        </p:nvPicPr>
        <p:blipFill>
          <a:blip r:embed="rId7"/>
          <a:stretch>
            <a:fillRect/>
          </a:stretch>
        </p:blipFill>
        <p:spPr>
          <a:xfrm>
            <a:off x="6263640" y="1214914"/>
            <a:ext cx="5361401" cy="4903659"/>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6012" cy="6858000"/>
          </a:xfrm>
          <a:prstGeom prst="rect">
            <a:avLst/>
          </a:prstGeom>
          <a:solidFill>
            <a:srgbClr val="C25E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56616"/>
            <a:ext cx="11058113" cy="219456"/>
          </a:xfrm>
          <a:prstGeom prst="rect">
            <a:avLst/>
          </a:prstGeom>
          <a:noFill/>
        </p:spPr>
        <p:txBody>
          <a:bodyPr wrap="square" lIns="0" rIns="0" tIns="0" bIns="0" anchor="t">
            <a:spAutoFit/>
          </a:bodyPr>
          <a:lstStyle/>
          <a:p>
            <a:pPr algn="l">
              <a:lnSpc>
                <a:spcPct val="106000"/>
              </a:lnSpc>
              <a:spcBef>
                <a:spcPts val="0"/>
              </a:spcBef>
              <a:spcAft>
                <a:spcPts val="0"/>
              </a:spcAft>
            </a:pPr>
            <a:r>
              <a:rPr sz="960" b="1">
                <a:solidFill>
                  <a:srgbClr val="C25E1A"/>
                </a:solidFill>
                <a:latin typeface="Calibri"/>
              </a:rPr>
              <a:t>PHILOSOPHY AND SOCIETY</a:t>
            </a:r>
          </a:p>
        </p:txBody>
      </p:sp>
      <p:sp>
        <p:nvSpPr>
          <p:cNvPr id="5" name="TextBox 4"/>
          <p:cNvSpPr txBox="1"/>
          <p:nvPr/>
        </p:nvSpPr>
        <p:spPr>
          <a:xfrm>
            <a:off x="566928" y="557784"/>
            <a:ext cx="9960833" cy="566928"/>
          </a:xfrm>
          <a:prstGeom prst="rect">
            <a:avLst/>
          </a:prstGeom>
          <a:noFill/>
        </p:spPr>
        <p:txBody>
          <a:bodyPr wrap="square" lIns="0" rIns="0" tIns="0" bIns="0" anchor="t">
            <a:spAutoFit/>
          </a:bodyPr>
          <a:lstStyle/>
          <a:p>
            <a:pPr algn="l">
              <a:lnSpc>
                <a:spcPct val="100000"/>
              </a:lnSpc>
              <a:spcBef>
                <a:spcPts val="0"/>
              </a:spcBef>
              <a:spcAft>
                <a:spcPts val="0"/>
              </a:spcAft>
            </a:pPr>
            <a:r>
              <a:rPr sz="2500" b="1">
                <a:solidFill>
                  <a:srgbClr val="0F2D52"/>
                </a:solidFill>
                <a:latin typeface="Calibri"/>
              </a:rPr>
              <a:t>Philosophy and society: from persons to institutions</a:t>
            </a:r>
          </a:p>
        </p:txBody>
      </p:sp>
      <p:sp>
        <p:nvSpPr>
          <p:cNvPr id="6" name="Rectangle 5"/>
          <p:cNvSpPr/>
          <p:nvPr/>
        </p:nvSpPr>
        <p:spPr>
          <a:xfrm>
            <a:off x="566928" y="950976"/>
            <a:ext cx="11058113" cy="10058"/>
          </a:xfrm>
          <a:prstGeom prst="rect">
            <a:avLst/>
          </a:prstGeom>
          <a:solidFill>
            <a:srgbClr val="D5D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6492240"/>
            <a:ext cx="10143713" cy="219456"/>
          </a:xfrm>
          <a:prstGeom prst="rect">
            <a:avLst/>
          </a:prstGeom>
          <a:noFill/>
        </p:spPr>
        <p:txBody>
          <a:bodyPr wrap="square" lIns="0" rIns="0" tIns="0" bIns="0" anchor="t">
            <a:spAutoFit/>
          </a:bodyPr>
          <a:lstStyle/>
          <a:p>
            <a:pPr algn="l">
              <a:lnSpc>
                <a:spcPct val="106000"/>
              </a:lnSpc>
              <a:spcBef>
                <a:spcPts val="0"/>
              </a:spcBef>
              <a:spcAft>
                <a:spcPts val="0"/>
              </a:spcAft>
            </a:pPr>
            <a:r>
              <a:rPr sz="819" b="0">
                <a:solidFill>
                  <a:srgbClr val="8A94A2"/>
                </a:solidFill>
                <a:latin typeface="Calibri"/>
              </a:rPr>
              <a:t>Philosophy and Its Role in Education and Society</a:t>
            </a:r>
          </a:p>
        </p:txBody>
      </p:sp>
      <p:sp>
        <p:nvSpPr>
          <p:cNvPr id="8" name="TextBox 7"/>
          <p:cNvSpPr txBox="1"/>
          <p:nvPr/>
        </p:nvSpPr>
        <p:spPr>
          <a:xfrm>
            <a:off x="10802081" y="6492240"/>
            <a:ext cx="822960" cy="219456"/>
          </a:xfrm>
          <a:prstGeom prst="rect">
            <a:avLst/>
          </a:prstGeom>
          <a:noFill/>
        </p:spPr>
        <p:txBody>
          <a:bodyPr wrap="square" lIns="0" rIns="0" tIns="0" bIns="0" anchor="t">
            <a:spAutoFit/>
          </a:bodyPr>
          <a:lstStyle/>
          <a:p>
            <a:pPr algn="r">
              <a:lnSpc>
                <a:spcPct val="106000"/>
              </a:lnSpc>
              <a:spcBef>
                <a:spcPts val="0"/>
              </a:spcBef>
              <a:spcAft>
                <a:spcPts val="0"/>
              </a:spcAft>
            </a:pPr>
            <a:r>
              <a:rPr sz="860" b="1">
                <a:solidFill>
                  <a:srgbClr val="5F6B7A"/>
                </a:solidFill>
                <a:latin typeface="Calibri"/>
              </a:rPr>
              <a:t>10 / 18</a:t>
            </a:r>
          </a:p>
        </p:txBody>
      </p:sp>
      <p:sp>
        <p:nvSpPr>
          <p:cNvPr id="9" name="TextBox 8"/>
          <p:cNvSpPr txBox="1"/>
          <p:nvPr/>
        </p:nvSpPr>
        <p:spPr>
          <a:xfrm>
            <a:off x="566928" y="1188720"/>
            <a:ext cx="5394960" cy="566928"/>
          </a:xfrm>
          <a:prstGeom prst="rect">
            <a:avLst/>
          </a:prstGeom>
          <a:noFill/>
        </p:spPr>
        <p:txBody>
          <a:bodyPr wrap="square" lIns="0" rIns="0" tIns="0" bIns="0" anchor="t">
            <a:spAutoFit/>
          </a:bodyPr>
          <a:lstStyle/>
          <a:p>
            <a:pPr algn="l">
              <a:lnSpc>
                <a:spcPct val="110000"/>
              </a:lnSpc>
              <a:spcBef>
                <a:spcPts val="0"/>
              </a:spcBef>
              <a:spcAft>
                <a:spcPts val="0"/>
              </a:spcAft>
            </a:pPr>
            <a:r>
              <a:rPr sz="1240" b="0">
                <a:solidFill>
                  <a:srgbClr val="333A42"/>
                </a:solidFill>
                <a:latin typeface="Calibri"/>
              </a:rPr>
              <a:t>Society is not a natural object that philosophy merely observes. It is partly constituted by the concepts we use to organise it. Philosophy supplies and criticises those concepts.</a:t>
            </a:r>
          </a:p>
        </p:txBody>
      </p:sp>
      <p:pic>
        <p:nvPicPr>
          <p:cNvPr id="10" name="Picture 9" descr="quest_navy.png"/>
          <p:cNvPicPr>
            <a:picLocks noChangeAspect="1"/>
          </p:cNvPicPr>
          <p:nvPr/>
        </p:nvPicPr>
        <p:blipFill>
          <a:blip r:embed="rId2"/>
          <a:stretch>
            <a:fillRect/>
          </a:stretch>
        </p:blipFill>
        <p:spPr>
          <a:xfrm>
            <a:off x="566928" y="1970532"/>
            <a:ext cx="219456" cy="219456"/>
          </a:xfrm>
          <a:prstGeom prst="rect">
            <a:avLst/>
          </a:prstGeom>
        </p:spPr>
      </p:pic>
      <p:sp>
        <p:nvSpPr>
          <p:cNvPr id="11" name="TextBox 10"/>
          <p:cNvSpPr txBox="1"/>
          <p:nvPr/>
        </p:nvSpPr>
        <p:spPr>
          <a:xfrm>
            <a:off x="905256" y="1956816"/>
            <a:ext cx="5056632" cy="274320"/>
          </a:xfrm>
          <a:prstGeom prst="rect">
            <a:avLst/>
          </a:prstGeom>
          <a:noFill/>
        </p:spPr>
        <p:txBody>
          <a:bodyPr wrap="square" lIns="0" rIns="0" tIns="0" bIns="0" anchor="t">
            <a:spAutoFit/>
          </a:bodyPr>
          <a:lstStyle/>
          <a:p>
            <a:pPr algn="l">
              <a:lnSpc>
                <a:spcPct val="102000"/>
              </a:lnSpc>
              <a:spcBef>
                <a:spcPts val="0"/>
              </a:spcBef>
              <a:spcAft>
                <a:spcPts val="0"/>
              </a:spcAft>
            </a:pPr>
            <a:r>
              <a:rPr sz="1120" b="1">
                <a:solidFill>
                  <a:srgbClr val="0F2D52"/>
                </a:solidFill>
                <a:latin typeface="Calibri"/>
              </a:rPr>
              <a:t>Persons</a:t>
            </a:r>
          </a:p>
        </p:txBody>
      </p:sp>
      <p:sp>
        <p:nvSpPr>
          <p:cNvPr id="12" name="TextBox 11"/>
          <p:cNvSpPr txBox="1"/>
          <p:nvPr/>
        </p:nvSpPr>
        <p:spPr>
          <a:xfrm>
            <a:off x="905256" y="2146909"/>
            <a:ext cx="5056632" cy="722020"/>
          </a:xfrm>
          <a:prstGeom prst="rect">
            <a:avLst/>
          </a:prstGeom>
          <a:noFill/>
        </p:spPr>
        <p:txBody>
          <a:bodyPr wrap="square" lIns="0" rIns="0" tIns="0" bIns="0" anchor="t">
            <a:spAutoFit/>
          </a:bodyPr>
          <a:lstStyle/>
          <a:p>
            <a:pPr algn="l">
              <a:lnSpc>
                <a:spcPct val="106000"/>
              </a:lnSpc>
              <a:spcBef>
                <a:spcPts val="0"/>
              </a:spcBef>
              <a:spcAft>
                <a:spcPts val="0"/>
              </a:spcAft>
            </a:pPr>
            <a:r>
              <a:rPr sz="1050" b="0">
                <a:solidFill>
                  <a:srgbClr val="333A42"/>
                </a:solidFill>
                <a:latin typeface="Calibri"/>
              </a:rPr>
              <a:t>Reasoning and choosing agents who can be held responsible for their actions.</a:t>
            </a:r>
          </a:p>
        </p:txBody>
      </p:sp>
      <p:pic>
        <p:nvPicPr>
          <p:cNvPr id="13" name="Picture 12" descr="people_navy.png"/>
          <p:cNvPicPr>
            <a:picLocks noChangeAspect="1"/>
          </p:cNvPicPr>
          <p:nvPr/>
        </p:nvPicPr>
        <p:blipFill>
          <a:blip r:embed="rId3"/>
          <a:stretch>
            <a:fillRect/>
          </a:stretch>
        </p:blipFill>
        <p:spPr>
          <a:xfrm>
            <a:off x="566928" y="3006090"/>
            <a:ext cx="219456" cy="219456"/>
          </a:xfrm>
          <a:prstGeom prst="rect">
            <a:avLst/>
          </a:prstGeom>
        </p:spPr>
      </p:pic>
      <p:sp>
        <p:nvSpPr>
          <p:cNvPr id="14" name="TextBox 13"/>
          <p:cNvSpPr txBox="1"/>
          <p:nvPr/>
        </p:nvSpPr>
        <p:spPr>
          <a:xfrm>
            <a:off x="905256" y="2992374"/>
            <a:ext cx="5056632" cy="274320"/>
          </a:xfrm>
          <a:prstGeom prst="rect">
            <a:avLst/>
          </a:prstGeom>
          <a:noFill/>
        </p:spPr>
        <p:txBody>
          <a:bodyPr wrap="square" lIns="0" rIns="0" tIns="0" bIns="0" anchor="t">
            <a:spAutoFit/>
          </a:bodyPr>
          <a:lstStyle/>
          <a:p>
            <a:pPr algn="l">
              <a:lnSpc>
                <a:spcPct val="102000"/>
              </a:lnSpc>
              <a:spcBef>
                <a:spcPts val="0"/>
              </a:spcBef>
              <a:spcAft>
                <a:spcPts val="0"/>
              </a:spcAft>
            </a:pPr>
            <a:r>
              <a:rPr sz="1120" b="1">
                <a:solidFill>
                  <a:srgbClr val="0F2D52"/>
                </a:solidFill>
                <a:latin typeface="Calibri"/>
              </a:rPr>
              <a:t>Communities</a:t>
            </a:r>
          </a:p>
        </p:txBody>
      </p:sp>
      <p:sp>
        <p:nvSpPr>
          <p:cNvPr id="15" name="TextBox 14"/>
          <p:cNvSpPr txBox="1"/>
          <p:nvPr/>
        </p:nvSpPr>
        <p:spPr>
          <a:xfrm>
            <a:off x="905256" y="3182467"/>
            <a:ext cx="5056632" cy="722020"/>
          </a:xfrm>
          <a:prstGeom prst="rect">
            <a:avLst/>
          </a:prstGeom>
          <a:noFill/>
        </p:spPr>
        <p:txBody>
          <a:bodyPr wrap="square" lIns="0" rIns="0" tIns="0" bIns="0" anchor="t">
            <a:spAutoFit/>
          </a:bodyPr>
          <a:lstStyle/>
          <a:p>
            <a:pPr algn="l">
              <a:lnSpc>
                <a:spcPct val="106000"/>
              </a:lnSpc>
              <a:spcBef>
                <a:spcPts val="0"/>
              </a:spcBef>
              <a:spcAft>
                <a:spcPts val="0"/>
              </a:spcAft>
            </a:pPr>
            <a:r>
              <a:rPr sz="1050" b="0">
                <a:solidFill>
                  <a:srgbClr val="333A42"/>
                </a:solidFill>
                <a:latin typeface="Calibri"/>
              </a:rPr>
              <a:t>Shared norms, trust, dialogue and care — the informal fabric beneath formal rules.</a:t>
            </a:r>
          </a:p>
        </p:txBody>
      </p:sp>
      <p:pic>
        <p:nvPicPr>
          <p:cNvPr id="16" name="Picture 15" descr="grid_teal.png"/>
          <p:cNvPicPr>
            <a:picLocks noChangeAspect="1"/>
          </p:cNvPicPr>
          <p:nvPr/>
        </p:nvPicPr>
        <p:blipFill>
          <a:blip r:embed="rId4"/>
          <a:stretch>
            <a:fillRect/>
          </a:stretch>
        </p:blipFill>
        <p:spPr>
          <a:xfrm>
            <a:off x="566928" y="4041648"/>
            <a:ext cx="219456" cy="219456"/>
          </a:xfrm>
          <a:prstGeom prst="rect">
            <a:avLst/>
          </a:prstGeom>
        </p:spPr>
      </p:pic>
      <p:sp>
        <p:nvSpPr>
          <p:cNvPr id="17" name="TextBox 16"/>
          <p:cNvSpPr txBox="1"/>
          <p:nvPr/>
        </p:nvSpPr>
        <p:spPr>
          <a:xfrm>
            <a:off x="905256" y="4027932"/>
            <a:ext cx="5056632" cy="274320"/>
          </a:xfrm>
          <a:prstGeom prst="rect">
            <a:avLst/>
          </a:prstGeom>
          <a:noFill/>
        </p:spPr>
        <p:txBody>
          <a:bodyPr wrap="square" lIns="0" rIns="0" tIns="0" bIns="0" anchor="t">
            <a:spAutoFit/>
          </a:bodyPr>
          <a:lstStyle/>
          <a:p>
            <a:pPr algn="l">
              <a:lnSpc>
                <a:spcPct val="102000"/>
              </a:lnSpc>
              <a:spcBef>
                <a:spcPts val="0"/>
              </a:spcBef>
              <a:spcAft>
                <a:spcPts val="0"/>
              </a:spcAft>
            </a:pPr>
            <a:r>
              <a:rPr sz="1120" b="1">
                <a:solidFill>
                  <a:srgbClr val="166B67"/>
                </a:solidFill>
                <a:latin typeface="Calibri"/>
              </a:rPr>
              <a:t>Institutions</a:t>
            </a:r>
          </a:p>
        </p:txBody>
      </p:sp>
      <p:sp>
        <p:nvSpPr>
          <p:cNvPr id="18" name="TextBox 17"/>
          <p:cNvSpPr txBox="1"/>
          <p:nvPr/>
        </p:nvSpPr>
        <p:spPr>
          <a:xfrm>
            <a:off x="905256" y="4218025"/>
            <a:ext cx="5056632" cy="722020"/>
          </a:xfrm>
          <a:prstGeom prst="rect">
            <a:avLst/>
          </a:prstGeom>
          <a:noFill/>
        </p:spPr>
        <p:txBody>
          <a:bodyPr wrap="square" lIns="0" rIns="0" tIns="0" bIns="0" anchor="t">
            <a:spAutoFit/>
          </a:bodyPr>
          <a:lstStyle/>
          <a:p>
            <a:pPr algn="l">
              <a:lnSpc>
                <a:spcPct val="106000"/>
              </a:lnSpc>
              <a:spcBef>
                <a:spcPts val="0"/>
              </a:spcBef>
              <a:spcAft>
                <a:spcPts val="0"/>
              </a:spcAft>
            </a:pPr>
            <a:r>
              <a:rPr sz="1050" b="0">
                <a:solidFill>
                  <a:srgbClr val="333A42"/>
                </a:solidFill>
                <a:latin typeface="Calibri"/>
              </a:rPr>
              <a:t>Law, schools, health, media and science: each embodies normative commitments.</a:t>
            </a:r>
          </a:p>
        </p:txBody>
      </p:sp>
      <p:pic>
        <p:nvPicPr>
          <p:cNvPr id="19" name="Picture 18" descr="globe_orange.png"/>
          <p:cNvPicPr>
            <a:picLocks noChangeAspect="1"/>
          </p:cNvPicPr>
          <p:nvPr/>
        </p:nvPicPr>
        <p:blipFill>
          <a:blip r:embed="rId5"/>
          <a:stretch>
            <a:fillRect/>
          </a:stretch>
        </p:blipFill>
        <p:spPr>
          <a:xfrm>
            <a:off x="566928" y="5077206"/>
            <a:ext cx="219456" cy="219456"/>
          </a:xfrm>
          <a:prstGeom prst="rect">
            <a:avLst/>
          </a:prstGeom>
        </p:spPr>
      </p:pic>
      <p:sp>
        <p:nvSpPr>
          <p:cNvPr id="20" name="TextBox 19"/>
          <p:cNvSpPr txBox="1"/>
          <p:nvPr/>
        </p:nvSpPr>
        <p:spPr>
          <a:xfrm>
            <a:off x="905256" y="5063490"/>
            <a:ext cx="5056632" cy="274320"/>
          </a:xfrm>
          <a:prstGeom prst="rect">
            <a:avLst/>
          </a:prstGeom>
          <a:noFill/>
        </p:spPr>
        <p:txBody>
          <a:bodyPr wrap="square" lIns="0" rIns="0" tIns="0" bIns="0" anchor="t">
            <a:spAutoFit/>
          </a:bodyPr>
          <a:lstStyle/>
          <a:p>
            <a:pPr algn="l">
              <a:lnSpc>
                <a:spcPct val="102000"/>
              </a:lnSpc>
              <a:spcBef>
                <a:spcPts val="0"/>
              </a:spcBef>
              <a:spcAft>
                <a:spcPts val="0"/>
              </a:spcAft>
            </a:pPr>
            <a:r>
              <a:rPr sz="1120" b="1">
                <a:solidFill>
                  <a:srgbClr val="C25E1A"/>
                </a:solidFill>
                <a:latin typeface="Calibri"/>
              </a:rPr>
              <a:t>State and global order</a:t>
            </a:r>
          </a:p>
        </p:txBody>
      </p:sp>
      <p:sp>
        <p:nvSpPr>
          <p:cNvPr id="21" name="TextBox 20"/>
          <p:cNvSpPr txBox="1"/>
          <p:nvPr/>
        </p:nvSpPr>
        <p:spPr>
          <a:xfrm>
            <a:off x="905256" y="5253583"/>
            <a:ext cx="5056632" cy="722020"/>
          </a:xfrm>
          <a:prstGeom prst="rect">
            <a:avLst/>
          </a:prstGeom>
          <a:noFill/>
        </p:spPr>
        <p:txBody>
          <a:bodyPr wrap="square" lIns="0" rIns="0" tIns="0" bIns="0" anchor="t">
            <a:spAutoFit/>
          </a:bodyPr>
          <a:lstStyle/>
          <a:p>
            <a:pPr algn="l">
              <a:lnSpc>
                <a:spcPct val="106000"/>
              </a:lnSpc>
              <a:spcBef>
                <a:spcPts val="0"/>
              </a:spcBef>
              <a:spcAft>
                <a:spcPts val="0"/>
              </a:spcAft>
            </a:pPr>
            <a:r>
              <a:rPr sz="1050" b="0">
                <a:solidFill>
                  <a:srgbClr val="333A42"/>
                </a:solidFill>
                <a:latin typeface="Calibri"/>
              </a:rPr>
              <a:t>Rights, justice, legitimacy and peace, and the problem of agreeing on them across cultures.</a:t>
            </a:r>
          </a:p>
        </p:txBody>
      </p:sp>
      <p:pic>
        <p:nvPicPr>
          <p:cNvPr id="22" name="Picture 21" descr="freedom_press.jpg"/>
          <p:cNvPicPr>
            <a:picLocks noChangeAspect="1"/>
          </p:cNvPicPr>
          <p:nvPr/>
        </p:nvPicPr>
        <p:blipFill>
          <a:blip r:embed="rId6"/>
          <a:srcRect t="27888" b="27888"/>
          <a:stretch>
            <a:fillRect/>
          </a:stretch>
        </p:blipFill>
        <p:spPr>
          <a:xfrm>
            <a:off x="6263640" y="1152144"/>
            <a:ext cx="5361401" cy="1581911"/>
          </a:xfrm>
          <a:prstGeom prst="rect">
            <a:avLst/>
          </a:prstGeom>
        </p:spPr>
      </p:pic>
      <p:sp>
        <p:nvSpPr>
          <p:cNvPr id="23" name="Rectangle 22"/>
          <p:cNvSpPr/>
          <p:nvPr/>
        </p:nvSpPr>
        <p:spPr>
          <a:xfrm>
            <a:off x="6263640" y="2734056"/>
            <a:ext cx="5361401" cy="475488"/>
          </a:xfrm>
          <a:prstGeom prst="rect">
            <a:avLst/>
          </a:prstGeom>
          <a:solidFill>
            <a:srgbClr val="EEF3F9"/>
          </a:solidFill>
          <a:ln w="9525">
            <a:solidFill>
              <a:srgbClr val="D5DA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391656" y="2802636"/>
            <a:ext cx="5105369" cy="347472"/>
          </a:xfrm>
          <a:prstGeom prst="rect">
            <a:avLst/>
          </a:prstGeom>
          <a:noFill/>
        </p:spPr>
        <p:txBody>
          <a:bodyPr wrap="square" lIns="0" rIns="0" tIns="0" bIns="0" anchor="t">
            <a:spAutoFit/>
          </a:bodyPr>
          <a:lstStyle/>
          <a:p>
            <a:pPr algn="l">
              <a:lnSpc>
                <a:spcPct val="105000"/>
              </a:lnSpc>
              <a:spcBef>
                <a:spcPts val="0"/>
              </a:spcBef>
              <a:spcAft>
                <a:spcPts val="0"/>
              </a:spcAft>
            </a:pPr>
            <a:r>
              <a:rPr sz="1040" b="0">
                <a:solidFill>
                  <a:srgbClr val="333A42"/>
                </a:solidFill>
                <a:latin typeface="Calibri"/>
              </a:rPr>
              <a:t>A press conference. Free inquiry and free reporting are social conditions that philosophy helps to justify and to limit.</a:t>
            </a:r>
          </a:p>
        </p:txBody>
      </p:sp>
      <p:sp>
        <p:nvSpPr>
          <p:cNvPr id="25" name="TextBox 24"/>
          <p:cNvSpPr txBox="1"/>
          <p:nvPr/>
        </p:nvSpPr>
        <p:spPr>
          <a:xfrm>
            <a:off x="6263640" y="3246120"/>
            <a:ext cx="5361401" cy="219456"/>
          </a:xfrm>
          <a:prstGeom prst="rect">
            <a:avLst/>
          </a:prstGeom>
          <a:noFill/>
        </p:spPr>
        <p:txBody>
          <a:bodyPr wrap="square" lIns="0" rIns="0" tIns="0" bIns="0" anchor="t">
            <a:spAutoFit/>
          </a:bodyPr>
          <a:lstStyle/>
          <a:p>
            <a:pPr algn="l">
              <a:lnSpc>
                <a:spcPct val="100000"/>
              </a:lnSpc>
              <a:spcBef>
                <a:spcPts val="0"/>
              </a:spcBef>
              <a:spcAft>
                <a:spcPts val="0"/>
              </a:spcAft>
            </a:pPr>
            <a:r>
              <a:rPr sz="720" b="0">
                <a:solidFill>
                  <a:srgbClr val="8A94A2"/>
                </a:solidFill>
                <a:latin typeface="Calibri"/>
              </a:rPr>
              <a:t>Image: PRESS CONFERENCE 2016-07-19 Informal Meeting of Ministers Responsible for Competitiveness (28410298625).jpg — EU2016 SK (CC0), via Wikimedia Commons</a:t>
            </a:r>
          </a:p>
        </p:txBody>
      </p:sp>
      <p:pic>
        <p:nvPicPr>
          <p:cNvPr id="26" name="Picture 25" descr="responsibility.jpg"/>
          <p:cNvPicPr>
            <a:picLocks noChangeAspect="1"/>
          </p:cNvPicPr>
          <p:nvPr/>
        </p:nvPicPr>
        <p:blipFill>
          <a:blip r:embed="rId7"/>
          <a:srcRect t="38198" b="38198"/>
          <a:stretch>
            <a:fillRect/>
          </a:stretch>
        </p:blipFill>
        <p:spPr>
          <a:xfrm>
            <a:off x="6263640" y="3675888"/>
            <a:ext cx="5361401" cy="1581911"/>
          </a:xfrm>
          <a:prstGeom prst="rect">
            <a:avLst/>
          </a:prstGeom>
        </p:spPr>
      </p:pic>
      <p:sp>
        <p:nvSpPr>
          <p:cNvPr id="27" name="Rectangle 26"/>
          <p:cNvSpPr/>
          <p:nvPr/>
        </p:nvSpPr>
        <p:spPr>
          <a:xfrm>
            <a:off x="6263640" y="5257800"/>
            <a:ext cx="5361401" cy="475488"/>
          </a:xfrm>
          <a:prstGeom prst="rect">
            <a:avLst/>
          </a:prstGeom>
          <a:solidFill>
            <a:srgbClr val="EEF3F9"/>
          </a:solidFill>
          <a:ln w="9525">
            <a:solidFill>
              <a:srgbClr val="D5DA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91656" y="5326380"/>
            <a:ext cx="5105369" cy="347472"/>
          </a:xfrm>
          <a:prstGeom prst="rect">
            <a:avLst/>
          </a:prstGeom>
          <a:noFill/>
        </p:spPr>
        <p:txBody>
          <a:bodyPr wrap="square" lIns="0" rIns="0" tIns="0" bIns="0" anchor="t">
            <a:spAutoFit/>
          </a:bodyPr>
          <a:lstStyle/>
          <a:p>
            <a:pPr algn="l">
              <a:lnSpc>
                <a:spcPct val="105000"/>
              </a:lnSpc>
              <a:spcBef>
                <a:spcPts val="0"/>
              </a:spcBef>
              <a:spcAft>
                <a:spcPts val="0"/>
              </a:spcAft>
            </a:pPr>
            <a:r>
              <a:rPr sz="1040" b="0">
                <a:solidFill>
                  <a:srgbClr val="333A42"/>
                </a:solidFill>
                <a:latin typeface="Calibri"/>
              </a:rPr>
              <a:t>Community service in San Diego. Responsibility is exercised in particular acts, not only discussed in the abstract.</a:t>
            </a:r>
          </a:p>
        </p:txBody>
      </p:sp>
      <p:sp>
        <p:nvSpPr>
          <p:cNvPr id="29" name="TextBox 28"/>
          <p:cNvSpPr txBox="1"/>
          <p:nvPr/>
        </p:nvSpPr>
        <p:spPr>
          <a:xfrm>
            <a:off x="6263640" y="5769864"/>
            <a:ext cx="5361401" cy="219456"/>
          </a:xfrm>
          <a:prstGeom prst="rect">
            <a:avLst/>
          </a:prstGeom>
          <a:noFill/>
        </p:spPr>
        <p:txBody>
          <a:bodyPr wrap="square" lIns="0" rIns="0" tIns="0" bIns="0" anchor="t">
            <a:spAutoFit/>
          </a:bodyPr>
          <a:lstStyle/>
          <a:p>
            <a:pPr algn="l">
              <a:lnSpc>
                <a:spcPct val="100000"/>
              </a:lnSpc>
              <a:spcBef>
                <a:spcPts val="0"/>
              </a:spcBef>
              <a:spcAft>
                <a:spcPts val="0"/>
              </a:spcAft>
            </a:pPr>
            <a:r>
              <a:rPr sz="720" b="0">
                <a:solidFill>
                  <a:srgbClr val="8A94A2"/>
                </a:solidFill>
                <a:latin typeface="Calibri"/>
              </a:rPr>
              <a:t>Image: Nimitz Sailors volunteer 161027-N-DA275-016.jpg — Samuel H Bacon (Public domain), via Wikimedia Commons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6012" cy="6858000"/>
          </a:xfrm>
          <a:prstGeom prst="rect">
            <a:avLst/>
          </a:prstGeom>
          <a:solidFill>
            <a:srgbClr val="C25E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56616"/>
            <a:ext cx="11058113" cy="219456"/>
          </a:xfrm>
          <a:prstGeom prst="rect">
            <a:avLst/>
          </a:prstGeom>
          <a:noFill/>
        </p:spPr>
        <p:txBody>
          <a:bodyPr wrap="square" lIns="0" rIns="0" tIns="0" bIns="0" anchor="t">
            <a:spAutoFit/>
          </a:bodyPr>
          <a:lstStyle/>
          <a:p>
            <a:pPr algn="l">
              <a:lnSpc>
                <a:spcPct val="106000"/>
              </a:lnSpc>
              <a:spcBef>
                <a:spcPts val="0"/>
              </a:spcBef>
              <a:spcAft>
                <a:spcPts val="0"/>
              </a:spcAft>
            </a:pPr>
            <a:r>
              <a:rPr sz="960" b="1">
                <a:solidFill>
                  <a:srgbClr val="C25E1A"/>
                </a:solidFill>
                <a:latin typeface="Calibri"/>
              </a:rPr>
              <a:t>PHILOSOPHY AND SOCIETY</a:t>
            </a:r>
          </a:p>
        </p:txBody>
      </p:sp>
      <p:sp>
        <p:nvSpPr>
          <p:cNvPr id="5" name="TextBox 4"/>
          <p:cNvSpPr txBox="1"/>
          <p:nvPr/>
        </p:nvSpPr>
        <p:spPr>
          <a:xfrm>
            <a:off x="566928" y="557784"/>
            <a:ext cx="9960833" cy="566928"/>
          </a:xfrm>
          <a:prstGeom prst="rect">
            <a:avLst/>
          </a:prstGeom>
          <a:noFill/>
        </p:spPr>
        <p:txBody>
          <a:bodyPr wrap="square" lIns="0" rIns="0" tIns="0" bIns="0" anchor="t">
            <a:spAutoFit/>
          </a:bodyPr>
          <a:lstStyle/>
          <a:p>
            <a:pPr algn="l">
              <a:lnSpc>
                <a:spcPct val="100000"/>
              </a:lnSpc>
              <a:spcBef>
                <a:spcPts val="0"/>
              </a:spcBef>
              <a:spcAft>
                <a:spcPts val="0"/>
              </a:spcAft>
            </a:pPr>
            <a:r>
              <a:rPr sz="2500" b="1">
                <a:solidFill>
                  <a:srgbClr val="0F2D52"/>
                </a:solidFill>
                <a:latin typeface="Calibri"/>
              </a:rPr>
              <a:t>Justice, equality, freedom and responsibility</a:t>
            </a:r>
          </a:p>
        </p:txBody>
      </p:sp>
      <p:sp>
        <p:nvSpPr>
          <p:cNvPr id="6" name="Rectangle 5"/>
          <p:cNvSpPr/>
          <p:nvPr/>
        </p:nvSpPr>
        <p:spPr>
          <a:xfrm>
            <a:off x="566928" y="950976"/>
            <a:ext cx="11058113" cy="10058"/>
          </a:xfrm>
          <a:prstGeom prst="rect">
            <a:avLst/>
          </a:prstGeom>
          <a:solidFill>
            <a:srgbClr val="D5D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6492240"/>
            <a:ext cx="10143713" cy="219456"/>
          </a:xfrm>
          <a:prstGeom prst="rect">
            <a:avLst/>
          </a:prstGeom>
          <a:noFill/>
        </p:spPr>
        <p:txBody>
          <a:bodyPr wrap="square" lIns="0" rIns="0" tIns="0" bIns="0" anchor="t">
            <a:spAutoFit/>
          </a:bodyPr>
          <a:lstStyle/>
          <a:p>
            <a:pPr algn="l">
              <a:lnSpc>
                <a:spcPct val="106000"/>
              </a:lnSpc>
              <a:spcBef>
                <a:spcPts val="0"/>
              </a:spcBef>
              <a:spcAft>
                <a:spcPts val="0"/>
              </a:spcAft>
            </a:pPr>
            <a:r>
              <a:rPr sz="819" b="0">
                <a:solidFill>
                  <a:srgbClr val="8A94A2"/>
                </a:solidFill>
                <a:latin typeface="Calibri"/>
              </a:rPr>
              <a:t>Philosophy and Its Role in Education and Society</a:t>
            </a:r>
          </a:p>
        </p:txBody>
      </p:sp>
      <p:sp>
        <p:nvSpPr>
          <p:cNvPr id="8" name="TextBox 7"/>
          <p:cNvSpPr txBox="1"/>
          <p:nvPr/>
        </p:nvSpPr>
        <p:spPr>
          <a:xfrm>
            <a:off x="10802081" y="6492240"/>
            <a:ext cx="822960" cy="219456"/>
          </a:xfrm>
          <a:prstGeom prst="rect">
            <a:avLst/>
          </a:prstGeom>
          <a:noFill/>
        </p:spPr>
        <p:txBody>
          <a:bodyPr wrap="square" lIns="0" rIns="0" tIns="0" bIns="0" anchor="t">
            <a:spAutoFit/>
          </a:bodyPr>
          <a:lstStyle/>
          <a:p>
            <a:pPr algn="r">
              <a:lnSpc>
                <a:spcPct val="106000"/>
              </a:lnSpc>
              <a:spcBef>
                <a:spcPts val="0"/>
              </a:spcBef>
              <a:spcAft>
                <a:spcPts val="0"/>
              </a:spcAft>
            </a:pPr>
            <a:r>
              <a:rPr sz="860" b="1">
                <a:solidFill>
                  <a:srgbClr val="5F6B7A"/>
                </a:solidFill>
                <a:latin typeface="Calibri"/>
              </a:rPr>
              <a:t>11 / 18</a:t>
            </a:r>
          </a:p>
        </p:txBody>
      </p:sp>
      <p:sp>
        <p:nvSpPr>
          <p:cNvPr id="9" name="TextBox 8"/>
          <p:cNvSpPr txBox="1"/>
          <p:nvPr/>
        </p:nvSpPr>
        <p:spPr>
          <a:xfrm>
            <a:off x="566928" y="1188720"/>
            <a:ext cx="5394960" cy="566928"/>
          </a:xfrm>
          <a:prstGeom prst="rect">
            <a:avLst/>
          </a:prstGeom>
          <a:noFill/>
        </p:spPr>
        <p:txBody>
          <a:bodyPr wrap="square" lIns="0" rIns="0" tIns="0" bIns="0" anchor="t">
            <a:spAutoFit/>
          </a:bodyPr>
          <a:lstStyle/>
          <a:p>
            <a:pPr algn="l">
              <a:lnSpc>
                <a:spcPct val="110000"/>
              </a:lnSpc>
              <a:spcBef>
                <a:spcPts val="0"/>
              </a:spcBef>
              <a:spcAft>
                <a:spcPts val="0"/>
              </a:spcAft>
            </a:pPr>
            <a:r>
              <a:rPr sz="1240" b="0">
                <a:solidFill>
                  <a:srgbClr val="333A42"/>
                </a:solidFill>
                <a:latin typeface="Calibri"/>
              </a:rPr>
              <a:t>These four concepts are the working vocabulary of public argument. Philosophy’s contribution is not to settle them once and for all, but to show what each one commits us to when we use it.</a:t>
            </a:r>
          </a:p>
        </p:txBody>
      </p:sp>
      <p:pic>
        <p:nvPicPr>
          <p:cNvPr id="10" name="Picture 9" descr="scales_navy.png"/>
          <p:cNvPicPr>
            <a:picLocks noChangeAspect="1"/>
          </p:cNvPicPr>
          <p:nvPr/>
        </p:nvPicPr>
        <p:blipFill>
          <a:blip r:embed="rId2"/>
          <a:stretch>
            <a:fillRect/>
          </a:stretch>
        </p:blipFill>
        <p:spPr>
          <a:xfrm>
            <a:off x="566928" y="1970532"/>
            <a:ext cx="219456" cy="219456"/>
          </a:xfrm>
          <a:prstGeom prst="rect">
            <a:avLst/>
          </a:prstGeom>
        </p:spPr>
      </p:pic>
      <p:sp>
        <p:nvSpPr>
          <p:cNvPr id="11" name="TextBox 10"/>
          <p:cNvSpPr txBox="1"/>
          <p:nvPr/>
        </p:nvSpPr>
        <p:spPr>
          <a:xfrm>
            <a:off x="905256" y="1956816"/>
            <a:ext cx="5056632" cy="274320"/>
          </a:xfrm>
          <a:prstGeom prst="rect">
            <a:avLst/>
          </a:prstGeom>
          <a:noFill/>
        </p:spPr>
        <p:txBody>
          <a:bodyPr wrap="square" lIns="0" rIns="0" tIns="0" bIns="0" anchor="t">
            <a:spAutoFit/>
          </a:bodyPr>
          <a:lstStyle/>
          <a:p>
            <a:pPr algn="l">
              <a:lnSpc>
                <a:spcPct val="102000"/>
              </a:lnSpc>
              <a:spcBef>
                <a:spcPts val="0"/>
              </a:spcBef>
              <a:spcAft>
                <a:spcPts val="0"/>
              </a:spcAft>
            </a:pPr>
            <a:r>
              <a:rPr sz="1120" b="1">
                <a:solidFill>
                  <a:srgbClr val="0F2D52"/>
                </a:solidFill>
                <a:latin typeface="Calibri"/>
              </a:rPr>
              <a:t>Justice</a:t>
            </a:r>
          </a:p>
        </p:txBody>
      </p:sp>
      <p:sp>
        <p:nvSpPr>
          <p:cNvPr id="12" name="TextBox 11"/>
          <p:cNvSpPr txBox="1"/>
          <p:nvPr/>
        </p:nvSpPr>
        <p:spPr>
          <a:xfrm>
            <a:off x="905256" y="2146909"/>
            <a:ext cx="5056632" cy="722020"/>
          </a:xfrm>
          <a:prstGeom prst="rect">
            <a:avLst/>
          </a:prstGeom>
          <a:noFill/>
        </p:spPr>
        <p:txBody>
          <a:bodyPr wrap="square" lIns="0" rIns="0" tIns="0" bIns="0" anchor="t">
            <a:spAutoFit/>
          </a:bodyPr>
          <a:lstStyle/>
          <a:p>
            <a:pPr algn="l">
              <a:lnSpc>
                <a:spcPct val="106000"/>
              </a:lnSpc>
              <a:spcBef>
                <a:spcPts val="0"/>
              </a:spcBef>
              <a:spcAft>
                <a:spcPts val="0"/>
              </a:spcAft>
            </a:pPr>
            <a:r>
              <a:rPr sz="1050" b="0">
                <a:solidFill>
                  <a:srgbClr val="333A42"/>
                </a:solidFill>
                <a:latin typeface="Calibri"/>
              </a:rPr>
              <a:t>Rawls argues for fairness as the first virtue of institutions, tested from behind a veil of ignorance.</a:t>
            </a:r>
          </a:p>
        </p:txBody>
      </p:sp>
      <p:pic>
        <p:nvPicPr>
          <p:cNvPr id="13" name="Picture 12" descr="people_orange.png"/>
          <p:cNvPicPr>
            <a:picLocks noChangeAspect="1"/>
          </p:cNvPicPr>
          <p:nvPr/>
        </p:nvPicPr>
        <p:blipFill>
          <a:blip r:embed="rId3"/>
          <a:stretch>
            <a:fillRect/>
          </a:stretch>
        </p:blipFill>
        <p:spPr>
          <a:xfrm>
            <a:off x="566928" y="3006090"/>
            <a:ext cx="219456" cy="219456"/>
          </a:xfrm>
          <a:prstGeom prst="rect">
            <a:avLst/>
          </a:prstGeom>
        </p:spPr>
      </p:pic>
      <p:sp>
        <p:nvSpPr>
          <p:cNvPr id="14" name="TextBox 13"/>
          <p:cNvSpPr txBox="1"/>
          <p:nvPr/>
        </p:nvSpPr>
        <p:spPr>
          <a:xfrm>
            <a:off x="905256" y="2992374"/>
            <a:ext cx="5056632" cy="274320"/>
          </a:xfrm>
          <a:prstGeom prst="rect">
            <a:avLst/>
          </a:prstGeom>
          <a:noFill/>
        </p:spPr>
        <p:txBody>
          <a:bodyPr wrap="square" lIns="0" rIns="0" tIns="0" bIns="0" anchor="t">
            <a:spAutoFit/>
          </a:bodyPr>
          <a:lstStyle/>
          <a:p>
            <a:pPr algn="l">
              <a:lnSpc>
                <a:spcPct val="102000"/>
              </a:lnSpc>
              <a:spcBef>
                <a:spcPts val="0"/>
              </a:spcBef>
              <a:spcAft>
                <a:spcPts val="0"/>
              </a:spcAft>
            </a:pPr>
            <a:r>
              <a:rPr sz="1120" b="1">
                <a:solidFill>
                  <a:srgbClr val="C25E1A"/>
                </a:solidFill>
                <a:latin typeface="Calibri"/>
              </a:rPr>
              <a:t>Equality</a:t>
            </a:r>
          </a:p>
        </p:txBody>
      </p:sp>
      <p:sp>
        <p:nvSpPr>
          <p:cNvPr id="15" name="TextBox 14"/>
          <p:cNvSpPr txBox="1"/>
          <p:nvPr/>
        </p:nvSpPr>
        <p:spPr>
          <a:xfrm>
            <a:off x="905256" y="3182467"/>
            <a:ext cx="5056632" cy="722020"/>
          </a:xfrm>
          <a:prstGeom prst="rect">
            <a:avLst/>
          </a:prstGeom>
          <a:noFill/>
        </p:spPr>
        <p:txBody>
          <a:bodyPr wrap="square" lIns="0" rIns="0" tIns="0" bIns="0" anchor="t">
            <a:spAutoFit/>
          </a:bodyPr>
          <a:lstStyle/>
          <a:p>
            <a:pPr algn="l">
              <a:lnSpc>
                <a:spcPct val="106000"/>
              </a:lnSpc>
              <a:spcBef>
                <a:spcPts val="0"/>
              </a:spcBef>
              <a:spcAft>
                <a:spcPts val="0"/>
              </a:spcAft>
            </a:pPr>
            <a:r>
              <a:rPr sz="1050" b="0">
                <a:solidFill>
                  <a:srgbClr val="333A42"/>
                </a:solidFill>
                <a:latin typeface="Calibri"/>
              </a:rPr>
              <a:t>Equal moral worth, equal opportunity and equal treatment are distinct demands that can conflict.</a:t>
            </a:r>
          </a:p>
        </p:txBody>
      </p:sp>
      <p:pic>
        <p:nvPicPr>
          <p:cNvPr id="16" name="Picture 15" descr="globe_teal.png"/>
          <p:cNvPicPr>
            <a:picLocks noChangeAspect="1"/>
          </p:cNvPicPr>
          <p:nvPr/>
        </p:nvPicPr>
        <p:blipFill>
          <a:blip r:embed="rId4"/>
          <a:stretch>
            <a:fillRect/>
          </a:stretch>
        </p:blipFill>
        <p:spPr>
          <a:xfrm>
            <a:off x="566928" y="4041648"/>
            <a:ext cx="219456" cy="219456"/>
          </a:xfrm>
          <a:prstGeom prst="rect">
            <a:avLst/>
          </a:prstGeom>
        </p:spPr>
      </p:pic>
      <p:sp>
        <p:nvSpPr>
          <p:cNvPr id="17" name="TextBox 16"/>
          <p:cNvSpPr txBox="1"/>
          <p:nvPr/>
        </p:nvSpPr>
        <p:spPr>
          <a:xfrm>
            <a:off x="905256" y="4027932"/>
            <a:ext cx="5056632" cy="274320"/>
          </a:xfrm>
          <a:prstGeom prst="rect">
            <a:avLst/>
          </a:prstGeom>
          <a:noFill/>
        </p:spPr>
        <p:txBody>
          <a:bodyPr wrap="square" lIns="0" rIns="0" tIns="0" bIns="0" anchor="t">
            <a:spAutoFit/>
          </a:bodyPr>
          <a:lstStyle/>
          <a:p>
            <a:pPr algn="l">
              <a:lnSpc>
                <a:spcPct val="102000"/>
              </a:lnSpc>
              <a:spcBef>
                <a:spcPts val="0"/>
              </a:spcBef>
              <a:spcAft>
                <a:spcPts val="0"/>
              </a:spcAft>
            </a:pPr>
            <a:r>
              <a:rPr sz="1120" b="1">
                <a:solidFill>
                  <a:srgbClr val="166B67"/>
                </a:solidFill>
                <a:latin typeface="Calibri"/>
              </a:rPr>
              <a:t>Freedom</a:t>
            </a:r>
          </a:p>
        </p:txBody>
      </p:sp>
      <p:sp>
        <p:nvSpPr>
          <p:cNvPr id="18" name="TextBox 17"/>
          <p:cNvSpPr txBox="1"/>
          <p:nvPr/>
        </p:nvSpPr>
        <p:spPr>
          <a:xfrm>
            <a:off x="905256" y="4218025"/>
            <a:ext cx="5056632" cy="722020"/>
          </a:xfrm>
          <a:prstGeom prst="rect">
            <a:avLst/>
          </a:prstGeom>
          <a:noFill/>
        </p:spPr>
        <p:txBody>
          <a:bodyPr wrap="square" lIns="0" rIns="0" tIns="0" bIns="0" anchor="t">
            <a:spAutoFit/>
          </a:bodyPr>
          <a:lstStyle/>
          <a:p>
            <a:pPr algn="l">
              <a:lnSpc>
                <a:spcPct val="106000"/>
              </a:lnSpc>
              <a:spcBef>
                <a:spcPts val="0"/>
              </a:spcBef>
              <a:spcAft>
                <a:spcPts val="0"/>
              </a:spcAft>
            </a:pPr>
            <a:r>
              <a:rPr sz="1050" b="0">
                <a:solidFill>
                  <a:srgbClr val="333A42"/>
                </a:solidFill>
                <a:latin typeface="Calibri"/>
              </a:rPr>
              <a:t>Negative freedom is non-interference; positive freedom is the real capability to act. Sen argues both matter.</a:t>
            </a:r>
          </a:p>
        </p:txBody>
      </p:sp>
      <p:pic>
        <p:nvPicPr>
          <p:cNvPr id="19" name="Picture 18" descr="handshake_purple.png"/>
          <p:cNvPicPr>
            <a:picLocks noChangeAspect="1"/>
          </p:cNvPicPr>
          <p:nvPr/>
        </p:nvPicPr>
        <p:blipFill>
          <a:blip r:embed="rId5"/>
          <a:stretch>
            <a:fillRect/>
          </a:stretch>
        </p:blipFill>
        <p:spPr>
          <a:xfrm>
            <a:off x="566928" y="5077206"/>
            <a:ext cx="219456" cy="219456"/>
          </a:xfrm>
          <a:prstGeom prst="rect">
            <a:avLst/>
          </a:prstGeom>
        </p:spPr>
      </p:pic>
      <p:sp>
        <p:nvSpPr>
          <p:cNvPr id="20" name="TextBox 19"/>
          <p:cNvSpPr txBox="1"/>
          <p:nvPr/>
        </p:nvSpPr>
        <p:spPr>
          <a:xfrm>
            <a:off x="905256" y="5063490"/>
            <a:ext cx="5056632" cy="274320"/>
          </a:xfrm>
          <a:prstGeom prst="rect">
            <a:avLst/>
          </a:prstGeom>
          <a:noFill/>
        </p:spPr>
        <p:txBody>
          <a:bodyPr wrap="square" lIns="0" rIns="0" tIns="0" bIns="0" anchor="t">
            <a:spAutoFit/>
          </a:bodyPr>
          <a:lstStyle/>
          <a:p>
            <a:pPr algn="l">
              <a:lnSpc>
                <a:spcPct val="102000"/>
              </a:lnSpc>
              <a:spcBef>
                <a:spcPts val="0"/>
              </a:spcBef>
              <a:spcAft>
                <a:spcPts val="0"/>
              </a:spcAft>
            </a:pPr>
            <a:r>
              <a:rPr sz="1120" b="1">
                <a:solidFill>
                  <a:srgbClr val="5B4B8A"/>
                </a:solidFill>
                <a:latin typeface="Calibri"/>
              </a:rPr>
              <a:t>Responsibility</a:t>
            </a:r>
          </a:p>
        </p:txBody>
      </p:sp>
      <p:sp>
        <p:nvSpPr>
          <p:cNvPr id="21" name="TextBox 20"/>
          <p:cNvSpPr txBox="1"/>
          <p:nvPr/>
        </p:nvSpPr>
        <p:spPr>
          <a:xfrm>
            <a:off x="905256" y="5253583"/>
            <a:ext cx="5056632" cy="722020"/>
          </a:xfrm>
          <a:prstGeom prst="rect">
            <a:avLst/>
          </a:prstGeom>
          <a:noFill/>
        </p:spPr>
        <p:txBody>
          <a:bodyPr wrap="square" lIns="0" rIns="0" tIns="0" bIns="0" anchor="t">
            <a:spAutoFit/>
          </a:bodyPr>
          <a:lstStyle/>
          <a:p>
            <a:pPr algn="l">
              <a:lnSpc>
                <a:spcPct val="106000"/>
              </a:lnSpc>
              <a:spcBef>
                <a:spcPts val="0"/>
              </a:spcBef>
              <a:spcAft>
                <a:spcPts val="0"/>
              </a:spcAft>
            </a:pPr>
            <a:r>
              <a:rPr sz="1050" b="0">
                <a:solidFill>
                  <a:srgbClr val="333A42"/>
                </a:solidFill>
                <a:latin typeface="Calibri"/>
              </a:rPr>
              <a:t>Rights presuppose duties; a claim of freedom imposes obligations on others as well as entitlements.</a:t>
            </a:r>
          </a:p>
        </p:txBody>
      </p:sp>
      <p:pic>
        <p:nvPicPr>
          <p:cNvPr id="22" name="Picture 21" descr="justice.jpg"/>
          <p:cNvPicPr>
            <a:picLocks noChangeAspect="1"/>
          </p:cNvPicPr>
          <p:nvPr/>
        </p:nvPicPr>
        <p:blipFill>
          <a:blip r:embed="rId6"/>
          <a:srcRect t="27888" b="27888"/>
          <a:stretch>
            <a:fillRect/>
          </a:stretch>
        </p:blipFill>
        <p:spPr>
          <a:xfrm>
            <a:off x="6263640" y="1152144"/>
            <a:ext cx="5361401" cy="1581911"/>
          </a:xfrm>
          <a:prstGeom prst="rect">
            <a:avLst/>
          </a:prstGeom>
        </p:spPr>
      </p:pic>
      <p:sp>
        <p:nvSpPr>
          <p:cNvPr id="23" name="Rectangle 22"/>
          <p:cNvSpPr/>
          <p:nvPr/>
        </p:nvSpPr>
        <p:spPr>
          <a:xfrm>
            <a:off x="6263640" y="2734056"/>
            <a:ext cx="5361401" cy="475488"/>
          </a:xfrm>
          <a:prstGeom prst="rect">
            <a:avLst/>
          </a:prstGeom>
          <a:solidFill>
            <a:srgbClr val="EEF3F9"/>
          </a:solidFill>
          <a:ln w="9525">
            <a:solidFill>
              <a:srgbClr val="D5DA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391656" y="2802636"/>
            <a:ext cx="5105369" cy="347472"/>
          </a:xfrm>
          <a:prstGeom prst="rect">
            <a:avLst/>
          </a:prstGeom>
          <a:noFill/>
        </p:spPr>
        <p:txBody>
          <a:bodyPr wrap="square" lIns="0" rIns="0" tIns="0" bIns="0" anchor="t">
            <a:spAutoFit/>
          </a:bodyPr>
          <a:lstStyle/>
          <a:p>
            <a:pPr algn="l">
              <a:lnSpc>
                <a:spcPct val="105000"/>
              </a:lnSpc>
              <a:spcBef>
                <a:spcPts val="0"/>
              </a:spcBef>
              <a:spcAft>
                <a:spcPts val="0"/>
              </a:spcAft>
            </a:pPr>
            <a:r>
              <a:rPr sz="1040" b="0">
                <a:solidFill>
                  <a:srgbClr val="333A42"/>
                </a:solidFill>
                <a:latin typeface="Calibri"/>
              </a:rPr>
              <a:t>Lady Justice outside the Civil Court in Melbourne. The scales and the sword dramatise the demand that judgement be both fair and enforceable.</a:t>
            </a:r>
          </a:p>
        </p:txBody>
      </p:sp>
      <p:sp>
        <p:nvSpPr>
          <p:cNvPr id="25" name="TextBox 24"/>
          <p:cNvSpPr txBox="1"/>
          <p:nvPr/>
        </p:nvSpPr>
        <p:spPr>
          <a:xfrm>
            <a:off x="6263640" y="3246120"/>
            <a:ext cx="5361401" cy="219456"/>
          </a:xfrm>
          <a:prstGeom prst="rect">
            <a:avLst/>
          </a:prstGeom>
          <a:noFill/>
        </p:spPr>
        <p:txBody>
          <a:bodyPr wrap="square" lIns="0" rIns="0" tIns="0" bIns="0" anchor="t">
            <a:spAutoFit/>
          </a:bodyPr>
          <a:lstStyle/>
          <a:p>
            <a:pPr algn="l">
              <a:lnSpc>
                <a:spcPct val="100000"/>
              </a:lnSpc>
              <a:spcBef>
                <a:spcPts val="0"/>
              </a:spcBef>
              <a:spcAft>
                <a:spcPts val="0"/>
              </a:spcAft>
            </a:pPr>
            <a:r>
              <a:rPr sz="720" b="0">
                <a:solidFill>
                  <a:srgbClr val="8A94A2"/>
                </a:solidFill>
                <a:latin typeface="Calibri"/>
              </a:rPr>
              <a:t>Image: Close-up of Lady Justice statue holding scales, symbolizing justice and fairness.jpg — DP Singh Bhullar (CC BY-SA 4.0), via Wikimedia Commons</a:t>
            </a:r>
          </a:p>
        </p:txBody>
      </p:sp>
      <p:pic>
        <p:nvPicPr>
          <p:cNvPr id="26" name="Picture 25" descr="equality.jpg"/>
          <p:cNvPicPr>
            <a:picLocks noChangeAspect="1"/>
          </p:cNvPicPr>
          <p:nvPr/>
        </p:nvPicPr>
        <p:blipFill>
          <a:blip r:embed="rId7"/>
          <a:srcRect t="38935" b="38935"/>
          <a:stretch>
            <a:fillRect/>
          </a:stretch>
        </p:blipFill>
        <p:spPr>
          <a:xfrm>
            <a:off x="6263640" y="3675888"/>
            <a:ext cx="5361401" cy="1581911"/>
          </a:xfrm>
          <a:prstGeom prst="rect">
            <a:avLst/>
          </a:prstGeom>
        </p:spPr>
      </p:pic>
      <p:sp>
        <p:nvSpPr>
          <p:cNvPr id="27" name="Rectangle 26"/>
          <p:cNvSpPr/>
          <p:nvPr/>
        </p:nvSpPr>
        <p:spPr>
          <a:xfrm>
            <a:off x="6263640" y="5257800"/>
            <a:ext cx="5361401" cy="475488"/>
          </a:xfrm>
          <a:prstGeom prst="rect">
            <a:avLst/>
          </a:prstGeom>
          <a:solidFill>
            <a:srgbClr val="EEF3F9"/>
          </a:solidFill>
          <a:ln w="9525">
            <a:solidFill>
              <a:srgbClr val="D5DA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91656" y="5326380"/>
            <a:ext cx="5105369" cy="347472"/>
          </a:xfrm>
          <a:prstGeom prst="rect">
            <a:avLst/>
          </a:prstGeom>
          <a:noFill/>
        </p:spPr>
        <p:txBody>
          <a:bodyPr wrap="square" lIns="0" rIns="0" tIns="0" bIns="0" anchor="t">
            <a:spAutoFit/>
          </a:bodyPr>
          <a:lstStyle/>
          <a:p>
            <a:pPr algn="l">
              <a:lnSpc>
                <a:spcPct val="105000"/>
              </a:lnSpc>
              <a:spcBef>
                <a:spcPts val="0"/>
              </a:spcBef>
              <a:spcAft>
                <a:spcPts val="0"/>
              </a:spcAft>
            </a:pPr>
            <a:r>
              <a:rPr sz="1040" b="0">
                <a:solidFill>
                  <a:srgbClr val="333A42"/>
                </a:solidFill>
                <a:latin typeface="Calibri"/>
              </a:rPr>
              <a:t>The National Equality March, Washington, 2009. Equality is claimed in public argument, using reasons addressed to those who disagree.</a:t>
            </a:r>
          </a:p>
        </p:txBody>
      </p:sp>
      <p:sp>
        <p:nvSpPr>
          <p:cNvPr id="29" name="TextBox 28"/>
          <p:cNvSpPr txBox="1"/>
          <p:nvPr/>
        </p:nvSpPr>
        <p:spPr>
          <a:xfrm>
            <a:off x="6263640" y="5769864"/>
            <a:ext cx="5361401" cy="219456"/>
          </a:xfrm>
          <a:prstGeom prst="rect">
            <a:avLst/>
          </a:prstGeom>
          <a:noFill/>
        </p:spPr>
        <p:txBody>
          <a:bodyPr wrap="square" lIns="0" rIns="0" tIns="0" bIns="0" anchor="t">
            <a:spAutoFit/>
          </a:bodyPr>
          <a:lstStyle/>
          <a:p>
            <a:pPr algn="l">
              <a:lnSpc>
                <a:spcPct val="100000"/>
              </a:lnSpc>
              <a:spcBef>
                <a:spcPts val="0"/>
              </a:spcBef>
              <a:spcAft>
                <a:spcPts val="0"/>
              </a:spcAft>
            </a:pPr>
            <a:r>
              <a:rPr sz="720" b="0">
                <a:solidFill>
                  <a:srgbClr val="8A94A2"/>
                </a:solidFill>
                <a:latin typeface="Calibri"/>
              </a:rPr>
              <a:t>Image: National Equality March -02- (50607846251).png — Ben Schumin from Montgomery Village, Maryland, USA (CC BY-SA 2.0), via Wikimedia Commons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6012" cy="6858000"/>
          </a:xfrm>
          <a:prstGeom prst="rect">
            <a:avLst/>
          </a:prstGeom>
          <a:solidFill>
            <a:srgbClr val="C25E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56616"/>
            <a:ext cx="11058113" cy="219456"/>
          </a:xfrm>
          <a:prstGeom prst="rect">
            <a:avLst/>
          </a:prstGeom>
          <a:noFill/>
        </p:spPr>
        <p:txBody>
          <a:bodyPr wrap="square" lIns="0" rIns="0" tIns="0" bIns="0" anchor="t">
            <a:spAutoFit/>
          </a:bodyPr>
          <a:lstStyle/>
          <a:p>
            <a:pPr algn="l">
              <a:lnSpc>
                <a:spcPct val="106000"/>
              </a:lnSpc>
              <a:spcBef>
                <a:spcPts val="0"/>
              </a:spcBef>
              <a:spcAft>
                <a:spcPts val="0"/>
              </a:spcAft>
            </a:pPr>
            <a:r>
              <a:rPr sz="960" b="1">
                <a:solidFill>
                  <a:srgbClr val="C25E1A"/>
                </a:solidFill>
                <a:latin typeface="Calibri"/>
              </a:rPr>
              <a:t>PHILOSOPHY IN RESEARCH</a:t>
            </a:r>
          </a:p>
        </p:txBody>
      </p:sp>
      <p:sp>
        <p:nvSpPr>
          <p:cNvPr id="5" name="TextBox 4"/>
          <p:cNvSpPr txBox="1"/>
          <p:nvPr/>
        </p:nvSpPr>
        <p:spPr>
          <a:xfrm>
            <a:off x="566928" y="557784"/>
            <a:ext cx="9960833" cy="566928"/>
          </a:xfrm>
          <a:prstGeom prst="rect">
            <a:avLst/>
          </a:prstGeom>
          <a:noFill/>
        </p:spPr>
        <p:txBody>
          <a:bodyPr wrap="square" lIns="0" rIns="0" tIns="0" bIns="0" anchor="t">
            <a:spAutoFit/>
          </a:bodyPr>
          <a:lstStyle/>
          <a:p>
            <a:pPr algn="l">
              <a:lnSpc>
                <a:spcPct val="100000"/>
              </a:lnSpc>
              <a:spcBef>
                <a:spcPts val="0"/>
              </a:spcBef>
              <a:spcAft>
                <a:spcPts val="0"/>
              </a:spcAft>
            </a:pPr>
            <a:r>
              <a:rPr sz="2500" b="1">
                <a:solidFill>
                  <a:srgbClr val="0F2D52"/>
                </a:solidFill>
                <a:latin typeface="Calibri"/>
              </a:rPr>
              <a:t>Philosophy in research and knowledge development</a:t>
            </a:r>
          </a:p>
        </p:txBody>
      </p:sp>
      <p:sp>
        <p:nvSpPr>
          <p:cNvPr id="6" name="Rectangle 5"/>
          <p:cNvSpPr/>
          <p:nvPr/>
        </p:nvSpPr>
        <p:spPr>
          <a:xfrm>
            <a:off x="566928" y="950976"/>
            <a:ext cx="11058113" cy="10058"/>
          </a:xfrm>
          <a:prstGeom prst="rect">
            <a:avLst/>
          </a:prstGeom>
          <a:solidFill>
            <a:srgbClr val="D5D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6492240"/>
            <a:ext cx="10143713" cy="219456"/>
          </a:xfrm>
          <a:prstGeom prst="rect">
            <a:avLst/>
          </a:prstGeom>
          <a:noFill/>
        </p:spPr>
        <p:txBody>
          <a:bodyPr wrap="square" lIns="0" rIns="0" tIns="0" bIns="0" anchor="t">
            <a:spAutoFit/>
          </a:bodyPr>
          <a:lstStyle/>
          <a:p>
            <a:pPr algn="l">
              <a:lnSpc>
                <a:spcPct val="106000"/>
              </a:lnSpc>
              <a:spcBef>
                <a:spcPts val="0"/>
              </a:spcBef>
              <a:spcAft>
                <a:spcPts val="0"/>
              </a:spcAft>
            </a:pPr>
            <a:r>
              <a:rPr sz="819" b="0">
                <a:solidFill>
                  <a:srgbClr val="8A94A2"/>
                </a:solidFill>
                <a:latin typeface="Calibri"/>
              </a:rPr>
              <a:t>Philosophy and Its Role in Education and Society</a:t>
            </a:r>
          </a:p>
        </p:txBody>
      </p:sp>
      <p:sp>
        <p:nvSpPr>
          <p:cNvPr id="8" name="TextBox 7"/>
          <p:cNvSpPr txBox="1"/>
          <p:nvPr/>
        </p:nvSpPr>
        <p:spPr>
          <a:xfrm>
            <a:off x="10802081" y="6492240"/>
            <a:ext cx="822960" cy="219456"/>
          </a:xfrm>
          <a:prstGeom prst="rect">
            <a:avLst/>
          </a:prstGeom>
          <a:noFill/>
        </p:spPr>
        <p:txBody>
          <a:bodyPr wrap="square" lIns="0" rIns="0" tIns="0" bIns="0" anchor="t">
            <a:spAutoFit/>
          </a:bodyPr>
          <a:lstStyle/>
          <a:p>
            <a:pPr algn="r">
              <a:lnSpc>
                <a:spcPct val="106000"/>
              </a:lnSpc>
              <a:spcBef>
                <a:spcPts val="0"/>
              </a:spcBef>
              <a:spcAft>
                <a:spcPts val="0"/>
              </a:spcAft>
            </a:pPr>
            <a:r>
              <a:rPr sz="860" b="1">
                <a:solidFill>
                  <a:srgbClr val="5F6B7A"/>
                </a:solidFill>
                <a:latin typeface="Calibri"/>
              </a:rPr>
              <a:t>12 / 18</a:t>
            </a:r>
          </a:p>
        </p:txBody>
      </p:sp>
      <p:sp>
        <p:nvSpPr>
          <p:cNvPr id="9" name="TextBox 8"/>
          <p:cNvSpPr txBox="1"/>
          <p:nvPr/>
        </p:nvSpPr>
        <p:spPr>
          <a:xfrm>
            <a:off x="566928" y="1188720"/>
            <a:ext cx="5394960" cy="566928"/>
          </a:xfrm>
          <a:prstGeom prst="rect">
            <a:avLst/>
          </a:prstGeom>
          <a:noFill/>
        </p:spPr>
        <p:txBody>
          <a:bodyPr wrap="square" lIns="0" rIns="0" tIns="0" bIns="0" anchor="t">
            <a:spAutoFit/>
          </a:bodyPr>
          <a:lstStyle/>
          <a:p>
            <a:pPr algn="l">
              <a:lnSpc>
                <a:spcPct val="110000"/>
              </a:lnSpc>
              <a:spcBef>
                <a:spcPts val="0"/>
              </a:spcBef>
              <a:spcAft>
                <a:spcPts val="0"/>
              </a:spcAft>
            </a:pPr>
            <a:r>
              <a:rPr sz="1200" b="0">
                <a:solidFill>
                  <a:srgbClr val="333A42"/>
                </a:solidFill>
                <a:latin typeface="Calibri"/>
              </a:rPr>
              <a:t>Research is not a neutral procedure that philosophy inspects from outside. Every methodological choice already contains philosophical commitments about what exists, what can be known, and whose values count.</a:t>
            </a:r>
          </a:p>
        </p:txBody>
      </p:sp>
      <p:pic>
        <p:nvPicPr>
          <p:cNvPr id="10" name="Picture 9" descr="bulb_navy.png"/>
          <p:cNvPicPr>
            <a:picLocks noChangeAspect="1"/>
          </p:cNvPicPr>
          <p:nvPr/>
        </p:nvPicPr>
        <p:blipFill>
          <a:blip r:embed="rId2"/>
          <a:stretch>
            <a:fillRect/>
          </a:stretch>
        </p:blipFill>
        <p:spPr>
          <a:xfrm>
            <a:off x="566928" y="1933956"/>
            <a:ext cx="219456" cy="219456"/>
          </a:xfrm>
          <a:prstGeom prst="rect">
            <a:avLst/>
          </a:prstGeom>
        </p:spPr>
      </p:pic>
      <p:sp>
        <p:nvSpPr>
          <p:cNvPr id="11" name="TextBox 10"/>
          <p:cNvSpPr txBox="1"/>
          <p:nvPr/>
        </p:nvSpPr>
        <p:spPr>
          <a:xfrm>
            <a:off x="905256" y="1920240"/>
            <a:ext cx="5056632" cy="274320"/>
          </a:xfrm>
          <a:prstGeom prst="rect">
            <a:avLst/>
          </a:prstGeom>
          <a:noFill/>
        </p:spPr>
        <p:txBody>
          <a:bodyPr wrap="square" lIns="0" rIns="0" tIns="0" bIns="0" anchor="t">
            <a:spAutoFit/>
          </a:bodyPr>
          <a:lstStyle/>
          <a:p>
            <a:pPr algn="l">
              <a:lnSpc>
                <a:spcPct val="102000"/>
              </a:lnSpc>
              <a:spcBef>
                <a:spcPts val="0"/>
              </a:spcBef>
              <a:spcAft>
                <a:spcPts val="0"/>
              </a:spcAft>
            </a:pPr>
            <a:r>
              <a:rPr sz="1060" b="1">
                <a:solidFill>
                  <a:srgbClr val="0F2D52"/>
                </a:solidFill>
                <a:latin typeface="Calibri"/>
              </a:rPr>
              <a:t>Ontology</a:t>
            </a:r>
          </a:p>
        </p:txBody>
      </p:sp>
      <p:sp>
        <p:nvSpPr>
          <p:cNvPr id="12" name="TextBox 11"/>
          <p:cNvSpPr txBox="1"/>
          <p:nvPr/>
        </p:nvSpPr>
        <p:spPr>
          <a:xfrm>
            <a:off x="905256" y="2100884"/>
            <a:ext cx="5056632" cy="560933"/>
          </a:xfrm>
          <a:prstGeom prst="rect">
            <a:avLst/>
          </a:prstGeom>
          <a:noFill/>
        </p:spPr>
        <p:txBody>
          <a:bodyPr wrap="square" lIns="0" rIns="0" tIns="0" bIns="0" anchor="t">
            <a:spAutoFit/>
          </a:bodyPr>
          <a:lstStyle/>
          <a:p>
            <a:pPr algn="l">
              <a:lnSpc>
                <a:spcPct val="106000"/>
              </a:lnSpc>
              <a:spcBef>
                <a:spcPts val="0"/>
              </a:spcBef>
              <a:spcAft>
                <a:spcPts val="0"/>
              </a:spcAft>
            </a:pPr>
            <a:r>
              <a:rPr sz="990" b="0">
                <a:solidFill>
                  <a:srgbClr val="333A42"/>
                </a:solidFill>
                <a:latin typeface="Calibri"/>
              </a:rPr>
              <a:t>What exists to be studied? If constructs are treated as measurable things, that is a metaphysical commitment.</a:t>
            </a:r>
          </a:p>
        </p:txBody>
      </p:sp>
      <p:pic>
        <p:nvPicPr>
          <p:cNvPr id="13" name="Picture 12" descr="search_orange.png"/>
          <p:cNvPicPr>
            <a:picLocks noChangeAspect="1"/>
          </p:cNvPicPr>
          <p:nvPr/>
        </p:nvPicPr>
        <p:blipFill>
          <a:blip r:embed="rId3"/>
          <a:stretch>
            <a:fillRect/>
          </a:stretch>
        </p:blipFill>
        <p:spPr>
          <a:xfrm>
            <a:off x="566928" y="2762402"/>
            <a:ext cx="219456" cy="219456"/>
          </a:xfrm>
          <a:prstGeom prst="rect">
            <a:avLst/>
          </a:prstGeom>
        </p:spPr>
      </p:pic>
      <p:sp>
        <p:nvSpPr>
          <p:cNvPr id="14" name="TextBox 13"/>
          <p:cNvSpPr txBox="1"/>
          <p:nvPr/>
        </p:nvSpPr>
        <p:spPr>
          <a:xfrm>
            <a:off x="905256" y="2748686"/>
            <a:ext cx="5056632" cy="274320"/>
          </a:xfrm>
          <a:prstGeom prst="rect">
            <a:avLst/>
          </a:prstGeom>
          <a:noFill/>
        </p:spPr>
        <p:txBody>
          <a:bodyPr wrap="square" lIns="0" rIns="0" tIns="0" bIns="0" anchor="t">
            <a:spAutoFit/>
          </a:bodyPr>
          <a:lstStyle/>
          <a:p>
            <a:pPr algn="l">
              <a:lnSpc>
                <a:spcPct val="102000"/>
              </a:lnSpc>
              <a:spcBef>
                <a:spcPts val="0"/>
              </a:spcBef>
              <a:spcAft>
                <a:spcPts val="0"/>
              </a:spcAft>
            </a:pPr>
            <a:r>
              <a:rPr sz="1060" b="1">
                <a:solidFill>
                  <a:srgbClr val="C25E1A"/>
                </a:solidFill>
                <a:latin typeface="Calibri"/>
              </a:rPr>
              <a:t>Epistemology</a:t>
            </a:r>
          </a:p>
        </p:txBody>
      </p:sp>
      <p:sp>
        <p:nvSpPr>
          <p:cNvPr id="15" name="TextBox 14"/>
          <p:cNvSpPr txBox="1"/>
          <p:nvPr/>
        </p:nvSpPr>
        <p:spPr>
          <a:xfrm>
            <a:off x="905256" y="2929331"/>
            <a:ext cx="5056632" cy="560933"/>
          </a:xfrm>
          <a:prstGeom prst="rect">
            <a:avLst/>
          </a:prstGeom>
          <a:noFill/>
        </p:spPr>
        <p:txBody>
          <a:bodyPr wrap="square" lIns="0" rIns="0" tIns="0" bIns="0" anchor="t">
            <a:spAutoFit/>
          </a:bodyPr>
          <a:lstStyle/>
          <a:p>
            <a:pPr algn="l">
              <a:lnSpc>
                <a:spcPct val="106000"/>
              </a:lnSpc>
              <a:spcBef>
                <a:spcPts val="0"/>
              </a:spcBef>
              <a:spcAft>
                <a:spcPts val="0"/>
              </a:spcAft>
            </a:pPr>
            <a:r>
              <a:rPr sz="990" b="0">
                <a:solidFill>
                  <a:srgbClr val="333A42"/>
                </a:solidFill>
                <a:latin typeface="Calibri"/>
              </a:rPr>
              <a:t>How can it be known? Positivist, interpretive and critical paradigms license different methods.</a:t>
            </a:r>
          </a:p>
        </p:txBody>
      </p:sp>
      <p:pic>
        <p:nvPicPr>
          <p:cNvPr id="16" name="Picture 15" descr="scales_teal.png"/>
          <p:cNvPicPr>
            <a:picLocks noChangeAspect="1"/>
          </p:cNvPicPr>
          <p:nvPr/>
        </p:nvPicPr>
        <p:blipFill>
          <a:blip r:embed="rId4"/>
          <a:stretch>
            <a:fillRect/>
          </a:stretch>
        </p:blipFill>
        <p:spPr>
          <a:xfrm>
            <a:off x="566928" y="3590848"/>
            <a:ext cx="219456" cy="219456"/>
          </a:xfrm>
          <a:prstGeom prst="rect">
            <a:avLst/>
          </a:prstGeom>
        </p:spPr>
      </p:pic>
      <p:sp>
        <p:nvSpPr>
          <p:cNvPr id="17" name="TextBox 16"/>
          <p:cNvSpPr txBox="1"/>
          <p:nvPr/>
        </p:nvSpPr>
        <p:spPr>
          <a:xfrm>
            <a:off x="905256" y="3577132"/>
            <a:ext cx="5056632" cy="274320"/>
          </a:xfrm>
          <a:prstGeom prst="rect">
            <a:avLst/>
          </a:prstGeom>
          <a:noFill/>
        </p:spPr>
        <p:txBody>
          <a:bodyPr wrap="square" lIns="0" rIns="0" tIns="0" bIns="0" anchor="t">
            <a:spAutoFit/>
          </a:bodyPr>
          <a:lstStyle/>
          <a:p>
            <a:pPr algn="l">
              <a:lnSpc>
                <a:spcPct val="102000"/>
              </a:lnSpc>
              <a:spcBef>
                <a:spcPts val="0"/>
              </a:spcBef>
              <a:spcAft>
                <a:spcPts val="0"/>
              </a:spcAft>
            </a:pPr>
            <a:r>
              <a:rPr sz="1060" b="1">
                <a:solidFill>
                  <a:srgbClr val="166B67"/>
                </a:solidFill>
                <a:latin typeface="Calibri"/>
              </a:rPr>
              <a:t>Axiology</a:t>
            </a:r>
          </a:p>
        </p:txBody>
      </p:sp>
      <p:sp>
        <p:nvSpPr>
          <p:cNvPr id="18" name="TextBox 17"/>
          <p:cNvSpPr txBox="1"/>
          <p:nvPr/>
        </p:nvSpPr>
        <p:spPr>
          <a:xfrm>
            <a:off x="905256" y="3757777"/>
            <a:ext cx="5056632" cy="560933"/>
          </a:xfrm>
          <a:prstGeom prst="rect">
            <a:avLst/>
          </a:prstGeom>
          <a:noFill/>
        </p:spPr>
        <p:txBody>
          <a:bodyPr wrap="square" lIns="0" rIns="0" tIns="0" bIns="0" anchor="t">
            <a:spAutoFit/>
          </a:bodyPr>
          <a:lstStyle/>
          <a:p>
            <a:pPr algn="l">
              <a:lnSpc>
                <a:spcPct val="106000"/>
              </a:lnSpc>
              <a:spcBef>
                <a:spcPts val="0"/>
              </a:spcBef>
              <a:spcAft>
                <a:spcPts val="0"/>
              </a:spcAft>
            </a:pPr>
            <a:r>
              <a:rPr sz="990" b="0">
                <a:solidFill>
                  <a:srgbClr val="333A42"/>
                </a:solidFill>
                <a:latin typeface="Calibri"/>
              </a:rPr>
              <a:t>Whose values shape the inquiry? Problem selection and framing are never value-free.</a:t>
            </a:r>
          </a:p>
        </p:txBody>
      </p:sp>
      <p:pic>
        <p:nvPicPr>
          <p:cNvPr id="19" name="Picture 18" descr="gear_purple.png"/>
          <p:cNvPicPr>
            <a:picLocks noChangeAspect="1"/>
          </p:cNvPicPr>
          <p:nvPr/>
        </p:nvPicPr>
        <p:blipFill>
          <a:blip r:embed="rId5"/>
          <a:stretch>
            <a:fillRect/>
          </a:stretch>
        </p:blipFill>
        <p:spPr>
          <a:xfrm>
            <a:off x="566928" y="4419295"/>
            <a:ext cx="219456" cy="219456"/>
          </a:xfrm>
          <a:prstGeom prst="rect">
            <a:avLst/>
          </a:prstGeom>
        </p:spPr>
      </p:pic>
      <p:sp>
        <p:nvSpPr>
          <p:cNvPr id="20" name="TextBox 19"/>
          <p:cNvSpPr txBox="1"/>
          <p:nvPr/>
        </p:nvSpPr>
        <p:spPr>
          <a:xfrm>
            <a:off x="905256" y="4405579"/>
            <a:ext cx="5056632" cy="274320"/>
          </a:xfrm>
          <a:prstGeom prst="rect">
            <a:avLst/>
          </a:prstGeom>
          <a:noFill/>
        </p:spPr>
        <p:txBody>
          <a:bodyPr wrap="square" lIns="0" rIns="0" tIns="0" bIns="0" anchor="t">
            <a:spAutoFit/>
          </a:bodyPr>
          <a:lstStyle/>
          <a:p>
            <a:pPr algn="l">
              <a:lnSpc>
                <a:spcPct val="102000"/>
              </a:lnSpc>
              <a:spcBef>
                <a:spcPts val="0"/>
              </a:spcBef>
              <a:spcAft>
                <a:spcPts val="0"/>
              </a:spcAft>
            </a:pPr>
            <a:r>
              <a:rPr sz="1060" b="1">
                <a:solidFill>
                  <a:srgbClr val="5B4B8A"/>
                </a:solidFill>
                <a:latin typeface="Calibri"/>
              </a:rPr>
              <a:t>Logic</a:t>
            </a:r>
          </a:p>
        </p:txBody>
      </p:sp>
      <p:sp>
        <p:nvSpPr>
          <p:cNvPr id="21" name="TextBox 20"/>
          <p:cNvSpPr txBox="1"/>
          <p:nvPr/>
        </p:nvSpPr>
        <p:spPr>
          <a:xfrm>
            <a:off x="905256" y="4586223"/>
            <a:ext cx="5056632" cy="560933"/>
          </a:xfrm>
          <a:prstGeom prst="rect">
            <a:avLst/>
          </a:prstGeom>
          <a:noFill/>
        </p:spPr>
        <p:txBody>
          <a:bodyPr wrap="square" lIns="0" rIns="0" tIns="0" bIns="0" anchor="t">
            <a:spAutoFit/>
          </a:bodyPr>
          <a:lstStyle/>
          <a:p>
            <a:pPr algn="l">
              <a:lnSpc>
                <a:spcPct val="106000"/>
              </a:lnSpc>
              <a:spcBef>
                <a:spcPts val="0"/>
              </a:spcBef>
              <a:spcAft>
                <a:spcPts val="0"/>
              </a:spcAft>
            </a:pPr>
            <a:r>
              <a:rPr sz="990" b="0">
                <a:solidFill>
                  <a:srgbClr val="333A42"/>
                </a:solidFill>
                <a:latin typeface="Calibri"/>
              </a:rPr>
              <a:t>Do the inferences hold? Validity and the avoidance of fallacy are technical requirements.</a:t>
            </a:r>
          </a:p>
        </p:txBody>
      </p:sp>
      <p:pic>
        <p:nvPicPr>
          <p:cNvPr id="22" name="Picture 21" descr="chart_crimson.png"/>
          <p:cNvPicPr>
            <a:picLocks noChangeAspect="1"/>
          </p:cNvPicPr>
          <p:nvPr/>
        </p:nvPicPr>
        <p:blipFill>
          <a:blip r:embed="rId6"/>
          <a:stretch>
            <a:fillRect/>
          </a:stretch>
        </p:blipFill>
        <p:spPr>
          <a:xfrm>
            <a:off x="566928" y="5247741"/>
            <a:ext cx="219456" cy="219456"/>
          </a:xfrm>
          <a:prstGeom prst="rect">
            <a:avLst/>
          </a:prstGeom>
        </p:spPr>
      </p:pic>
      <p:sp>
        <p:nvSpPr>
          <p:cNvPr id="23" name="TextBox 22"/>
          <p:cNvSpPr txBox="1"/>
          <p:nvPr/>
        </p:nvSpPr>
        <p:spPr>
          <a:xfrm>
            <a:off x="905256" y="5234025"/>
            <a:ext cx="5056632" cy="274320"/>
          </a:xfrm>
          <a:prstGeom prst="rect">
            <a:avLst/>
          </a:prstGeom>
          <a:noFill/>
        </p:spPr>
        <p:txBody>
          <a:bodyPr wrap="square" lIns="0" rIns="0" tIns="0" bIns="0" anchor="t">
            <a:spAutoFit/>
          </a:bodyPr>
          <a:lstStyle/>
          <a:p>
            <a:pPr algn="l">
              <a:lnSpc>
                <a:spcPct val="102000"/>
              </a:lnSpc>
              <a:spcBef>
                <a:spcPts val="0"/>
              </a:spcBef>
              <a:spcAft>
                <a:spcPts val="0"/>
              </a:spcAft>
            </a:pPr>
            <a:r>
              <a:rPr sz="1060" b="1">
                <a:solidFill>
                  <a:srgbClr val="9E2B2B"/>
                </a:solidFill>
                <a:latin typeface="Calibri"/>
              </a:rPr>
              <a:t>Falsifiability</a:t>
            </a:r>
          </a:p>
        </p:txBody>
      </p:sp>
      <p:sp>
        <p:nvSpPr>
          <p:cNvPr id="24" name="TextBox 23"/>
          <p:cNvSpPr txBox="1"/>
          <p:nvPr/>
        </p:nvSpPr>
        <p:spPr>
          <a:xfrm>
            <a:off x="905256" y="5414670"/>
            <a:ext cx="5056632" cy="560933"/>
          </a:xfrm>
          <a:prstGeom prst="rect">
            <a:avLst/>
          </a:prstGeom>
          <a:noFill/>
        </p:spPr>
        <p:txBody>
          <a:bodyPr wrap="square" lIns="0" rIns="0" tIns="0" bIns="0" anchor="t">
            <a:spAutoFit/>
          </a:bodyPr>
          <a:lstStyle/>
          <a:p>
            <a:pPr algn="l">
              <a:lnSpc>
                <a:spcPct val="106000"/>
              </a:lnSpc>
              <a:spcBef>
                <a:spcPts val="0"/>
              </a:spcBef>
              <a:spcAft>
                <a:spcPts val="0"/>
              </a:spcAft>
            </a:pPr>
            <a:r>
              <a:rPr sz="990" b="0">
                <a:solidFill>
                  <a:srgbClr val="333A42"/>
                </a:solidFill>
                <a:latin typeface="Calibri"/>
              </a:rPr>
              <a:t>Popper argues that a claim is scientific only if it forbids something — if evidence could refute it.</a:t>
            </a:r>
          </a:p>
        </p:txBody>
      </p:sp>
      <p:pic>
        <p:nvPicPr>
          <p:cNvPr id="25" name="Picture 24" descr="s11_research_flow.png"/>
          <p:cNvPicPr>
            <a:picLocks noChangeAspect="1"/>
          </p:cNvPicPr>
          <p:nvPr/>
        </p:nvPicPr>
        <p:blipFill>
          <a:blip r:embed="rId7"/>
          <a:stretch>
            <a:fillRect/>
          </a:stretch>
        </p:blipFill>
        <p:spPr>
          <a:xfrm>
            <a:off x="6172200" y="2951297"/>
            <a:ext cx="5544281" cy="1467469"/>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6012" cy="6858000"/>
          </a:xfrm>
          <a:prstGeom prst="rect">
            <a:avLst/>
          </a:prstGeom>
          <a:solidFill>
            <a:srgbClr val="C25E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56616"/>
            <a:ext cx="11058113" cy="219456"/>
          </a:xfrm>
          <a:prstGeom prst="rect">
            <a:avLst/>
          </a:prstGeom>
          <a:noFill/>
        </p:spPr>
        <p:txBody>
          <a:bodyPr wrap="square" lIns="0" rIns="0" tIns="0" bIns="0" anchor="t">
            <a:spAutoFit/>
          </a:bodyPr>
          <a:lstStyle/>
          <a:p>
            <a:pPr algn="l">
              <a:lnSpc>
                <a:spcPct val="106000"/>
              </a:lnSpc>
              <a:spcBef>
                <a:spcPts val="0"/>
              </a:spcBef>
              <a:spcAft>
                <a:spcPts val="0"/>
              </a:spcAft>
            </a:pPr>
            <a:r>
              <a:rPr sz="960" b="1">
                <a:solidFill>
                  <a:srgbClr val="C25E1A"/>
                </a:solidFill>
                <a:latin typeface="Calibri"/>
              </a:rPr>
              <a:t>RESEARCH, PUBLICATION AND ETHICS</a:t>
            </a:r>
          </a:p>
        </p:txBody>
      </p:sp>
      <p:sp>
        <p:nvSpPr>
          <p:cNvPr id="5" name="TextBox 4"/>
          <p:cNvSpPr txBox="1"/>
          <p:nvPr/>
        </p:nvSpPr>
        <p:spPr>
          <a:xfrm>
            <a:off x="566928" y="557784"/>
            <a:ext cx="9960833" cy="566928"/>
          </a:xfrm>
          <a:prstGeom prst="rect">
            <a:avLst/>
          </a:prstGeom>
          <a:noFill/>
        </p:spPr>
        <p:txBody>
          <a:bodyPr wrap="square" lIns="0" rIns="0" tIns="0" bIns="0" anchor="t">
            <a:spAutoFit/>
          </a:bodyPr>
          <a:lstStyle/>
          <a:p>
            <a:pPr algn="l">
              <a:lnSpc>
                <a:spcPct val="100000"/>
              </a:lnSpc>
              <a:spcBef>
                <a:spcPts val="0"/>
              </a:spcBef>
              <a:spcAft>
                <a:spcPts val="0"/>
              </a:spcAft>
            </a:pPr>
            <a:r>
              <a:rPr sz="2500" b="1">
                <a:solidFill>
                  <a:srgbClr val="0F2D52"/>
                </a:solidFill>
                <a:latin typeface="Calibri"/>
              </a:rPr>
              <a:t>Philosophy, publication and research ethics</a:t>
            </a:r>
          </a:p>
        </p:txBody>
      </p:sp>
      <p:sp>
        <p:nvSpPr>
          <p:cNvPr id="6" name="Rectangle 5"/>
          <p:cNvSpPr/>
          <p:nvPr/>
        </p:nvSpPr>
        <p:spPr>
          <a:xfrm>
            <a:off x="566928" y="950976"/>
            <a:ext cx="11058113" cy="10058"/>
          </a:xfrm>
          <a:prstGeom prst="rect">
            <a:avLst/>
          </a:prstGeom>
          <a:solidFill>
            <a:srgbClr val="D5D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6492240"/>
            <a:ext cx="10143713" cy="219456"/>
          </a:xfrm>
          <a:prstGeom prst="rect">
            <a:avLst/>
          </a:prstGeom>
          <a:noFill/>
        </p:spPr>
        <p:txBody>
          <a:bodyPr wrap="square" lIns="0" rIns="0" tIns="0" bIns="0" anchor="t">
            <a:spAutoFit/>
          </a:bodyPr>
          <a:lstStyle/>
          <a:p>
            <a:pPr algn="l">
              <a:lnSpc>
                <a:spcPct val="106000"/>
              </a:lnSpc>
              <a:spcBef>
                <a:spcPts val="0"/>
              </a:spcBef>
              <a:spcAft>
                <a:spcPts val="0"/>
              </a:spcAft>
            </a:pPr>
            <a:r>
              <a:rPr sz="819" b="0">
                <a:solidFill>
                  <a:srgbClr val="8A94A2"/>
                </a:solidFill>
                <a:latin typeface="Calibri"/>
              </a:rPr>
              <a:t>Philosophy and Its Role in Education and Society</a:t>
            </a:r>
          </a:p>
        </p:txBody>
      </p:sp>
      <p:sp>
        <p:nvSpPr>
          <p:cNvPr id="8" name="TextBox 7"/>
          <p:cNvSpPr txBox="1"/>
          <p:nvPr/>
        </p:nvSpPr>
        <p:spPr>
          <a:xfrm>
            <a:off x="10802081" y="6492240"/>
            <a:ext cx="822960" cy="219456"/>
          </a:xfrm>
          <a:prstGeom prst="rect">
            <a:avLst/>
          </a:prstGeom>
          <a:noFill/>
        </p:spPr>
        <p:txBody>
          <a:bodyPr wrap="square" lIns="0" rIns="0" tIns="0" bIns="0" anchor="t">
            <a:spAutoFit/>
          </a:bodyPr>
          <a:lstStyle/>
          <a:p>
            <a:pPr algn="r">
              <a:lnSpc>
                <a:spcPct val="106000"/>
              </a:lnSpc>
              <a:spcBef>
                <a:spcPts val="0"/>
              </a:spcBef>
              <a:spcAft>
                <a:spcPts val="0"/>
              </a:spcAft>
            </a:pPr>
            <a:r>
              <a:rPr sz="860" b="1">
                <a:solidFill>
                  <a:srgbClr val="5F6B7A"/>
                </a:solidFill>
                <a:latin typeface="Calibri"/>
              </a:rPr>
              <a:t>13 / 18</a:t>
            </a:r>
          </a:p>
        </p:txBody>
      </p:sp>
      <p:sp>
        <p:nvSpPr>
          <p:cNvPr id="9" name="TextBox 8"/>
          <p:cNvSpPr txBox="1"/>
          <p:nvPr/>
        </p:nvSpPr>
        <p:spPr>
          <a:xfrm>
            <a:off x="566928" y="1188720"/>
            <a:ext cx="5394960" cy="566928"/>
          </a:xfrm>
          <a:prstGeom prst="rect">
            <a:avLst/>
          </a:prstGeom>
          <a:noFill/>
        </p:spPr>
        <p:txBody>
          <a:bodyPr wrap="square" lIns="0" rIns="0" tIns="0" bIns="0" anchor="t">
            <a:spAutoFit/>
          </a:bodyPr>
          <a:lstStyle/>
          <a:p>
            <a:pPr algn="l">
              <a:lnSpc>
                <a:spcPct val="110000"/>
              </a:lnSpc>
              <a:spcBef>
                <a:spcPts val="0"/>
              </a:spcBef>
              <a:spcAft>
                <a:spcPts val="0"/>
              </a:spcAft>
            </a:pPr>
            <a:r>
              <a:rPr sz="1220" b="0">
                <a:solidFill>
                  <a:srgbClr val="333A42"/>
                </a:solidFill>
                <a:latin typeface="Calibri"/>
              </a:rPr>
              <a:t>Publication is where research becomes a public claim, and therefore where ethical obligation becomes most explicit. Four pillars carry almost the whole burden of responsible practice.</a:t>
            </a:r>
          </a:p>
        </p:txBody>
      </p:sp>
      <p:pic>
        <p:nvPicPr>
          <p:cNvPr id="10" name="Picture 9" descr="check_navy.png"/>
          <p:cNvPicPr>
            <a:picLocks noChangeAspect="1"/>
          </p:cNvPicPr>
          <p:nvPr/>
        </p:nvPicPr>
        <p:blipFill>
          <a:blip r:embed="rId2"/>
          <a:stretch>
            <a:fillRect/>
          </a:stretch>
        </p:blipFill>
        <p:spPr>
          <a:xfrm>
            <a:off x="566928" y="1915668"/>
            <a:ext cx="219456" cy="219456"/>
          </a:xfrm>
          <a:prstGeom prst="rect">
            <a:avLst/>
          </a:prstGeom>
        </p:spPr>
      </p:pic>
      <p:sp>
        <p:nvSpPr>
          <p:cNvPr id="11" name="TextBox 10"/>
          <p:cNvSpPr txBox="1"/>
          <p:nvPr/>
        </p:nvSpPr>
        <p:spPr>
          <a:xfrm>
            <a:off x="905256" y="1901952"/>
            <a:ext cx="5056632" cy="274320"/>
          </a:xfrm>
          <a:prstGeom prst="rect">
            <a:avLst/>
          </a:prstGeom>
          <a:noFill/>
        </p:spPr>
        <p:txBody>
          <a:bodyPr wrap="square" lIns="0" rIns="0" tIns="0" bIns="0" anchor="t">
            <a:spAutoFit/>
          </a:bodyPr>
          <a:lstStyle/>
          <a:p>
            <a:pPr algn="l">
              <a:lnSpc>
                <a:spcPct val="102000"/>
              </a:lnSpc>
              <a:spcBef>
                <a:spcPts val="0"/>
              </a:spcBef>
              <a:spcAft>
                <a:spcPts val="0"/>
              </a:spcAft>
            </a:pPr>
            <a:r>
              <a:rPr sz="1080" b="1">
                <a:solidFill>
                  <a:srgbClr val="0F2D52"/>
                </a:solidFill>
                <a:latin typeface="Calibri"/>
              </a:rPr>
              <a:t>Informed consent</a:t>
            </a:r>
          </a:p>
        </p:txBody>
      </p:sp>
      <p:sp>
        <p:nvSpPr>
          <p:cNvPr id="12" name="TextBox 11"/>
          <p:cNvSpPr txBox="1"/>
          <p:nvPr/>
        </p:nvSpPr>
        <p:spPr>
          <a:xfrm>
            <a:off x="905256" y="2085746"/>
            <a:ext cx="5056632" cy="561441"/>
          </a:xfrm>
          <a:prstGeom prst="rect">
            <a:avLst/>
          </a:prstGeom>
          <a:noFill/>
        </p:spPr>
        <p:txBody>
          <a:bodyPr wrap="square" lIns="0" rIns="0" tIns="0" bIns="0" anchor="t">
            <a:spAutoFit/>
          </a:bodyPr>
          <a:lstStyle/>
          <a:p>
            <a:pPr algn="l">
              <a:lnSpc>
                <a:spcPct val="106000"/>
              </a:lnSpc>
              <a:spcBef>
                <a:spcPts val="0"/>
              </a:spcBef>
              <a:spcAft>
                <a:spcPts val="0"/>
              </a:spcAft>
            </a:pPr>
            <a:r>
              <a:rPr sz="1010" b="0">
                <a:solidFill>
                  <a:srgbClr val="333A42"/>
                </a:solidFill>
                <a:latin typeface="Calibri"/>
              </a:rPr>
              <a:t>Participants are told the purpose, risks and their right to withdraw, and agree freely.</a:t>
            </a:r>
          </a:p>
        </p:txBody>
      </p:sp>
      <p:pic>
        <p:nvPicPr>
          <p:cNvPr id="13" name="Picture 12" descr="shield_teal.png"/>
          <p:cNvPicPr>
            <a:picLocks noChangeAspect="1"/>
          </p:cNvPicPr>
          <p:nvPr/>
        </p:nvPicPr>
        <p:blipFill>
          <a:blip r:embed="rId3"/>
          <a:stretch>
            <a:fillRect/>
          </a:stretch>
        </p:blipFill>
        <p:spPr>
          <a:xfrm>
            <a:off x="566928" y="2747772"/>
            <a:ext cx="219456" cy="219456"/>
          </a:xfrm>
          <a:prstGeom prst="rect">
            <a:avLst/>
          </a:prstGeom>
        </p:spPr>
      </p:pic>
      <p:sp>
        <p:nvSpPr>
          <p:cNvPr id="14" name="TextBox 13"/>
          <p:cNvSpPr txBox="1"/>
          <p:nvPr/>
        </p:nvSpPr>
        <p:spPr>
          <a:xfrm>
            <a:off x="905256" y="2734056"/>
            <a:ext cx="5056632" cy="274320"/>
          </a:xfrm>
          <a:prstGeom prst="rect">
            <a:avLst/>
          </a:prstGeom>
          <a:noFill/>
        </p:spPr>
        <p:txBody>
          <a:bodyPr wrap="square" lIns="0" rIns="0" tIns="0" bIns="0" anchor="t">
            <a:spAutoFit/>
          </a:bodyPr>
          <a:lstStyle/>
          <a:p>
            <a:pPr algn="l">
              <a:lnSpc>
                <a:spcPct val="102000"/>
              </a:lnSpc>
              <a:spcBef>
                <a:spcPts val="0"/>
              </a:spcBef>
              <a:spcAft>
                <a:spcPts val="0"/>
              </a:spcAft>
            </a:pPr>
            <a:r>
              <a:rPr sz="1080" b="1">
                <a:solidFill>
                  <a:srgbClr val="166B67"/>
                </a:solidFill>
                <a:latin typeface="Calibri"/>
              </a:rPr>
              <a:t>Confidentiality</a:t>
            </a:r>
          </a:p>
        </p:txBody>
      </p:sp>
      <p:sp>
        <p:nvSpPr>
          <p:cNvPr id="15" name="TextBox 14"/>
          <p:cNvSpPr txBox="1"/>
          <p:nvPr/>
        </p:nvSpPr>
        <p:spPr>
          <a:xfrm>
            <a:off x="905256" y="2917850"/>
            <a:ext cx="5056632" cy="561441"/>
          </a:xfrm>
          <a:prstGeom prst="rect">
            <a:avLst/>
          </a:prstGeom>
          <a:noFill/>
        </p:spPr>
        <p:txBody>
          <a:bodyPr wrap="square" lIns="0" rIns="0" tIns="0" bIns="0" anchor="t">
            <a:spAutoFit/>
          </a:bodyPr>
          <a:lstStyle/>
          <a:p>
            <a:pPr algn="l">
              <a:lnSpc>
                <a:spcPct val="106000"/>
              </a:lnSpc>
              <a:spcBef>
                <a:spcPts val="0"/>
              </a:spcBef>
              <a:spcAft>
                <a:spcPts val="0"/>
              </a:spcAft>
            </a:pPr>
            <a:r>
              <a:rPr sz="1010" b="0">
                <a:solidFill>
                  <a:srgbClr val="333A42"/>
                </a:solidFill>
                <a:latin typeface="Calibri"/>
              </a:rPr>
              <a:t>Personal data are protected and anonymity preserved where it was promised.</a:t>
            </a:r>
          </a:p>
        </p:txBody>
      </p:sp>
      <p:pic>
        <p:nvPicPr>
          <p:cNvPr id="16" name="Picture 15" descr="pen_orange.png"/>
          <p:cNvPicPr>
            <a:picLocks noChangeAspect="1"/>
          </p:cNvPicPr>
          <p:nvPr/>
        </p:nvPicPr>
        <p:blipFill>
          <a:blip r:embed="rId4"/>
          <a:stretch>
            <a:fillRect/>
          </a:stretch>
        </p:blipFill>
        <p:spPr>
          <a:xfrm>
            <a:off x="566928" y="3579876"/>
            <a:ext cx="219456" cy="219456"/>
          </a:xfrm>
          <a:prstGeom prst="rect">
            <a:avLst/>
          </a:prstGeom>
        </p:spPr>
      </p:pic>
      <p:sp>
        <p:nvSpPr>
          <p:cNvPr id="17" name="TextBox 16"/>
          <p:cNvSpPr txBox="1"/>
          <p:nvPr/>
        </p:nvSpPr>
        <p:spPr>
          <a:xfrm>
            <a:off x="905256" y="3566160"/>
            <a:ext cx="5056632" cy="274320"/>
          </a:xfrm>
          <a:prstGeom prst="rect">
            <a:avLst/>
          </a:prstGeom>
          <a:noFill/>
        </p:spPr>
        <p:txBody>
          <a:bodyPr wrap="square" lIns="0" rIns="0" tIns="0" bIns="0" anchor="t">
            <a:spAutoFit/>
          </a:bodyPr>
          <a:lstStyle/>
          <a:p>
            <a:pPr algn="l">
              <a:lnSpc>
                <a:spcPct val="102000"/>
              </a:lnSpc>
              <a:spcBef>
                <a:spcPts val="0"/>
              </a:spcBef>
              <a:spcAft>
                <a:spcPts val="0"/>
              </a:spcAft>
            </a:pPr>
            <a:r>
              <a:rPr sz="1080" b="1">
                <a:solidFill>
                  <a:srgbClr val="C25E1A"/>
                </a:solidFill>
                <a:latin typeface="Calibri"/>
              </a:rPr>
              <a:t>Attribution</a:t>
            </a:r>
          </a:p>
        </p:txBody>
      </p:sp>
      <p:sp>
        <p:nvSpPr>
          <p:cNvPr id="18" name="TextBox 17"/>
          <p:cNvSpPr txBox="1"/>
          <p:nvPr/>
        </p:nvSpPr>
        <p:spPr>
          <a:xfrm>
            <a:off x="905256" y="3749954"/>
            <a:ext cx="5056632" cy="561441"/>
          </a:xfrm>
          <a:prstGeom prst="rect">
            <a:avLst/>
          </a:prstGeom>
          <a:noFill/>
        </p:spPr>
        <p:txBody>
          <a:bodyPr wrap="square" lIns="0" rIns="0" tIns="0" bIns="0" anchor="t">
            <a:spAutoFit/>
          </a:bodyPr>
          <a:lstStyle/>
          <a:p>
            <a:pPr algn="l">
              <a:lnSpc>
                <a:spcPct val="106000"/>
              </a:lnSpc>
              <a:spcBef>
                <a:spcPts val="0"/>
              </a:spcBef>
              <a:spcAft>
                <a:spcPts val="0"/>
              </a:spcAft>
            </a:pPr>
            <a:r>
              <a:rPr sz="1010" b="0">
                <a:solidFill>
                  <a:srgbClr val="333A42"/>
                </a:solidFill>
                <a:latin typeface="Calibri"/>
              </a:rPr>
              <a:t>Others’ words, data and images are credited; plagiarism is a breach of integrity.</a:t>
            </a:r>
          </a:p>
        </p:txBody>
      </p:sp>
      <p:pic>
        <p:nvPicPr>
          <p:cNvPr id="19" name="Picture 18" descr="gear_purple.png"/>
          <p:cNvPicPr>
            <a:picLocks noChangeAspect="1"/>
          </p:cNvPicPr>
          <p:nvPr/>
        </p:nvPicPr>
        <p:blipFill>
          <a:blip r:embed="rId5"/>
          <a:stretch>
            <a:fillRect/>
          </a:stretch>
        </p:blipFill>
        <p:spPr>
          <a:xfrm>
            <a:off x="566928" y="4411979"/>
            <a:ext cx="219456" cy="219456"/>
          </a:xfrm>
          <a:prstGeom prst="rect">
            <a:avLst/>
          </a:prstGeom>
        </p:spPr>
      </p:pic>
      <p:sp>
        <p:nvSpPr>
          <p:cNvPr id="20" name="TextBox 19"/>
          <p:cNvSpPr txBox="1"/>
          <p:nvPr/>
        </p:nvSpPr>
        <p:spPr>
          <a:xfrm>
            <a:off x="905256" y="4398264"/>
            <a:ext cx="5056632" cy="274320"/>
          </a:xfrm>
          <a:prstGeom prst="rect">
            <a:avLst/>
          </a:prstGeom>
          <a:noFill/>
        </p:spPr>
        <p:txBody>
          <a:bodyPr wrap="square" lIns="0" rIns="0" tIns="0" bIns="0" anchor="t">
            <a:spAutoFit/>
          </a:bodyPr>
          <a:lstStyle/>
          <a:p>
            <a:pPr algn="l">
              <a:lnSpc>
                <a:spcPct val="102000"/>
              </a:lnSpc>
              <a:spcBef>
                <a:spcPts val="0"/>
              </a:spcBef>
              <a:spcAft>
                <a:spcPts val="0"/>
              </a:spcAft>
            </a:pPr>
            <a:r>
              <a:rPr sz="1080" b="1">
                <a:solidFill>
                  <a:srgbClr val="5B4B8A"/>
                </a:solidFill>
                <a:latin typeface="Calibri"/>
              </a:rPr>
              <a:t>Integrity</a:t>
            </a:r>
          </a:p>
        </p:txBody>
      </p:sp>
      <p:sp>
        <p:nvSpPr>
          <p:cNvPr id="21" name="TextBox 20"/>
          <p:cNvSpPr txBox="1"/>
          <p:nvPr/>
        </p:nvSpPr>
        <p:spPr>
          <a:xfrm>
            <a:off x="905256" y="4582058"/>
            <a:ext cx="5056632" cy="561441"/>
          </a:xfrm>
          <a:prstGeom prst="rect">
            <a:avLst/>
          </a:prstGeom>
          <a:noFill/>
        </p:spPr>
        <p:txBody>
          <a:bodyPr wrap="square" lIns="0" rIns="0" tIns="0" bIns="0" anchor="t">
            <a:spAutoFit/>
          </a:bodyPr>
          <a:lstStyle/>
          <a:p>
            <a:pPr algn="l">
              <a:lnSpc>
                <a:spcPct val="106000"/>
              </a:lnSpc>
              <a:spcBef>
                <a:spcPts val="0"/>
              </a:spcBef>
              <a:spcAft>
                <a:spcPts val="0"/>
              </a:spcAft>
            </a:pPr>
            <a:r>
              <a:rPr sz="1010" b="0">
                <a:solidFill>
                  <a:srgbClr val="333A42"/>
                </a:solidFill>
                <a:latin typeface="Calibri"/>
              </a:rPr>
              <a:t>No fabrication, falsification or selective reporting; methods and limits are declared.</a:t>
            </a:r>
          </a:p>
        </p:txBody>
      </p:sp>
      <p:pic>
        <p:nvPicPr>
          <p:cNvPr id="22" name="Picture 21" descr="people_crimson.png"/>
          <p:cNvPicPr>
            <a:picLocks noChangeAspect="1"/>
          </p:cNvPicPr>
          <p:nvPr/>
        </p:nvPicPr>
        <p:blipFill>
          <a:blip r:embed="rId6"/>
          <a:stretch>
            <a:fillRect/>
          </a:stretch>
        </p:blipFill>
        <p:spPr>
          <a:xfrm>
            <a:off x="566928" y="5244083"/>
            <a:ext cx="219456" cy="219456"/>
          </a:xfrm>
          <a:prstGeom prst="rect">
            <a:avLst/>
          </a:prstGeom>
        </p:spPr>
      </p:pic>
      <p:sp>
        <p:nvSpPr>
          <p:cNvPr id="23" name="TextBox 22"/>
          <p:cNvSpPr txBox="1"/>
          <p:nvPr/>
        </p:nvSpPr>
        <p:spPr>
          <a:xfrm>
            <a:off x="905256" y="5230368"/>
            <a:ext cx="5056632" cy="274320"/>
          </a:xfrm>
          <a:prstGeom prst="rect">
            <a:avLst/>
          </a:prstGeom>
          <a:noFill/>
        </p:spPr>
        <p:txBody>
          <a:bodyPr wrap="square" lIns="0" rIns="0" tIns="0" bIns="0" anchor="t">
            <a:spAutoFit/>
          </a:bodyPr>
          <a:lstStyle/>
          <a:p>
            <a:pPr algn="l">
              <a:lnSpc>
                <a:spcPct val="102000"/>
              </a:lnSpc>
              <a:spcBef>
                <a:spcPts val="0"/>
              </a:spcBef>
              <a:spcAft>
                <a:spcPts val="0"/>
              </a:spcAft>
            </a:pPr>
            <a:r>
              <a:rPr sz="1080" b="1">
                <a:solidFill>
                  <a:srgbClr val="9E2B2B"/>
                </a:solidFill>
                <a:latin typeface="Calibri"/>
              </a:rPr>
              <a:t>Peer review and authorship</a:t>
            </a:r>
          </a:p>
        </p:txBody>
      </p:sp>
      <p:sp>
        <p:nvSpPr>
          <p:cNvPr id="24" name="TextBox 23"/>
          <p:cNvSpPr txBox="1"/>
          <p:nvPr/>
        </p:nvSpPr>
        <p:spPr>
          <a:xfrm>
            <a:off x="905256" y="5414162"/>
            <a:ext cx="5056632" cy="561441"/>
          </a:xfrm>
          <a:prstGeom prst="rect">
            <a:avLst/>
          </a:prstGeom>
          <a:noFill/>
        </p:spPr>
        <p:txBody>
          <a:bodyPr wrap="square" lIns="0" rIns="0" tIns="0" bIns="0" anchor="t">
            <a:spAutoFit/>
          </a:bodyPr>
          <a:lstStyle/>
          <a:p>
            <a:pPr algn="l">
              <a:lnSpc>
                <a:spcPct val="106000"/>
              </a:lnSpc>
              <a:spcBef>
                <a:spcPts val="0"/>
              </a:spcBef>
              <a:spcAft>
                <a:spcPts val="0"/>
              </a:spcAft>
            </a:pPr>
            <a:r>
              <a:rPr sz="1010" b="0">
                <a:solidFill>
                  <a:srgbClr val="333A42"/>
                </a:solidFill>
                <a:latin typeface="Calibri"/>
              </a:rPr>
              <a:t>Authorship reflects real contribution; reviewers declare conflicts of interest.</a:t>
            </a:r>
          </a:p>
        </p:txBody>
      </p:sp>
      <p:pic>
        <p:nvPicPr>
          <p:cNvPr id="25" name="Picture 24" descr="s12_ethics.png"/>
          <p:cNvPicPr>
            <a:picLocks noChangeAspect="1"/>
          </p:cNvPicPr>
          <p:nvPr/>
        </p:nvPicPr>
        <p:blipFill>
          <a:blip r:embed="rId7"/>
          <a:stretch>
            <a:fillRect/>
          </a:stretch>
        </p:blipFill>
        <p:spPr>
          <a:xfrm>
            <a:off x="6263640" y="1214914"/>
            <a:ext cx="5361401" cy="4903659"/>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6012" cy="6858000"/>
          </a:xfrm>
          <a:prstGeom prst="rect">
            <a:avLst/>
          </a:prstGeom>
          <a:solidFill>
            <a:srgbClr val="C25E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56616"/>
            <a:ext cx="11058113" cy="219456"/>
          </a:xfrm>
          <a:prstGeom prst="rect">
            <a:avLst/>
          </a:prstGeom>
          <a:noFill/>
        </p:spPr>
        <p:txBody>
          <a:bodyPr wrap="square" lIns="0" rIns="0" tIns="0" bIns="0" anchor="t">
            <a:spAutoFit/>
          </a:bodyPr>
          <a:lstStyle/>
          <a:p>
            <a:pPr algn="l">
              <a:lnSpc>
                <a:spcPct val="106000"/>
              </a:lnSpc>
              <a:spcBef>
                <a:spcPts val="0"/>
              </a:spcBef>
              <a:spcAft>
                <a:spcPts val="0"/>
              </a:spcAft>
            </a:pPr>
            <a:r>
              <a:rPr sz="960" b="1">
                <a:solidFill>
                  <a:srgbClr val="C25E1A"/>
                </a:solidFill>
                <a:latin typeface="Calibri"/>
              </a:rPr>
              <a:t>RESEARCH, PUBLICATION AND ETHICS</a:t>
            </a:r>
          </a:p>
        </p:txBody>
      </p:sp>
      <p:sp>
        <p:nvSpPr>
          <p:cNvPr id="5" name="TextBox 4"/>
          <p:cNvSpPr txBox="1"/>
          <p:nvPr/>
        </p:nvSpPr>
        <p:spPr>
          <a:xfrm>
            <a:off x="566928" y="557784"/>
            <a:ext cx="9960833" cy="566928"/>
          </a:xfrm>
          <a:prstGeom prst="rect">
            <a:avLst/>
          </a:prstGeom>
          <a:noFill/>
        </p:spPr>
        <p:txBody>
          <a:bodyPr wrap="square" lIns="0" rIns="0" tIns="0" bIns="0" anchor="t">
            <a:spAutoFit/>
          </a:bodyPr>
          <a:lstStyle/>
          <a:p>
            <a:pPr algn="l">
              <a:lnSpc>
                <a:spcPct val="100000"/>
              </a:lnSpc>
              <a:spcBef>
                <a:spcPts val="0"/>
              </a:spcBef>
              <a:spcAft>
                <a:spcPts val="0"/>
              </a:spcAft>
            </a:pPr>
            <a:r>
              <a:rPr sz="2500" b="1">
                <a:solidFill>
                  <a:srgbClr val="0F2D52"/>
                </a:solidFill>
                <a:latin typeface="Calibri"/>
              </a:rPr>
              <a:t>Examples of ethical and unethical research practice</a:t>
            </a:r>
          </a:p>
        </p:txBody>
      </p:sp>
      <p:sp>
        <p:nvSpPr>
          <p:cNvPr id="6" name="Rectangle 5"/>
          <p:cNvSpPr/>
          <p:nvPr/>
        </p:nvSpPr>
        <p:spPr>
          <a:xfrm>
            <a:off x="566928" y="950976"/>
            <a:ext cx="11058113" cy="10058"/>
          </a:xfrm>
          <a:prstGeom prst="rect">
            <a:avLst/>
          </a:prstGeom>
          <a:solidFill>
            <a:srgbClr val="D5D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6492240"/>
            <a:ext cx="10143713" cy="219456"/>
          </a:xfrm>
          <a:prstGeom prst="rect">
            <a:avLst/>
          </a:prstGeom>
          <a:noFill/>
        </p:spPr>
        <p:txBody>
          <a:bodyPr wrap="square" lIns="0" rIns="0" tIns="0" bIns="0" anchor="t">
            <a:spAutoFit/>
          </a:bodyPr>
          <a:lstStyle/>
          <a:p>
            <a:pPr algn="l">
              <a:lnSpc>
                <a:spcPct val="106000"/>
              </a:lnSpc>
              <a:spcBef>
                <a:spcPts val="0"/>
              </a:spcBef>
              <a:spcAft>
                <a:spcPts val="0"/>
              </a:spcAft>
            </a:pPr>
            <a:r>
              <a:rPr sz="819" b="0">
                <a:solidFill>
                  <a:srgbClr val="8A94A2"/>
                </a:solidFill>
                <a:latin typeface="Calibri"/>
              </a:rPr>
              <a:t>Philosophy and Its Role in Education and Society</a:t>
            </a:r>
          </a:p>
        </p:txBody>
      </p:sp>
      <p:sp>
        <p:nvSpPr>
          <p:cNvPr id="8" name="TextBox 7"/>
          <p:cNvSpPr txBox="1"/>
          <p:nvPr/>
        </p:nvSpPr>
        <p:spPr>
          <a:xfrm>
            <a:off x="10802081" y="6492240"/>
            <a:ext cx="822960" cy="219456"/>
          </a:xfrm>
          <a:prstGeom prst="rect">
            <a:avLst/>
          </a:prstGeom>
          <a:noFill/>
        </p:spPr>
        <p:txBody>
          <a:bodyPr wrap="square" lIns="0" rIns="0" tIns="0" bIns="0" anchor="t">
            <a:spAutoFit/>
          </a:bodyPr>
          <a:lstStyle/>
          <a:p>
            <a:pPr algn="r">
              <a:lnSpc>
                <a:spcPct val="106000"/>
              </a:lnSpc>
              <a:spcBef>
                <a:spcPts val="0"/>
              </a:spcBef>
              <a:spcAft>
                <a:spcPts val="0"/>
              </a:spcAft>
            </a:pPr>
            <a:r>
              <a:rPr sz="860" b="1">
                <a:solidFill>
                  <a:srgbClr val="5F6B7A"/>
                </a:solidFill>
                <a:latin typeface="Calibri"/>
              </a:rPr>
              <a:t>14 / 18</a:t>
            </a:r>
          </a:p>
        </p:txBody>
      </p:sp>
      <p:sp>
        <p:nvSpPr>
          <p:cNvPr id="9" name="TextBox 8"/>
          <p:cNvSpPr txBox="1"/>
          <p:nvPr/>
        </p:nvSpPr>
        <p:spPr>
          <a:xfrm>
            <a:off x="566928" y="1188720"/>
            <a:ext cx="5394960" cy="566928"/>
          </a:xfrm>
          <a:prstGeom prst="rect">
            <a:avLst/>
          </a:prstGeom>
          <a:noFill/>
        </p:spPr>
        <p:txBody>
          <a:bodyPr wrap="square" lIns="0" rIns="0" tIns="0" bIns="0" anchor="t">
            <a:spAutoFit/>
          </a:bodyPr>
          <a:lstStyle/>
          <a:p>
            <a:pPr algn="l">
              <a:lnSpc>
                <a:spcPct val="110000"/>
              </a:lnSpc>
              <a:spcBef>
                <a:spcPts val="0"/>
              </a:spcBef>
              <a:spcAft>
                <a:spcPts val="0"/>
              </a:spcAft>
            </a:pPr>
            <a:r>
              <a:rPr sz="1180" b="0">
                <a:solidFill>
                  <a:srgbClr val="333A42"/>
                </a:solidFill>
                <a:latin typeface="Calibri"/>
              </a:rPr>
              <a:t>The distinction is not always between good and bad researchers. It is between practices that protect participants and readers, and practices that do not — and the difference is often procedural.</a:t>
            </a:r>
          </a:p>
        </p:txBody>
      </p:sp>
      <p:pic>
        <p:nvPicPr>
          <p:cNvPr id="10" name="Picture 9" descr="scales_crimson.png"/>
          <p:cNvPicPr>
            <a:picLocks noChangeAspect="1"/>
          </p:cNvPicPr>
          <p:nvPr/>
        </p:nvPicPr>
        <p:blipFill>
          <a:blip r:embed="rId2"/>
          <a:stretch>
            <a:fillRect/>
          </a:stretch>
        </p:blipFill>
        <p:spPr>
          <a:xfrm>
            <a:off x="566928" y="1860804"/>
            <a:ext cx="219456" cy="219456"/>
          </a:xfrm>
          <a:prstGeom prst="rect">
            <a:avLst/>
          </a:prstGeom>
        </p:spPr>
      </p:pic>
      <p:sp>
        <p:nvSpPr>
          <p:cNvPr id="11" name="TextBox 10"/>
          <p:cNvSpPr txBox="1"/>
          <p:nvPr/>
        </p:nvSpPr>
        <p:spPr>
          <a:xfrm>
            <a:off x="905256" y="1847088"/>
            <a:ext cx="5056632" cy="274320"/>
          </a:xfrm>
          <a:prstGeom prst="rect">
            <a:avLst/>
          </a:prstGeom>
          <a:noFill/>
        </p:spPr>
        <p:txBody>
          <a:bodyPr wrap="square" lIns="0" rIns="0" tIns="0" bIns="0" anchor="t">
            <a:spAutoFit/>
          </a:bodyPr>
          <a:lstStyle/>
          <a:p>
            <a:pPr algn="l">
              <a:lnSpc>
                <a:spcPct val="102000"/>
              </a:lnSpc>
              <a:spcBef>
                <a:spcPts val="0"/>
              </a:spcBef>
              <a:spcAft>
                <a:spcPts val="0"/>
              </a:spcAft>
            </a:pPr>
            <a:r>
              <a:rPr sz="1019" b="1">
                <a:solidFill>
                  <a:srgbClr val="9E2B2B"/>
                </a:solidFill>
                <a:latin typeface="Calibri"/>
              </a:rPr>
              <a:t>Tuskegee syphilis study (1932–1972)</a:t>
            </a:r>
          </a:p>
        </p:txBody>
      </p:sp>
      <p:sp>
        <p:nvSpPr>
          <p:cNvPr id="12" name="TextBox 11"/>
          <p:cNvSpPr txBox="1"/>
          <p:nvPr/>
        </p:nvSpPr>
        <p:spPr>
          <a:xfrm>
            <a:off x="905256" y="2021433"/>
            <a:ext cx="5056632" cy="589178"/>
          </a:xfrm>
          <a:prstGeom prst="rect">
            <a:avLst/>
          </a:prstGeom>
          <a:noFill/>
        </p:spPr>
        <p:txBody>
          <a:bodyPr wrap="square" lIns="0" rIns="0" tIns="0" bIns="0" anchor="t">
            <a:spAutoFit/>
          </a:bodyPr>
          <a:lstStyle/>
          <a:p>
            <a:pPr algn="l">
              <a:lnSpc>
                <a:spcPct val="106000"/>
              </a:lnSpc>
              <a:spcBef>
                <a:spcPts val="0"/>
              </a:spcBef>
              <a:spcAft>
                <a:spcPts val="0"/>
              </a:spcAft>
            </a:pPr>
            <a:r>
              <a:rPr sz="950" b="0">
                <a:solidFill>
                  <a:srgbClr val="333A42"/>
                </a:solidFill>
                <a:latin typeface="Calibri"/>
              </a:rPr>
              <a:t>Treatment was withheld from participants who were not informed; a direct cause of the Belmont Report.</a:t>
            </a:r>
          </a:p>
        </p:txBody>
      </p:sp>
      <p:pic>
        <p:nvPicPr>
          <p:cNvPr id="13" name="Picture 12" descr="people_crimson.png"/>
          <p:cNvPicPr>
            <a:picLocks noChangeAspect="1"/>
          </p:cNvPicPr>
          <p:nvPr/>
        </p:nvPicPr>
        <p:blipFill>
          <a:blip r:embed="rId3"/>
          <a:stretch>
            <a:fillRect/>
          </a:stretch>
        </p:blipFill>
        <p:spPr>
          <a:xfrm>
            <a:off x="566928" y="2702052"/>
            <a:ext cx="219456" cy="219456"/>
          </a:xfrm>
          <a:prstGeom prst="rect">
            <a:avLst/>
          </a:prstGeom>
        </p:spPr>
      </p:pic>
      <p:sp>
        <p:nvSpPr>
          <p:cNvPr id="14" name="TextBox 13"/>
          <p:cNvSpPr txBox="1"/>
          <p:nvPr/>
        </p:nvSpPr>
        <p:spPr>
          <a:xfrm>
            <a:off x="905256" y="2688336"/>
            <a:ext cx="5056632" cy="274320"/>
          </a:xfrm>
          <a:prstGeom prst="rect">
            <a:avLst/>
          </a:prstGeom>
          <a:noFill/>
        </p:spPr>
        <p:txBody>
          <a:bodyPr wrap="square" lIns="0" rIns="0" tIns="0" bIns="0" anchor="t">
            <a:spAutoFit/>
          </a:bodyPr>
          <a:lstStyle/>
          <a:p>
            <a:pPr algn="l">
              <a:lnSpc>
                <a:spcPct val="102000"/>
              </a:lnSpc>
              <a:spcBef>
                <a:spcPts val="0"/>
              </a:spcBef>
              <a:spcAft>
                <a:spcPts val="0"/>
              </a:spcAft>
            </a:pPr>
            <a:r>
              <a:rPr sz="1019" b="1">
                <a:solidFill>
                  <a:srgbClr val="9E2B2B"/>
                </a:solidFill>
                <a:latin typeface="Calibri"/>
              </a:rPr>
              <a:t>Milgram obedience study (1963)</a:t>
            </a:r>
          </a:p>
        </p:txBody>
      </p:sp>
      <p:sp>
        <p:nvSpPr>
          <p:cNvPr id="15" name="TextBox 14"/>
          <p:cNvSpPr txBox="1"/>
          <p:nvPr/>
        </p:nvSpPr>
        <p:spPr>
          <a:xfrm>
            <a:off x="905256" y="2862681"/>
            <a:ext cx="5056632" cy="589178"/>
          </a:xfrm>
          <a:prstGeom prst="rect">
            <a:avLst/>
          </a:prstGeom>
          <a:noFill/>
        </p:spPr>
        <p:txBody>
          <a:bodyPr wrap="square" lIns="0" rIns="0" tIns="0" bIns="0" anchor="t">
            <a:spAutoFit/>
          </a:bodyPr>
          <a:lstStyle/>
          <a:p>
            <a:pPr algn="l">
              <a:lnSpc>
                <a:spcPct val="106000"/>
              </a:lnSpc>
              <a:spcBef>
                <a:spcPts val="0"/>
              </a:spcBef>
              <a:spcAft>
                <a:spcPts val="0"/>
              </a:spcAft>
            </a:pPr>
            <a:r>
              <a:rPr sz="950" b="0">
                <a:solidFill>
                  <a:srgbClr val="333A42"/>
                </a:solidFill>
                <a:latin typeface="Calibri"/>
              </a:rPr>
              <a:t>Revealed substantial obedience to authority, but caused serious distress and prompted ethical review.</a:t>
            </a:r>
          </a:p>
        </p:txBody>
      </p:sp>
      <p:pic>
        <p:nvPicPr>
          <p:cNvPr id="16" name="Picture 15" descr="quest_crimson.png"/>
          <p:cNvPicPr>
            <a:picLocks noChangeAspect="1"/>
          </p:cNvPicPr>
          <p:nvPr/>
        </p:nvPicPr>
        <p:blipFill>
          <a:blip r:embed="rId4"/>
          <a:stretch>
            <a:fillRect/>
          </a:stretch>
        </p:blipFill>
        <p:spPr>
          <a:xfrm>
            <a:off x="566928" y="3543299"/>
            <a:ext cx="219456" cy="219456"/>
          </a:xfrm>
          <a:prstGeom prst="rect">
            <a:avLst/>
          </a:prstGeom>
        </p:spPr>
      </p:pic>
      <p:sp>
        <p:nvSpPr>
          <p:cNvPr id="17" name="TextBox 16"/>
          <p:cNvSpPr txBox="1"/>
          <p:nvPr/>
        </p:nvSpPr>
        <p:spPr>
          <a:xfrm>
            <a:off x="905256" y="3529583"/>
            <a:ext cx="5056632" cy="274320"/>
          </a:xfrm>
          <a:prstGeom prst="rect">
            <a:avLst/>
          </a:prstGeom>
          <a:noFill/>
        </p:spPr>
        <p:txBody>
          <a:bodyPr wrap="square" lIns="0" rIns="0" tIns="0" bIns="0" anchor="t">
            <a:spAutoFit/>
          </a:bodyPr>
          <a:lstStyle/>
          <a:p>
            <a:pPr algn="l">
              <a:lnSpc>
                <a:spcPct val="102000"/>
              </a:lnSpc>
              <a:spcBef>
                <a:spcPts val="0"/>
              </a:spcBef>
              <a:spcAft>
                <a:spcPts val="0"/>
              </a:spcAft>
            </a:pPr>
            <a:r>
              <a:rPr sz="1019" b="1">
                <a:solidFill>
                  <a:srgbClr val="9E2B2B"/>
                </a:solidFill>
                <a:latin typeface="Calibri"/>
              </a:rPr>
              <a:t>Stanford prison experiment (1971)</a:t>
            </a:r>
          </a:p>
        </p:txBody>
      </p:sp>
      <p:sp>
        <p:nvSpPr>
          <p:cNvPr id="18" name="TextBox 17"/>
          <p:cNvSpPr txBox="1"/>
          <p:nvPr/>
        </p:nvSpPr>
        <p:spPr>
          <a:xfrm>
            <a:off x="905256" y="3703929"/>
            <a:ext cx="5056632" cy="589178"/>
          </a:xfrm>
          <a:prstGeom prst="rect">
            <a:avLst/>
          </a:prstGeom>
          <a:noFill/>
        </p:spPr>
        <p:txBody>
          <a:bodyPr wrap="square" lIns="0" rIns="0" tIns="0" bIns="0" anchor="t">
            <a:spAutoFit/>
          </a:bodyPr>
          <a:lstStyle/>
          <a:p>
            <a:pPr algn="l">
              <a:lnSpc>
                <a:spcPct val="106000"/>
              </a:lnSpc>
              <a:spcBef>
                <a:spcPts val="0"/>
              </a:spcBef>
              <a:spcAft>
                <a:spcPts val="0"/>
              </a:spcAft>
            </a:pPr>
            <a:r>
              <a:rPr sz="950" b="0">
                <a:solidFill>
                  <a:srgbClr val="333A42"/>
                </a:solidFill>
                <a:latin typeface="Calibri"/>
              </a:rPr>
              <a:t>Role assignment produced abusive behaviour; the design has since been criticised on both ethical and methodological grounds.</a:t>
            </a:r>
          </a:p>
        </p:txBody>
      </p:sp>
      <p:pic>
        <p:nvPicPr>
          <p:cNvPr id="19" name="Picture 18" descr="pen_crimson.png"/>
          <p:cNvPicPr>
            <a:picLocks noChangeAspect="1"/>
          </p:cNvPicPr>
          <p:nvPr/>
        </p:nvPicPr>
        <p:blipFill>
          <a:blip r:embed="rId5"/>
          <a:stretch>
            <a:fillRect/>
          </a:stretch>
        </p:blipFill>
        <p:spPr>
          <a:xfrm>
            <a:off x="566928" y="4384547"/>
            <a:ext cx="219456" cy="219456"/>
          </a:xfrm>
          <a:prstGeom prst="rect">
            <a:avLst/>
          </a:prstGeom>
        </p:spPr>
      </p:pic>
      <p:sp>
        <p:nvSpPr>
          <p:cNvPr id="20" name="TextBox 19"/>
          <p:cNvSpPr txBox="1"/>
          <p:nvPr/>
        </p:nvSpPr>
        <p:spPr>
          <a:xfrm>
            <a:off x="905256" y="4370831"/>
            <a:ext cx="5056632" cy="274320"/>
          </a:xfrm>
          <a:prstGeom prst="rect">
            <a:avLst/>
          </a:prstGeom>
          <a:noFill/>
        </p:spPr>
        <p:txBody>
          <a:bodyPr wrap="square" lIns="0" rIns="0" tIns="0" bIns="0" anchor="t">
            <a:spAutoFit/>
          </a:bodyPr>
          <a:lstStyle/>
          <a:p>
            <a:pPr algn="l">
              <a:lnSpc>
                <a:spcPct val="102000"/>
              </a:lnSpc>
              <a:spcBef>
                <a:spcPts val="0"/>
              </a:spcBef>
              <a:spcAft>
                <a:spcPts val="0"/>
              </a:spcAft>
            </a:pPr>
            <a:r>
              <a:rPr sz="1019" b="1">
                <a:solidFill>
                  <a:srgbClr val="9E2B2B"/>
                </a:solidFill>
                <a:latin typeface="Calibri"/>
              </a:rPr>
              <a:t>Wakefield et al. (1998), retracted 2010</a:t>
            </a:r>
          </a:p>
        </p:txBody>
      </p:sp>
      <p:sp>
        <p:nvSpPr>
          <p:cNvPr id="21" name="TextBox 20"/>
          <p:cNvSpPr txBox="1"/>
          <p:nvPr/>
        </p:nvSpPr>
        <p:spPr>
          <a:xfrm>
            <a:off x="905256" y="4545177"/>
            <a:ext cx="5056632" cy="589178"/>
          </a:xfrm>
          <a:prstGeom prst="rect">
            <a:avLst/>
          </a:prstGeom>
          <a:noFill/>
        </p:spPr>
        <p:txBody>
          <a:bodyPr wrap="square" lIns="0" rIns="0" tIns="0" bIns="0" anchor="t">
            <a:spAutoFit/>
          </a:bodyPr>
          <a:lstStyle/>
          <a:p>
            <a:pPr algn="l">
              <a:lnSpc>
                <a:spcPct val="106000"/>
              </a:lnSpc>
              <a:spcBef>
                <a:spcPts val="0"/>
              </a:spcBef>
              <a:spcAft>
                <a:spcPts val="0"/>
              </a:spcAft>
            </a:pPr>
            <a:r>
              <a:rPr sz="950" b="0">
                <a:solidFill>
                  <a:srgbClr val="333A42"/>
                </a:solidFill>
                <a:latin typeface="Calibri"/>
              </a:rPr>
              <a:t>The Lancet retracted the paper; the episode illustrates the cost of publication without adequate scrutiny.</a:t>
            </a:r>
          </a:p>
        </p:txBody>
      </p:sp>
      <p:pic>
        <p:nvPicPr>
          <p:cNvPr id="22" name="Picture 21" descr="chart_orange.png"/>
          <p:cNvPicPr>
            <a:picLocks noChangeAspect="1"/>
          </p:cNvPicPr>
          <p:nvPr/>
        </p:nvPicPr>
        <p:blipFill>
          <a:blip r:embed="rId6"/>
          <a:stretch>
            <a:fillRect/>
          </a:stretch>
        </p:blipFill>
        <p:spPr>
          <a:xfrm>
            <a:off x="566928" y="5225795"/>
            <a:ext cx="219456" cy="219456"/>
          </a:xfrm>
          <a:prstGeom prst="rect">
            <a:avLst/>
          </a:prstGeom>
        </p:spPr>
      </p:pic>
      <p:sp>
        <p:nvSpPr>
          <p:cNvPr id="23" name="TextBox 22"/>
          <p:cNvSpPr txBox="1"/>
          <p:nvPr/>
        </p:nvSpPr>
        <p:spPr>
          <a:xfrm>
            <a:off x="905256" y="5212079"/>
            <a:ext cx="5056632" cy="274320"/>
          </a:xfrm>
          <a:prstGeom prst="rect">
            <a:avLst/>
          </a:prstGeom>
          <a:noFill/>
        </p:spPr>
        <p:txBody>
          <a:bodyPr wrap="square" lIns="0" rIns="0" tIns="0" bIns="0" anchor="t">
            <a:spAutoFit/>
          </a:bodyPr>
          <a:lstStyle/>
          <a:p>
            <a:pPr algn="l">
              <a:lnSpc>
                <a:spcPct val="102000"/>
              </a:lnSpc>
              <a:spcBef>
                <a:spcPts val="0"/>
              </a:spcBef>
              <a:spcAft>
                <a:spcPts val="0"/>
              </a:spcAft>
            </a:pPr>
            <a:r>
              <a:rPr sz="1019" b="1">
                <a:solidFill>
                  <a:srgbClr val="C25E1A"/>
                </a:solidFill>
                <a:latin typeface="Calibri"/>
              </a:rPr>
              <a:t>Reproducibility and reporting</a:t>
            </a:r>
          </a:p>
        </p:txBody>
      </p:sp>
      <p:sp>
        <p:nvSpPr>
          <p:cNvPr id="24" name="TextBox 23"/>
          <p:cNvSpPr txBox="1"/>
          <p:nvPr/>
        </p:nvSpPr>
        <p:spPr>
          <a:xfrm>
            <a:off x="905256" y="5386425"/>
            <a:ext cx="5056632" cy="589178"/>
          </a:xfrm>
          <a:prstGeom prst="rect">
            <a:avLst/>
          </a:prstGeom>
          <a:noFill/>
        </p:spPr>
        <p:txBody>
          <a:bodyPr wrap="square" lIns="0" rIns="0" tIns="0" bIns="0" anchor="t">
            <a:spAutoFit/>
          </a:bodyPr>
          <a:lstStyle/>
          <a:p>
            <a:pPr algn="l">
              <a:lnSpc>
                <a:spcPct val="106000"/>
              </a:lnSpc>
              <a:spcBef>
                <a:spcPts val="0"/>
              </a:spcBef>
              <a:spcAft>
                <a:spcPts val="0"/>
              </a:spcAft>
            </a:pPr>
            <a:r>
              <a:rPr sz="950" b="0">
                <a:solidFill>
                  <a:srgbClr val="333A42"/>
                </a:solidFill>
                <a:latin typeface="Calibri"/>
              </a:rPr>
              <a:t>Large-scale replication found much lower reproducibility than expected, motivating open-science reform.</a:t>
            </a:r>
          </a:p>
        </p:txBody>
      </p:sp>
      <p:pic>
        <p:nvPicPr>
          <p:cNvPr id="25" name="Picture 24" descr="s13_ethics_compare.png"/>
          <p:cNvPicPr>
            <a:picLocks noChangeAspect="1"/>
          </p:cNvPicPr>
          <p:nvPr/>
        </p:nvPicPr>
        <p:blipFill>
          <a:blip r:embed="rId7"/>
          <a:stretch>
            <a:fillRect/>
          </a:stretch>
        </p:blipFill>
        <p:spPr>
          <a:xfrm>
            <a:off x="6172200" y="2951297"/>
            <a:ext cx="5544281" cy="1467469"/>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6012" cy="6858000"/>
          </a:xfrm>
          <a:prstGeom prst="rect">
            <a:avLst/>
          </a:prstGeom>
          <a:solidFill>
            <a:srgbClr val="C25E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56616"/>
            <a:ext cx="11058113" cy="219456"/>
          </a:xfrm>
          <a:prstGeom prst="rect">
            <a:avLst/>
          </a:prstGeom>
          <a:noFill/>
        </p:spPr>
        <p:txBody>
          <a:bodyPr wrap="square" lIns="0" rIns="0" tIns="0" bIns="0" anchor="t">
            <a:spAutoFit/>
          </a:bodyPr>
          <a:lstStyle/>
          <a:p>
            <a:pPr algn="l">
              <a:lnSpc>
                <a:spcPct val="106000"/>
              </a:lnSpc>
              <a:spcBef>
                <a:spcPts val="0"/>
              </a:spcBef>
              <a:spcAft>
                <a:spcPts val="0"/>
              </a:spcAft>
            </a:pPr>
            <a:r>
              <a:rPr sz="960" b="1">
                <a:solidFill>
                  <a:srgbClr val="C25E1A"/>
                </a:solidFill>
                <a:latin typeface="Calibri"/>
              </a:rPr>
              <a:t>APPLICATION</a:t>
            </a:r>
          </a:p>
        </p:txBody>
      </p:sp>
      <p:sp>
        <p:nvSpPr>
          <p:cNvPr id="5" name="TextBox 4"/>
          <p:cNvSpPr txBox="1"/>
          <p:nvPr/>
        </p:nvSpPr>
        <p:spPr>
          <a:xfrm>
            <a:off x="566928" y="557784"/>
            <a:ext cx="9960833" cy="566928"/>
          </a:xfrm>
          <a:prstGeom prst="rect">
            <a:avLst/>
          </a:prstGeom>
          <a:noFill/>
        </p:spPr>
        <p:txBody>
          <a:bodyPr wrap="square" lIns="0" rIns="0" tIns="0" bIns="0" anchor="t">
            <a:spAutoFit/>
          </a:bodyPr>
          <a:lstStyle/>
          <a:p>
            <a:pPr algn="l">
              <a:lnSpc>
                <a:spcPct val="100000"/>
              </a:lnSpc>
              <a:spcBef>
                <a:spcPts val="0"/>
              </a:spcBef>
              <a:spcAft>
                <a:spcPts val="0"/>
              </a:spcAft>
            </a:pPr>
            <a:r>
              <a:rPr sz="2500" b="1">
                <a:solidFill>
                  <a:srgbClr val="0F2D52"/>
                </a:solidFill>
                <a:latin typeface="Calibri"/>
              </a:rPr>
              <a:t>Philosophy in everyday life</a:t>
            </a:r>
          </a:p>
        </p:txBody>
      </p:sp>
      <p:sp>
        <p:nvSpPr>
          <p:cNvPr id="6" name="Rectangle 5"/>
          <p:cNvSpPr/>
          <p:nvPr/>
        </p:nvSpPr>
        <p:spPr>
          <a:xfrm>
            <a:off x="566928" y="950976"/>
            <a:ext cx="11058113" cy="10058"/>
          </a:xfrm>
          <a:prstGeom prst="rect">
            <a:avLst/>
          </a:prstGeom>
          <a:solidFill>
            <a:srgbClr val="D5D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6492240"/>
            <a:ext cx="10143713" cy="219456"/>
          </a:xfrm>
          <a:prstGeom prst="rect">
            <a:avLst/>
          </a:prstGeom>
          <a:noFill/>
        </p:spPr>
        <p:txBody>
          <a:bodyPr wrap="square" lIns="0" rIns="0" tIns="0" bIns="0" anchor="t">
            <a:spAutoFit/>
          </a:bodyPr>
          <a:lstStyle/>
          <a:p>
            <a:pPr algn="l">
              <a:lnSpc>
                <a:spcPct val="106000"/>
              </a:lnSpc>
              <a:spcBef>
                <a:spcPts val="0"/>
              </a:spcBef>
              <a:spcAft>
                <a:spcPts val="0"/>
              </a:spcAft>
            </a:pPr>
            <a:r>
              <a:rPr sz="819" b="0">
                <a:solidFill>
                  <a:srgbClr val="8A94A2"/>
                </a:solidFill>
                <a:latin typeface="Calibri"/>
              </a:rPr>
              <a:t>Philosophy and Its Role in Education and Society</a:t>
            </a:r>
          </a:p>
        </p:txBody>
      </p:sp>
      <p:sp>
        <p:nvSpPr>
          <p:cNvPr id="8" name="TextBox 7"/>
          <p:cNvSpPr txBox="1"/>
          <p:nvPr/>
        </p:nvSpPr>
        <p:spPr>
          <a:xfrm>
            <a:off x="10802081" y="6492240"/>
            <a:ext cx="822960" cy="219456"/>
          </a:xfrm>
          <a:prstGeom prst="rect">
            <a:avLst/>
          </a:prstGeom>
          <a:noFill/>
        </p:spPr>
        <p:txBody>
          <a:bodyPr wrap="square" lIns="0" rIns="0" tIns="0" bIns="0" anchor="t">
            <a:spAutoFit/>
          </a:bodyPr>
          <a:lstStyle/>
          <a:p>
            <a:pPr algn="r">
              <a:lnSpc>
                <a:spcPct val="106000"/>
              </a:lnSpc>
              <a:spcBef>
                <a:spcPts val="0"/>
              </a:spcBef>
              <a:spcAft>
                <a:spcPts val="0"/>
              </a:spcAft>
            </a:pPr>
            <a:r>
              <a:rPr sz="860" b="1">
                <a:solidFill>
                  <a:srgbClr val="5F6B7A"/>
                </a:solidFill>
                <a:latin typeface="Calibri"/>
              </a:rPr>
              <a:t>15 / 18</a:t>
            </a:r>
          </a:p>
        </p:txBody>
      </p:sp>
      <p:sp>
        <p:nvSpPr>
          <p:cNvPr id="9" name="TextBox 8"/>
          <p:cNvSpPr txBox="1"/>
          <p:nvPr/>
        </p:nvSpPr>
        <p:spPr>
          <a:xfrm>
            <a:off x="566928" y="1188720"/>
            <a:ext cx="5394960" cy="566928"/>
          </a:xfrm>
          <a:prstGeom prst="rect">
            <a:avLst/>
          </a:prstGeom>
          <a:noFill/>
        </p:spPr>
        <p:txBody>
          <a:bodyPr wrap="square" lIns="0" rIns="0" tIns="0" bIns="0" anchor="t">
            <a:spAutoFit/>
          </a:bodyPr>
          <a:lstStyle/>
          <a:p>
            <a:pPr algn="l">
              <a:lnSpc>
                <a:spcPct val="110000"/>
              </a:lnSpc>
              <a:spcBef>
                <a:spcPts val="0"/>
              </a:spcBef>
              <a:spcAft>
                <a:spcPts val="0"/>
              </a:spcAft>
            </a:pPr>
            <a:r>
              <a:rPr sz="1220" b="0">
                <a:solidFill>
                  <a:srgbClr val="333A42"/>
                </a:solidFill>
                <a:latin typeface="Calibri"/>
              </a:rPr>
              <a:t>Philosophy is not confined to seminars. It is present whenever a person weighs evidence, asks whether a rule is fair, or decides what they owe to others — which is to say, most days.</a:t>
            </a:r>
          </a:p>
        </p:txBody>
      </p:sp>
      <p:pic>
        <p:nvPicPr>
          <p:cNvPr id="10" name="Picture 9" descr="search_navy.png"/>
          <p:cNvPicPr>
            <a:picLocks noChangeAspect="1"/>
          </p:cNvPicPr>
          <p:nvPr/>
        </p:nvPicPr>
        <p:blipFill>
          <a:blip r:embed="rId2"/>
          <a:stretch>
            <a:fillRect/>
          </a:stretch>
        </p:blipFill>
        <p:spPr>
          <a:xfrm>
            <a:off x="566928" y="1933956"/>
            <a:ext cx="219456" cy="219456"/>
          </a:xfrm>
          <a:prstGeom prst="rect">
            <a:avLst/>
          </a:prstGeom>
        </p:spPr>
      </p:pic>
      <p:sp>
        <p:nvSpPr>
          <p:cNvPr id="11" name="TextBox 10"/>
          <p:cNvSpPr txBox="1"/>
          <p:nvPr/>
        </p:nvSpPr>
        <p:spPr>
          <a:xfrm>
            <a:off x="905256" y="1920240"/>
            <a:ext cx="5056632" cy="274320"/>
          </a:xfrm>
          <a:prstGeom prst="rect">
            <a:avLst/>
          </a:prstGeom>
          <a:noFill/>
        </p:spPr>
        <p:txBody>
          <a:bodyPr wrap="square" lIns="0" rIns="0" tIns="0" bIns="0" anchor="t">
            <a:spAutoFit/>
          </a:bodyPr>
          <a:lstStyle/>
          <a:p>
            <a:pPr algn="l">
              <a:lnSpc>
                <a:spcPct val="102000"/>
              </a:lnSpc>
              <a:spcBef>
                <a:spcPts val="0"/>
              </a:spcBef>
              <a:spcAft>
                <a:spcPts val="0"/>
              </a:spcAft>
            </a:pPr>
            <a:r>
              <a:rPr sz="1080" b="1">
                <a:solidFill>
                  <a:srgbClr val="0F2D52"/>
                </a:solidFill>
                <a:latin typeface="Calibri"/>
              </a:rPr>
              <a:t>Evaluating claims</a:t>
            </a:r>
          </a:p>
        </p:txBody>
      </p:sp>
      <p:sp>
        <p:nvSpPr>
          <p:cNvPr id="12" name="TextBox 11"/>
          <p:cNvSpPr txBox="1"/>
          <p:nvPr/>
        </p:nvSpPr>
        <p:spPr>
          <a:xfrm>
            <a:off x="905256" y="2104034"/>
            <a:ext cx="5056632" cy="557784"/>
          </a:xfrm>
          <a:prstGeom prst="rect">
            <a:avLst/>
          </a:prstGeom>
          <a:noFill/>
        </p:spPr>
        <p:txBody>
          <a:bodyPr wrap="square" lIns="0" rIns="0" tIns="0" bIns="0" anchor="t">
            <a:spAutoFit/>
          </a:bodyPr>
          <a:lstStyle/>
          <a:p>
            <a:pPr algn="l">
              <a:lnSpc>
                <a:spcPct val="106000"/>
              </a:lnSpc>
              <a:spcBef>
                <a:spcPts val="0"/>
              </a:spcBef>
              <a:spcAft>
                <a:spcPts val="0"/>
              </a:spcAft>
            </a:pPr>
            <a:r>
              <a:rPr sz="1010" b="0">
                <a:solidFill>
                  <a:srgbClr val="333A42"/>
                </a:solidFill>
                <a:latin typeface="Calibri"/>
              </a:rPr>
              <a:t>Deciding whether a headline, advertisement or policy claim is supported by evidence.</a:t>
            </a:r>
          </a:p>
        </p:txBody>
      </p:sp>
      <p:pic>
        <p:nvPicPr>
          <p:cNvPr id="13" name="Picture 12" descr="scales_orange.png"/>
          <p:cNvPicPr>
            <a:picLocks noChangeAspect="1"/>
          </p:cNvPicPr>
          <p:nvPr/>
        </p:nvPicPr>
        <p:blipFill>
          <a:blip r:embed="rId3"/>
          <a:stretch>
            <a:fillRect/>
          </a:stretch>
        </p:blipFill>
        <p:spPr>
          <a:xfrm>
            <a:off x="566928" y="2762402"/>
            <a:ext cx="219456" cy="219456"/>
          </a:xfrm>
          <a:prstGeom prst="rect">
            <a:avLst/>
          </a:prstGeom>
        </p:spPr>
      </p:pic>
      <p:sp>
        <p:nvSpPr>
          <p:cNvPr id="14" name="TextBox 13"/>
          <p:cNvSpPr txBox="1"/>
          <p:nvPr/>
        </p:nvSpPr>
        <p:spPr>
          <a:xfrm>
            <a:off x="905256" y="2748686"/>
            <a:ext cx="5056632" cy="274320"/>
          </a:xfrm>
          <a:prstGeom prst="rect">
            <a:avLst/>
          </a:prstGeom>
          <a:noFill/>
        </p:spPr>
        <p:txBody>
          <a:bodyPr wrap="square" lIns="0" rIns="0" tIns="0" bIns="0" anchor="t">
            <a:spAutoFit/>
          </a:bodyPr>
          <a:lstStyle/>
          <a:p>
            <a:pPr algn="l">
              <a:lnSpc>
                <a:spcPct val="102000"/>
              </a:lnSpc>
              <a:spcBef>
                <a:spcPts val="0"/>
              </a:spcBef>
              <a:spcAft>
                <a:spcPts val="0"/>
              </a:spcAft>
            </a:pPr>
            <a:r>
              <a:rPr sz="1080" b="1">
                <a:solidFill>
                  <a:srgbClr val="C25E1A"/>
                </a:solidFill>
                <a:latin typeface="Calibri"/>
              </a:rPr>
              <a:t>Making moral decisions</a:t>
            </a:r>
          </a:p>
        </p:txBody>
      </p:sp>
      <p:sp>
        <p:nvSpPr>
          <p:cNvPr id="15" name="TextBox 14"/>
          <p:cNvSpPr txBox="1"/>
          <p:nvPr/>
        </p:nvSpPr>
        <p:spPr>
          <a:xfrm>
            <a:off x="905256" y="2932480"/>
            <a:ext cx="5056632" cy="557784"/>
          </a:xfrm>
          <a:prstGeom prst="rect">
            <a:avLst/>
          </a:prstGeom>
          <a:noFill/>
        </p:spPr>
        <p:txBody>
          <a:bodyPr wrap="square" lIns="0" rIns="0" tIns="0" bIns="0" anchor="t">
            <a:spAutoFit/>
          </a:bodyPr>
          <a:lstStyle/>
          <a:p>
            <a:pPr algn="l">
              <a:lnSpc>
                <a:spcPct val="106000"/>
              </a:lnSpc>
              <a:spcBef>
                <a:spcPts val="0"/>
              </a:spcBef>
              <a:spcAft>
                <a:spcPts val="0"/>
              </a:spcAft>
            </a:pPr>
            <a:r>
              <a:rPr sz="1010" b="0">
                <a:solidFill>
                  <a:srgbClr val="333A42"/>
                </a:solidFill>
                <a:latin typeface="Calibri"/>
              </a:rPr>
              <a:t>Weighing honesty, loyalty, harm and fairness when they point in different directions.</a:t>
            </a:r>
          </a:p>
        </p:txBody>
      </p:sp>
      <p:pic>
        <p:nvPicPr>
          <p:cNvPr id="16" name="Picture 15" descr="chat_teal.png"/>
          <p:cNvPicPr>
            <a:picLocks noChangeAspect="1"/>
          </p:cNvPicPr>
          <p:nvPr/>
        </p:nvPicPr>
        <p:blipFill>
          <a:blip r:embed="rId4"/>
          <a:stretch>
            <a:fillRect/>
          </a:stretch>
        </p:blipFill>
        <p:spPr>
          <a:xfrm>
            <a:off x="566928" y="3590848"/>
            <a:ext cx="219456" cy="219456"/>
          </a:xfrm>
          <a:prstGeom prst="rect">
            <a:avLst/>
          </a:prstGeom>
        </p:spPr>
      </p:pic>
      <p:sp>
        <p:nvSpPr>
          <p:cNvPr id="17" name="TextBox 16"/>
          <p:cNvSpPr txBox="1"/>
          <p:nvPr/>
        </p:nvSpPr>
        <p:spPr>
          <a:xfrm>
            <a:off x="905256" y="3577132"/>
            <a:ext cx="5056632" cy="274320"/>
          </a:xfrm>
          <a:prstGeom prst="rect">
            <a:avLst/>
          </a:prstGeom>
          <a:noFill/>
        </p:spPr>
        <p:txBody>
          <a:bodyPr wrap="square" lIns="0" rIns="0" tIns="0" bIns="0" anchor="t">
            <a:spAutoFit/>
          </a:bodyPr>
          <a:lstStyle/>
          <a:p>
            <a:pPr algn="l">
              <a:lnSpc>
                <a:spcPct val="102000"/>
              </a:lnSpc>
              <a:spcBef>
                <a:spcPts val="0"/>
              </a:spcBef>
              <a:spcAft>
                <a:spcPts val="0"/>
              </a:spcAft>
            </a:pPr>
            <a:r>
              <a:rPr sz="1080" b="1">
                <a:solidFill>
                  <a:srgbClr val="166B67"/>
                </a:solidFill>
                <a:latin typeface="Calibri"/>
              </a:rPr>
              <a:t>Disagreeing well</a:t>
            </a:r>
          </a:p>
        </p:txBody>
      </p:sp>
      <p:sp>
        <p:nvSpPr>
          <p:cNvPr id="18" name="TextBox 17"/>
          <p:cNvSpPr txBox="1"/>
          <p:nvPr/>
        </p:nvSpPr>
        <p:spPr>
          <a:xfrm>
            <a:off x="905256" y="3760927"/>
            <a:ext cx="5056632" cy="557784"/>
          </a:xfrm>
          <a:prstGeom prst="rect">
            <a:avLst/>
          </a:prstGeom>
          <a:noFill/>
        </p:spPr>
        <p:txBody>
          <a:bodyPr wrap="square" lIns="0" rIns="0" tIns="0" bIns="0" anchor="t">
            <a:spAutoFit/>
          </a:bodyPr>
          <a:lstStyle/>
          <a:p>
            <a:pPr algn="l">
              <a:lnSpc>
                <a:spcPct val="106000"/>
              </a:lnSpc>
              <a:spcBef>
                <a:spcPts val="0"/>
              </a:spcBef>
              <a:spcAft>
                <a:spcPts val="0"/>
              </a:spcAft>
            </a:pPr>
            <a:r>
              <a:rPr sz="1010" b="0">
                <a:solidFill>
                  <a:srgbClr val="333A42"/>
                </a:solidFill>
                <a:latin typeface="Calibri"/>
              </a:rPr>
              <a:t>Distinguishing disagreement about facts from disagreement about values.</a:t>
            </a:r>
          </a:p>
        </p:txBody>
      </p:sp>
      <p:pic>
        <p:nvPicPr>
          <p:cNvPr id="19" name="Picture 18" descr="gear_purple.png"/>
          <p:cNvPicPr>
            <a:picLocks noChangeAspect="1"/>
          </p:cNvPicPr>
          <p:nvPr/>
        </p:nvPicPr>
        <p:blipFill>
          <a:blip r:embed="rId5"/>
          <a:stretch>
            <a:fillRect/>
          </a:stretch>
        </p:blipFill>
        <p:spPr>
          <a:xfrm>
            <a:off x="566928" y="4419295"/>
            <a:ext cx="219456" cy="219456"/>
          </a:xfrm>
          <a:prstGeom prst="rect">
            <a:avLst/>
          </a:prstGeom>
        </p:spPr>
      </p:pic>
      <p:sp>
        <p:nvSpPr>
          <p:cNvPr id="20" name="TextBox 19"/>
          <p:cNvSpPr txBox="1"/>
          <p:nvPr/>
        </p:nvSpPr>
        <p:spPr>
          <a:xfrm>
            <a:off x="905256" y="4405579"/>
            <a:ext cx="5056632" cy="274320"/>
          </a:xfrm>
          <a:prstGeom prst="rect">
            <a:avLst/>
          </a:prstGeom>
          <a:noFill/>
        </p:spPr>
        <p:txBody>
          <a:bodyPr wrap="square" lIns="0" rIns="0" tIns="0" bIns="0" anchor="t">
            <a:spAutoFit/>
          </a:bodyPr>
          <a:lstStyle/>
          <a:p>
            <a:pPr algn="l">
              <a:lnSpc>
                <a:spcPct val="102000"/>
              </a:lnSpc>
              <a:spcBef>
                <a:spcPts val="0"/>
              </a:spcBef>
              <a:spcAft>
                <a:spcPts val="0"/>
              </a:spcAft>
            </a:pPr>
            <a:r>
              <a:rPr sz="1080" b="1">
                <a:solidFill>
                  <a:srgbClr val="5B4B8A"/>
                </a:solidFill>
                <a:latin typeface="Calibri"/>
              </a:rPr>
              <a:t>Professional judgement</a:t>
            </a:r>
          </a:p>
        </p:txBody>
      </p:sp>
      <p:sp>
        <p:nvSpPr>
          <p:cNvPr id="21" name="TextBox 20"/>
          <p:cNvSpPr txBox="1"/>
          <p:nvPr/>
        </p:nvSpPr>
        <p:spPr>
          <a:xfrm>
            <a:off x="905256" y="4589373"/>
            <a:ext cx="5056632" cy="557784"/>
          </a:xfrm>
          <a:prstGeom prst="rect">
            <a:avLst/>
          </a:prstGeom>
          <a:noFill/>
        </p:spPr>
        <p:txBody>
          <a:bodyPr wrap="square" lIns="0" rIns="0" tIns="0" bIns="0" anchor="t">
            <a:spAutoFit/>
          </a:bodyPr>
          <a:lstStyle/>
          <a:p>
            <a:pPr algn="l">
              <a:lnSpc>
                <a:spcPct val="106000"/>
              </a:lnSpc>
              <a:spcBef>
                <a:spcPts val="0"/>
              </a:spcBef>
              <a:spcAft>
                <a:spcPts val="0"/>
              </a:spcAft>
            </a:pPr>
            <a:r>
              <a:rPr sz="1010" b="0">
                <a:solidFill>
                  <a:srgbClr val="333A42"/>
                </a:solidFill>
                <a:latin typeface="Calibri"/>
              </a:rPr>
              <a:t>Engineers, doctors and teachers apply codes that encode ethical reasoning.</a:t>
            </a:r>
          </a:p>
        </p:txBody>
      </p:sp>
      <p:pic>
        <p:nvPicPr>
          <p:cNvPr id="22" name="Picture 21" descr="bulb_crimson.png"/>
          <p:cNvPicPr>
            <a:picLocks noChangeAspect="1"/>
          </p:cNvPicPr>
          <p:nvPr/>
        </p:nvPicPr>
        <p:blipFill>
          <a:blip r:embed="rId6"/>
          <a:stretch>
            <a:fillRect/>
          </a:stretch>
        </p:blipFill>
        <p:spPr>
          <a:xfrm>
            <a:off x="566928" y="5247741"/>
            <a:ext cx="219456" cy="219456"/>
          </a:xfrm>
          <a:prstGeom prst="rect">
            <a:avLst/>
          </a:prstGeom>
        </p:spPr>
      </p:pic>
      <p:sp>
        <p:nvSpPr>
          <p:cNvPr id="23" name="TextBox 22"/>
          <p:cNvSpPr txBox="1"/>
          <p:nvPr/>
        </p:nvSpPr>
        <p:spPr>
          <a:xfrm>
            <a:off x="905256" y="5234025"/>
            <a:ext cx="5056632" cy="274320"/>
          </a:xfrm>
          <a:prstGeom prst="rect">
            <a:avLst/>
          </a:prstGeom>
          <a:noFill/>
        </p:spPr>
        <p:txBody>
          <a:bodyPr wrap="square" lIns="0" rIns="0" tIns="0" bIns="0" anchor="t">
            <a:spAutoFit/>
          </a:bodyPr>
          <a:lstStyle/>
          <a:p>
            <a:pPr algn="l">
              <a:lnSpc>
                <a:spcPct val="102000"/>
              </a:lnSpc>
              <a:spcBef>
                <a:spcPts val="0"/>
              </a:spcBef>
              <a:spcAft>
                <a:spcPts val="0"/>
              </a:spcAft>
            </a:pPr>
            <a:r>
              <a:rPr sz="1080" b="1">
                <a:solidFill>
                  <a:srgbClr val="9E2B2B"/>
                </a:solidFill>
                <a:latin typeface="Calibri"/>
              </a:rPr>
              <a:t>Living with uncertainty</a:t>
            </a:r>
          </a:p>
        </p:txBody>
      </p:sp>
      <p:sp>
        <p:nvSpPr>
          <p:cNvPr id="24" name="TextBox 23"/>
          <p:cNvSpPr txBox="1"/>
          <p:nvPr/>
        </p:nvSpPr>
        <p:spPr>
          <a:xfrm>
            <a:off x="905256" y="5417820"/>
            <a:ext cx="5056632" cy="557784"/>
          </a:xfrm>
          <a:prstGeom prst="rect">
            <a:avLst/>
          </a:prstGeom>
          <a:noFill/>
        </p:spPr>
        <p:txBody>
          <a:bodyPr wrap="square" lIns="0" rIns="0" tIns="0" bIns="0" anchor="t">
            <a:spAutoFit/>
          </a:bodyPr>
          <a:lstStyle/>
          <a:p>
            <a:pPr algn="l">
              <a:lnSpc>
                <a:spcPct val="106000"/>
              </a:lnSpc>
              <a:spcBef>
                <a:spcPts val="0"/>
              </a:spcBef>
              <a:spcAft>
                <a:spcPts val="0"/>
              </a:spcAft>
            </a:pPr>
            <a:r>
              <a:rPr sz="1010" b="0">
                <a:solidFill>
                  <a:srgbClr val="333A42"/>
                </a:solidFill>
                <a:latin typeface="Calibri"/>
              </a:rPr>
              <a:t>Acting reasonably without guarantees, and revising beliefs when evidence changes.</a:t>
            </a:r>
          </a:p>
        </p:txBody>
      </p:sp>
      <p:pic>
        <p:nvPicPr>
          <p:cNvPr id="25" name="Picture 24" descr="children_learning.jpg"/>
          <p:cNvPicPr>
            <a:picLocks noChangeAspect="1"/>
          </p:cNvPicPr>
          <p:nvPr/>
        </p:nvPicPr>
        <p:blipFill>
          <a:blip r:embed="rId7"/>
          <a:srcRect t="35247" b="35247"/>
          <a:stretch>
            <a:fillRect/>
          </a:stretch>
        </p:blipFill>
        <p:spPr>
          <a:xfrm>
            <a:off x="6263640" y="1152144"/>
            <a:ext cx="5361401" cy="1581911"/>
          </a:xfrm>
          <a:prstGeom prst="rect">
            <a:avLst/>
          </a:prstGeom>
        </p:spPr>
      </p:pic>
      <p:sp>
        <p:nvSpPr>
          <p:cNvPr id="26" name="Rectangle 25"/>
          <p:cNvSpPr/>
          <p:nvPr/>
        </p:nvSpPr>
        <p:spPr>
          <a:xfrm>
            <a:off x="6263640" y="2734056"/>
            <a:ext cx="5361401" cy="475488"/>
          </a:xfrm>
          <a:prstGeom prst="rect">
            <a:avLst/>
          </a:prstGeom>
          <a:solidFill>
            <a:srgbClr val="EEF3F9"/>
          </a:solidFill>
          <a:ln w="9525">
            <a:solidFill>
              <a:srgbClr val="D5DA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391656" y="2802636"/>
            <a:ext cx="5105369" cy="347472"/>
          </a:xfrm>
          <a:prstGeom prst="rect">
            <a:avLst/>
          </a:prstGeom>
          <a:noFill/>
        </p:spPr>
        <p:txBody>
          <a:bodyPr wrap="square" lIns="0" rIns="0" tIns="0" bIns="0" anchor="t">
            <a:spAutoFit/>
          </a:bodyPr>
          <a:lstStyle/>
          <a:p>
            <a:pPr algn="l">
              <a:lnSpc>
                <a:spcPct val="105000"/>
              </a:lnSpc>
              <a:spcBef>
                <a:spcPts val="0"/>
              </a:spcBef>
              <a:spcAft>
                <a:spcPts val="0"/>
              </a:spcAft>
            </a:pPr>
            <a:r>
              <a:rPr sz="1040" b="0">
                <a:solidFill>
                  <a:srgbClr val="333A42"/>
                </a:solidFill>
                <a:latin typeface="Calibri"/>
              </a:rPr>
              <a:t>Children at school. The habits of questioning and justifying begin early, long before they are called philosophy.</a:t>
            </a:r>
          </a:p>
        </p:txBody>
      </p:sp>
      <p:sp>
        <p:nvSpPr>
          <p:cNvPr id="28" name="TextBox 27"/>
          <p:cNvSpPr txBox="1"/>
          <p:nvPr/>
        </p:nvSpPr>
        <p:spPr>
          <a:xfrm>
            <a:off x="6263640" y="3246120"/>
            <a:ext cx="5361401" cy="219456"/>
          </a:xfrm>
          <a:prstGeom prst="rect">
            <a:avLst/>
          </a:prstGeom>
          <a:noFill/>
        </p:spPr>
        <p:txBody>
          <a:bodyPr wrap="square" lIns="0" rIns="0" tIns="0" bIns="0" anchor="t">
            <a:spAutoFit/>
          </a:bodyPr>
          <a:lstStyle/>
          <a:p>
            <a:pPr algn="l">
              <a:lnSpc>
                <a:spcPct val="100000"/>
              </a:lnSpc>
              <a:spcBef>
                <a:spcPts val="0"/>
              </a:spcBef>
              <a:spcAft>
                <a:spcPts val="0"/>
              </a:spcAft>
            </a:pPr>
            <a:r>
              <a:rPr sz="720" b="0">
                <a:solidFill>
                  <a:srgbClr val="8A94A2"/>
                </a:solidFill>
                <a:latin typeface="Calibri"/>
              </a:rPr>
              <a:t>Image: Norbertov campus.jpg — Bara Zar (CC BY-SA 4.0), via Wikimedia Commons</a:t>
            </a:r>
          </a:p>
        </p:txBody>
      </p:sp>
      <p:pic>
        <p:nvPicPr>
          <p:cNvPr id="29" name="Picture 28" descr="lecture_hall.jpg"/>
          <p:cNvPicPr>
            <a:picLocks noChangeAspect="1"/>
          </p:cNvPicPr>
          <p:nvPr/>
        </p:nvPicPr>
        <p:blipFill>
          <a:blip r:embed="rId8"/>
          <a:srcRect t="31499" b="31499"/>
          <a:stretch>
            <a:fillRect/>
          </a:stretch>
        </p:blipFill>
        <p:spPr>
          <a:xfrm>
            <a:off x="6263640" y="3675888"/>
            <a:ext cx="5361401" cy="1581911"/>
          </a:xfrm>
          <a:prstGeom prst="rect">
            <a:avLst/>
          </a:prstGeom>
        </p:spPr>
      </p:pic>
      <p:sp>
        <p:nvSpPr>
          <p:cNvPr id="30" name="Rectangle 29"/>
          <p:cNvSpPr/>
          <p:nvPr/>
        </p:nvSpPr>
        <p:spPr>
          <a:xfrm>
            <a:off x="6263640" y="5257800"/>
            <a:ext cx="5361401" cy="475488"/>
          </a:xfrm>
          <a:prstGeom prst="rect">
            <a:avLst/>
          </a:prstGeom>
          <a:solidFill>
            <a:srgbClr val="EEF3F9"/>
          </a:solidFill>
          <a:ln w="9525">
            <a:solidFill>
              <a:srgbClr val="D5DA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391656" y="5326380"/>
            <a:ext cx="5105369" cy="347472"/>
          </a:xfrm>
          <a:prstGeom prst="rect">
            <a:avLst/>
          </a:prstGeom>
          <a:noFill/>
        </p:spPr>
        <p:txBody>
          <a:bodyPr wrap="square" lIns="0" rIns="0" tIns="0" bIns="0" anchor="t">
            <a:spAutoFit/>
          </a:bodyPr>
          <a:lstStyle/>
          <a:p>
            <a:pPr algn="l">
              <a:lnSpc>
                <a:spcPct val="105000"/>
              </a:lnSpc>
              <a:spcBef>
                <a:spcPts val="0"/>
              </a:spcBef>
              <a:spcAft>
                <a:spcPts val="0"/>
              </a:spcAft>
            </a:pPr>
            <a:r>
              <a:rPr sz="1040" b="0">
                <a:solidFill>
                  <a:srgbClr val="333A42"/>
                </a:solidFill>
                <a:latin typeface="Calibri"/>
              </a:rPr>
              <a:t>A university teaching space. Formal education is where everyday reasoning is examined systematically for the first time.</a:t>
            </a:r>
          </a:p>
        </p:txBody>
      </p:sp>
      <p:sp>
        <p:nvSpPr>
          <p:cNvPr id="32" name="TextBox 31"/>
          <p:cNvSpPr txBox="1"/>
          <p:nvPr/>
        </p:nvSpPr>
        <p:spPr>
          <a:xfrm>
            <a:off x="6263640" y="5769864"/>
            <a:ext cx="5361401" cy="219456"/>
          </a:xfrm>
          <a:prstGeom prst="rect">
            <a:avLst/>
          </a:prstGeom>
          <a:noFill/>
        </p:spPr>
        <p:txBody>
          <a:bodyPr wrap="square" lIns="0" rIns="0" tIns="0" bIns="0" anchor="t">
            <a:spAutoFit/>
          </a:bodyPr>
          <a:lstStyle/>
          <a:p>
            <a:pPr algn="l">
              <a:lnSpc>
                <a:spcPct val="100000"/>
              </a:lnSpc>
              <a:spcBef>
                <a:spcPts val="0"/>
              </a:spcBef>
              <a:spcAft>
                <a:spcPts val="0"/>
              </a:spcAft>
            </a:pPr>
            <a:r>
              <a:rPr sz="720" b="0">
                <a:solidFill>
                  <a:srgbClr val="8A94A2"/>
                </a:solidFill>
                <a:latin typeface="Calibri"/>
              </a:rPr>
              <a:t>Image: Shaffer Art Building, Syracuse University 01.jpg — Kiran891 (CC BY-SA 4.0), via Wikimedia Commons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6012" cy="6858000"/>
          </a:xfrm>
          <a:prstGeom prst="rect">
            <a:avLst/>
          </a:prstGeom>
          <a:solidFill>
            <a:srgbClr val="C25E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56616"/>
            <a:ext cx="11058113" cy="219456"/>
          </a:xfrm>
          <a:prstGeom prst="rect">
            <a:avLst/>
          </a:prstGeom>
          <a:noFill/>
        </p:spPr>
        <p:txBody>
          <a:bodyPr wrap="square" lIns="0" rIns="0" tIns="0" bIns="0" anchor="t">
            <a:spAutoFit/>
          </a:bodyPr>
          <a:lstStyle/>
          <a:p>
            <a:pPr algn="l">
              <a:lnSpc>
                <a:spcPct val="106000"/>
              </a:lnSpc>
              <a:spcBef>
                <a:spcPts val="0"/>
              </a:spcBef>
              <a:spcAft>
                <a:spcPts val="0"/>
              </a:spcAft>
            </a:pPr>
            <a:r>
              <a:rPr sz="960" b="1">
                <a:solidFill>
                  <a:srgbClr val="C25E1A"/>
                </a:solidFill>
                <a:latin typeface="Calibri"/>
              </a:rPr>
              <a:t>DISCUSSION</a:t>
            </a:r>
          </a:p>
        </p:txBody>
      </p:sp>
      <p:sp>
        <p:nvSpPr>
          <p:cNvPr id="5" name="TextBox 4"/>
          <p:cNvSpPr txBox="1"/>
          <p:nvPr/>
        </p:nvSpPr>
        <p:spPr>
          <a:xfrm>
            <a:off x="566928" y="557784"/>
            <a:ext cx="9960833" cy="566928"/>
          </a:xfrm>
          <a:prstGeom prst="rect">
            <a:avLst/>
          </a:prstGeom>
          <a:noFill/>
        </p:spPr>
        <p:txBody>
          <a:bodyPr wrap="square" lIns="0" rIns="0" tIns="0" bIns="0" anchor="t">
            <a:spAutoFit/>
          </a:bodyPr>
          <a:lstStyle/>
          <a:p>
            <a:pPr algn="l">
              <a:lnSpc>
                <a:spcPct val="100000"/>
              </a:lnSpc>
              <a:spcBef>
                <a:spcPts val="0"/>
              </a:spcBef>
              <a:spcAft>
                <a:spcPts val="0"/>
              </a:spcAft>
            </a:pPr>
            <a:r>
              <a:rPr sz="2500" b="1">
                <a:solidFill>
                  <a:srgbClr val="0F2D52"/>
                </a:solidFill>
                <a:latin typeface="Calibri"/>
              </a:rPr>
              <a:t>Implications for education and society</a:t>
            </a:r>
          </a:p>
        </p:txBody>
      </p:sp>
      <p:sp>
        <p:nvSpPr>
          <p:cNvPr id="6" name="Rectangle 5"/>
          <p:cNvSpPr/>
          <p:nvPr/>
        </p:nvSpPr>
        <p:spPr>
          <a:xfrm>
            <a:off x="566928" y="950976"/>
            <a:ext cx="11058113" cy="10058"/>
          </a:xfrm>
          <a:prstGeom prst="rect">
            <a:avLst/>
          </a:prstGeom>
          <a:solidFill>
            <a:srgbClr val="D5D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6492240"/>
            <a:ext cx="10143713" cy="219456"/>
          </a:xfrm>
          <a:prstGeom prst="rect">
            <a:avLst/>
          </a:prstGeom>
          <a:noFill/>
        </p:spPr>
        <p:txBody>
          <a:bodyPr wrap="square" lIns="0" rIns="0" tIns="0" bIns="0" anchor="t">
            <a:spAutoFit/>
          </a:bodyPr>
          <a:lstStyle/>
          <a:p>
            <a:pPr algn="l">
              <a:lnSpc>
                <a:spcPct val="106000"/>
              </a:lnSpc>
              <a:spcBef>
                <a:spcPts val="0"/>
              </a:spcBef>
              <a:spcAft>
                <a:spcPts val="0"/>
              </a:spcAft>
            </a:pPr>
            <a:r>
              <a:rPr sz="819" b="0">
                <a:solidFill>
                  <a:srgbClr val="8A94A2"/>
                </a:solidFill>
                <a:latin typeface="Calibri"/>
              </a:rPr>
              <a:t>Philosophy and Its Role in Education and Society</a:t>
            </a:r>
          </a:p>
        </p:txBody>
      </p:sp>
      <p:sp>
        <p:nvSpPr>
          <p:cNvPr id="8" name="TextBox 7"/>
          <p:cNvSpPr txBox="1"/>
          <p:nvPr/>
        </p:nvSpPr>
        <p:spPr>
          <a:xfrm>
            <a:off x="10802081" y="6492240"/>
            <a:ext cx="822960" cy="219456"/>
          </a:xfrm>
          <a:prstGeom prst="rect">
            <a:avLst/>
          </a:prstGeom>
          <a:noFill/>
        </p:spPr>
        <p:txBody>
          <a:bodyPr wrap="square" lIns="0" rIns="0" tIns="0" bIns="0" anchor="t">
            <a:spAutoFit/>
          </a:bodyPr>
          <a:lstStyle/>
          <a:p>
            <a:pPr algn="r">
              <a:lnSpc>
                <a:spcPct val="106000"/>
              </a:lnSpc>
              <a:spcBef>
                <a:spcPts val="0"/>
              </a:spcBef>
              <a:spcAft>
                <a:spcPts val="0"/>
              </a:spcAft>
            </a:pPr>
            <a:r>
              <a:rPr sz="860" b="1">
                <a:solidFill>
                  <a:srgbClr val="5F6B7A"/>
                </a:solidFill>
                <a:latin typeface="Calibri"/>
              </a:rPr>
              <a:t>16 / 18</a:t>
            </a:r>
          </a:p>
        </p:txBody>
      </p:sp>
      <p:sp>
        <p:nvSpPr>
          <p:cNvPr id="9" name="TextBox 8"/>
          <p:cNvSpPr txBox="1"/>
          <p:nvPr/>
        </p:nvSpPr>
        <p:spPr>
          <a:xfrm>
            <a:off x="566928" y="1188720"/>
            <a:ext cx="5394960" cy="566928"/>
          </a:xfrm>
          <a:prstGeom prst="rect">
            <a:avLst/>
          </a:prstGeom>
          <a:noFill/>
        </p:spPr>
        <p:txBody>
          <a:bodyPr wrap="square" lIns="0" rIns="0" tIns="0" bIns="0" anchor="t">
            <a:spAutoFit/>
          </a:bodyPr>
          <a:lstStyle/>
          <a:p>
            <a:pPr algn="l">
              <a:lnSpc>
                <a:spcPct val="110000"/>
              </a:lnSpc>
              <a:spcBef>
                <a:spcPts val="0"/>
              </a:spcBef>
              <a:spcAft>
                <a:spcPts val="0"/>
              </a:spcAft>
            </a:pPr>
            <a:r>
              <a:rPr sz="1200" b="0">
                <a:solidFill>
                  <a:srgbClr val="333A42"/>
                </a:solidFill>
                <a:latin typeface="Calibri"/>
              </a:rPr>
              <a:t>If the argument so far is accepted, then three sets of consequences follow. These are reasoned proposals drawn from the literature, not empirical findings of my own.</a:t>
            </a:r>
          </a:p>
        </p:txBody>
      </p:sp>
      <p:pic>
        <p:nvPicPr>
          <p:cNvPr id="10" name="Picture 9" descr="cap_navy.png"/>
          <p:cNvPicPr>
            <a:picLocks noChangeAspect="1"/>
          </p:cNvPicPr>
          <p:nvPr/>
        </p:nvPicPr>
        <p:blipFill>
          <a:blip r:embed="rId2"/>
          <a:stretch>
            <a:fillRect/>
          </a:stretch>
        </p:blipFill>
        <p:spPr>
          <a:xfrm>
            <a:off x="566928" y="1915668"/>
            <a:ext cx="219456" cy="219456"/>
          </a:xfrm>
          <a:prstGeom prst="rect">
            <a:avLst/>
          </a:prstGeom>
        </p:spPr>
      </p:pic>
      <p:sp>
        <p:nvSpPr>
          <p:cNvPr id="11" name="TextBox 10"/>
          <p:cNvSpPr txBox="1"/>
          <p:nvPr/>
        </p:nvSpPr>
        <p:spPr>
          <a:xfrm>
            <a:off x="905256" y="1901952"/>
            <a:ext cx="5056632" cy="274320"/>
          </a:xfrm>
          <a:prstGeom prst="rect">
            <a:avLst/>
          </a:prstGeom>
          <a:noFill/>
        </p:spPr>
        <p:txBody>
          <a:bodyPr wrap="square" lIns="0" rIns="0" tIns="0" bIns="0" anchor="t">
            <a:spAutoFit/>
          </a:bodyPr>
          <a:lstStyle/>
          <a:p>
            <a:pPr algn="l">
              <a:lnSpc>
                <a:spcPct val="102000"/>
              </a:lnSpc>
              <a:spcBef>
                <a:spcPts val="0"/>
              </a:spcBef>
              <a:spcAft>
                <a:spcPts val="0"/>
              </a:spcAft>
            </a:pPr>
            <a:r>
              <a:rPr sz="1080" b="1">
                <a:solidFill>
                  <a:srgbClr val="0F2D52"/>
                </a:solidFill>
                <a:latin typeface="Calibri"/>
              </a:rPr>
              <a:t>Curriculum</a:t>
            </a:r>
          </a:p>
        </p:txBody>
      </p:sp>
      <p:sp>
        <p:nvSpPr>
          <p:cNvPr id="12" name="TextBox 11"/>
          <p:cNvSpPr txBox="1"/>
          <p:nvPr/>
        </p:nvSpPr>
        <p:spPr>
          <a:xfrm>
            <a:off x="905256" y="2085746"/>
            <a:ext cx="5056632" cy="561441"/>
          </a:xfrm>
          <a:prstGeom prst="rect">
            <a:avLst/>
          </a:prstGeom>
          <a:noFill/>
        </p:spPr>
        <p:txBody>
          <a:bodyPr wrap="square" lIns="0" rIns="0" tIns="0" bIns="0" anchor="t">
            <a:spAutoFit/>
          </a:bodyPr>
          <a:lstStyle/>
          <a:p>
            <a:pPr algn="l">
              <a:lnSpc>
                <a:spcPct val="106000"/>
              </a:lnSpc>
              <a:spcBef>
                <a:spcPts val="0"/>
              </a:spcBef>
              <a:spcAft>
                <a:spcPts val="0"/>
              </a:spcAft>
            </a:pPr>
            <a:r>
              <a:rPr sz="1010" b="0">
                <a:solidFill>
                  <a:srgbClr val="333A42"/>
                </a:solidFill>
                <a:latin typeface="Calibri"/>
              </a:rPr>
              <a:t>Protect philosophy, ethics and logic within the curriculum rather than treating them as optional.</a:t>
            </a:r>
          </a:p>
        </p:txBody>
      </p:sp>
      <p:pic>
        <p:nvPicPr>
          <p:cNvPr id="13" name="Picture 12" descr="search_orange.png"/>
          <p:cNvPicPr>
            <a:picLocks noChangeAspect="1"/>
          </p:cNvPicPr>
          <p:nvPr/>
        </p:nvPicPr>
        <p:blipFill>
          <a:blip r:embed="rId3"/>
          <a:stretch>
            <a:fillRect/>
          </a:stretch>
        </p:blipFill>
        <p:spPr>
          <a:xfrm>
            <a:off x="566928" y="2747772"/>
            <a:ext cx="219456" cy="219456"/>
          </a:xfrm>
          <a:prstGeom prst="rect">
            <a:avLst/>
          </a:prstGeom>
        </p:spPr>
      </p:pic>
      <p:sp>
        <p:nvSpPr>
          <p:cNvPr id="14" name="TextBox 13"/>
          <p:cNvSpPr txBox="1"/>
          <p:nvPr/>
        </p:nvSpPr>
        <p:spPr>
          <a:xfrm>
            <a:off x="905256" y="2734056"/>
            <a:ext cx="5056632" cy="274320"/>
          </a:xfrm>
          <a:prstGeom prst="rect">
            <a:avLst/>
          </a:prstGeom>
          <a:noFill/>
        </p:spPr>
        <p:txBody>
          <a:bodyPr wrap="square" lIns="0" rIns="0" tIns="0" bIns="0" anchor="t">
            <a:spAutoFit/>
          </a:bodyPr>
          <a:lstStyle/>
          <a:p>
            <a:pPr algn="l">
              <a:lnSpc>
                <a:spcPct val="102000"/>
              </a:lnSpc>
              <a:spcBef>
                <a:spcPts val="0"/>
              </a:spcBef>
              <a:spcAft>
                <a:spcPts val="0"/>
              </a:spcAft>
            </a:pPr>
            <a:r>
              <a:rPr sz="1080" b="1">
                <a:solidFill>
                  <a:srgbClr val="C25E1A"/>
                </a:solidFill>
                <a:latin typeface="Calibri"/>
              </a:rPr>
              <a:t>Teaching reasoning explicitly</a:t>
            </a:r>
          </a:p>
        </p:txBody>
      </p:sp>
      <p:sp>
        <p:nvSpPr>
          <p:cNvPr id="15" name="TextBox 14"/>
          <p:cNvSpPr txBox="1"/>
          <p:nvPr/>
        </p:nvSpPr>
        <p:spPr>
          <a:xfrm>
            <a:off x="905256" y="2917850"/>
            <a:ext cx="5056632" cy="561441"/>
          </a:xfrm>
          <a:prstGeom prst="rect">
            <a:avLst/>
          </a:prstGeom>
          <a:noFill/>
        </p:spPr>
        <p:txBody>
          <a:bodyPr wrap="square" lIns="0" rIns="0" tIns="0" bIns="0" anchor="t">
            <a:spAutoFit/>
          </a:bodyPr>
          <a:lstStyle/>
          <a:p>
            <a:pPr algn="l">
              <a:lnSpc>
                <a:spcPct val="106000"/>
              </a:lnSpc>
              <a:spcBef>
                <a:spcPts val="0"/>
              </a:spcBef>
              <a:spcAft>
                <a:spcPts val="0"/>
              </a:spcAft>
            </a:pPr>
            <a:r>
              <a:rPr sz="1010" b="0">
                <a:solidFill>
                  <a:srgbClr val="333A42"/>
                </a:solidFill>
                <a:latin typeface="Calibri"/>
              </a:rPr>
              <a:t>Make critical thinking a taught objective, not an incidental by-product.</a:t>
            </a:r>
          </a:p>
        </p:txBody>
      </p:sp>
      <p:pic>
        <p:nvPicPr>
          <p:cNvPr id="16" name="Picture 15" descr="shield_teal.png"/>
          <p:cNvPicPr>
            <a:picLocks noChangeAspect="1"/>
          </p:cNvPicPr>
          <p:nvPr/>
        </p:nvPicPr>
        <p:blipFill>
          <a:blip r:embed="rId4"/>
          <a:stretch>
            <a:fillRect/>
          </a:stretch>
        </p:blipFill>
        <p:spPr>
          <a:xfrm>
            <a:off x="566928" y="3579876"/>
            <a:ext cx="219456" cy="219456"/>
          </a:xfrm>
          <a:prstGeom prst="rect">
            <a:avLst/>
          </a:prstGeom>
        </p:spPr>
      </p:pic>
      <p:sp>
        <p:nvSpPr>
          <p:cNvPr id="17" name="TextBox 16"/>
          <p:cNvSpPr txBox="1"/>
          <p:nvPr/>
        </p:nvSpPr>
        <p:spPr>
          <a:xfrm>
            <a:off x="905256" y="3566160"/>
            <a:ext cx="5056632" cy="274320"/>
          </a:xfrm>
          <a:prstGeom prst="rect">
            <a:avLst/>
          </a:prstGeom>
          <a:noFill/>
        </p:spPr>
        <p:txBody>
          <a:bodyPr wrap="square" lIns="0" rIns="0" tIns="0" bIns="0" anchor="t">
            <a:spAutoFit/>
          </a:bodyPr>
          <a:lstStyle/>
          <a:p>
            <a:pPr algn="l">
              <a:lnSpc>
                <a:spcPct val="102000"/>
              </a:lnSpc>
              <a:spcBef>
                <a:spcPts val="0"/>
              </a:spcBef>
              <a:spcAft>
                <a:spcPts val="0"/>
              </a:spcAft>
            </a:pPr>
            <a:r>
              <a:rPr sz="1080" b="1">
                <a:solidFill>
                  <a:srgbClr val="166B67"/>
                </a:solidFill>
                <a:latin typeface="Calibri"/>
              </a:rPr>
              <a:t>Research ethics in every project</a:t>
            </a:r>
          </a:p>
        </p:txBody>
      </p:sp>
      <p:sp>
        <p:nvSpPr>
          <p:cNvPr id="18" name="TextBox 17"/>
          <p:cNvSpPr txBox="1"/>
          <p:nvPr/>
        </p:nvSpPr>
        <p:spPr>
          <a:xfrm>
            <a:off x="905256" y="3749954"/>
            <a:ext cx="5056632" cy="561441"/>
          </a:xfrm>
          <a:prstGeom prst="rect">
            <a:avLst/>
          </a:prstGeom>
          <a:noFill/>
        </p:spPr>
        <p:txBody>
          <a:bodyPr wrap="square" lIns="0" rIns="0" tIns="0" bIns="0" anchor="t">
            <a:spAutoFit/>
          </a:bodyPr>
          <a:lstStyle/>
          <a:p>
            <a:pPr algn="l">
              <a:lnSpc>
                <a:spcPct val="106000"/>
              </a:lnSpc>
              <a:spcBef>
                <a:spcPts val="0"/>
              </a:spcBef>
              <a:spcAft>
                <a:spcPts val="0"/>
              </a:spcAft>
            </a:pPr>
            <a:r>
              <a:rPr sz="1010" b="0">
                <a:solidFill>
                  <a:srgbClr val="333A42"/>
                </a:solidFill>
                <a:latin typeface="Calibri"/>
              </a:rPr>
              <a:t>Introduce consent, confidentiality and attribution at the start of student projects.</a:t>
            </a:r>
          </a:p>
        </p:txBody>
      </p:sp>
      <p:pic>
        <p:nvPicPr>
          <p:cNvPr id="19" name="Picture 18" descr="people_purple.png"/>
          <p:cNvPicPr>
            <a:picLocks noChangeAspect="1"/>
          </p:cNvPicPr>
          <p:nvPr/>
        </p:nvPicPr>
        <p:blipFill>
          <a:blip r:embed="rId5"/>
          <a:stretch>
            <a:fillRect/>
          </a:stretch>
        </p:blipFill>
        <p:spPr>
          <a:xfrm>
            <a:off x="566928" y="4411979"/>
            <a:ext cx="219456" cy="219456"/>
          </a:xfrm>
          <a:prstGeom prst="rect">
            <a:avLst/>
          </a:prstGeom>
        </p:spPr>
      </p:pic>
      <p:sp>
        <p:nvSpPr>
          <p:cNvPr id="20" name="TextBox 19"/>
          <p:cNvSpPr txBox="1"/>
          <p:nvPr/>
        </p:nvSpPr>
        <p:spPr>
          <a:xfrm>
            <a:off x="905256" y="4398264"/>
            <a:ext cx="5056632" cy="274320"/>
          </a:xfrm>
          <a:prstGeom prst="rect">
            <a:avLst/>
          </a:prstGeom>
          <a:noFill/>
        </p:spPr>
        <p:txBody>
          <a:bodyPr wrap="square" lIns="0" rIns="0" tIns="0" bIns="0" anchor="t">
            <a:spAutoFit/>
          </a:bodyPr>
          <a:lstStyle/>
          <a:p>
            <a:pPr algn="l">
              <a:lnSpc>
                <a:spcPct val="102000"/>
              </a:lnSpc>
              <a:spcBef>
                <a:spcPts val="0"/>
              </a:spcBef>
              <a:spcAft>
                <a:spcPts val="0"/>
              </a:spcAft>
            </a:pPr>
            <a:r>
              <a:rPr sz="1080" b="1">
                <a:solidFill>
                  <a:srgbClr val="5B4B8A"/>
                </a:solidFill>
                <a:latin typeface="Calibri"/>
              </a:rPr>
              <a:t>Pedagogy</a:t>
            </a:r>
          </a:p>
        </p:txBody>
      </p:sp>
      <p:sp>
        <p:nvSpPr>
          <p:cNvPr id="21" name="TextBox 20"/>
          <p:cNvSpPr txBox="1"/>
          <p:nvPr/>
        </p:nvSpPr>
        <p:spPr>
          <a:xfrm>
            <a:off x="905256" y="4582058"/>
            <a:ext cx="5056632" cy="561441"/>
          </a:xfrm>
          <a:prstGeom prst="rect">
            <a:avLst/>
          </a:prstGeom>
          <a:noFill/>
        </p:spPr>
        <p:txBody>
          <a:bodyPr wrap="square" lIns="0" rIns="0" tIns="0" bIns="0" anchor="t">
            <a:spAutoFit/>
          </a:bodyPr>
          <a:lstStyle/>
          <a:p>
            <a:pPr algn="l">
              <a:lnSpc>
                <a:spcPct val="106000"/>
              </a:lnSpc>
              <a:spcBef>
                <a:spcPts val="0"/>
              </a:spcBef>
              <a:spcAft>
                <a:spcPts val="0"/>
              </a:spcAft>
            </a:pPr>
            <a:r>
              <a:rPr sz="1010" b="0">
                <a:solidFill>
                  <a:srgbClr val="333A42"/>
                </a:solidFill>
                <a:latin typeface="Calibri"/>
              </a:rPr>
              <a:t>Model argument and respectful disagreement; use dilemma discussion to build judgement.</a:t>
            </a:r>
          </a:p>
        </p:txBody>
      </p:sp>
      <p:pic>
        <p:nvPicPr>
          <p:cNvPr id="22" name="Picture 21" descr="globe_crimson.png"/>
          <p:cNvPicPr>
            <a:picLocks noChangeAspect="1"/>
          </p:cNvPicPr>
          <p:nvPr/>
        </p:nvPicPr>
        <p:blipFill>
          <a:blip r:embed="rId6"/>
          <a:stretch>
            <a:fillRect/>
          </a:stretch>
        </p:blipFill>
        <p:spPr>
          <a:xfrm>
            <a:off x="566928" y="5244083"/>
            <a:ext cx="219456" cy="219456"/>
          </a:xfrm>
          <a:prstGeom prst="rect">
            <a:avLst/>
          </a:prstGeom>
        </p:spPr>
      </p:pic>
      <p:sp>
        <p:nvSpPr>
          <p:cNvPr id="23" name="TextBox 22"/>
          <p:cNvSpPr txBox="1"/>
          <p:nvPr/>
        </p:nvSpPr>
        <p:spPr>
          <a:xfrm>
            <a:off x="905256" y="5230368"/>
            <a:ext cx="5056632" cy="274320"/>
          </a:xfrm>
          <a:prstGeom prst="rect">
            <a:avLst/>
          </a:prstGeom>
          <a:noFill/>
        </p:spPr>
        <p:txBody>
          <a:bodyPr wrap="square" lIns="0" rIns="0" tIns="0" bIns="0" anchor="t">
            <a:spAutoFit/>
          </a:bodyPr>
          <a:lstStyle/>
          <a:p>
            <a:pPr algn="l">
              <a:lnSpc>
                <a:spcPct val="102000"/>
              </a:lnSpc>
              <a:spcBef>
                <a:spcPts val="0"/>
              </a:spcBef>
              <a:spcAft>
                <a:spcPts val="0"/>
              </a:spcAft>
            </a:pPr>
            <a:r>
              <a:rPr sz="1080" b="1">
                <a:solidFill>
                  <a:srgbClr val="9E2B2B"/>
                </a:solidFill>
                <a:latin typeface="Calibri"/>
              </a:rPr>
              <a:t>Public reasoning</a:t>
            </a:r>
          </a:p>
        </p:txBody>
      </p:sp>
      <p:sp>
        <p:nvSpPr>
          <p:cNvPr id="24" name="TextBox 23"/>
          <p:cNvSpPr txBox="1"/>
          <p:nvPr/>
        </p:nvSpPr>
        <p:spPr>
          <a:xfrm>
            <a:off x="905256" y="5414162"/>
            <a:ext cx="5056632" cy="561441"/>
          </a:xfrm>
          <a:prstGeom prst="rect">
            <a:avLst/>
          </a:prstGeom>
          <a:noFill/>
        </p:spPr>
        <p:txBody>
          <a:bodyPr wrap="square" lIns="0" rIns="0" tIns="0" bIns="0" anchor="t">
            <a:spAutoFit/>
          </a:bodyPr>
          <a:lstStyle/>
          <a:p>
            <a:pPr algn="l">
              <a:lnSpc>
                <a:spcPct val="106000"/>
              </a:lnSpc>
              <a:spcBef>
                <a:spcPts val="0"/>
              </a:spcBef>
              <a:spcAft>
                <a:spcPts val="0"/>
              </a:spcAft>
            </a:pPr>
            <a:r>
              <a:rPr sz="1010" b="0">
                <a:solidFill>
                  <a:srgbClr val="333A42"/>
                </a:solidFill>
                <a:latin typeface="Calibri"/>
              </a:rPr>
              <a:t>Judge public claims by evidence rather than volume; defend equality and freedom as argued principles.</a:t>
            </a:r>
          </a:p>
        </p:txBody>
      </p:sp>
      <p:pic>
        <p:nvPicPr>
          <p:cNvPr id="25" name="Picture 24" descr="s15_implications.png"/>
          <p:cNvPicPr>
            <a:picLocks noChangeAspect="1"/>
          </p:cNvPicPr>
          <p:nvPr/>
        </p:nvPicPr>
        <p:blipFill>
          <a:blip r:embed="rId7"/>
          <a:stretch>
            <a:fillRect/>
          </a:stretch>
        </p:blipFill>
        <p:spPr>
          <a:xfrm>
            <a:off x="6172200" y="2994835"/>
            <a:ext cx="5544281" cy="1398681"/>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6012" cy="6858000"/>
          </a:xfrm>
          <a:prstGeom prst="rect">
            <a:avLst/>
          </a:prstGeom>
          <a:solidFill>
            <a:srgbClr val="C25E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56616"/>
            <a:ext cx="11058113" cy="219456"/>
          </a:xfrm>
          <a:prstGeom prst="rect">
            <a:avLst/>
          </a:prstGeom>
          <a:noFill/>
        </p:spPr>
        <p:txBody>
          <a:bodyPr wrap="square" lIns="0" rIns="0" tIns="0" bIns="0" anchor="t">
            <a:spAutoFit/>
          </a:bodyPr>
          <a:lstStyle/>
          <a:p>
            <a:pPr algn="l">
              <a:lnSpc>
                <a:spcPct val="106000"/>
              </a:lnSpc>
              <a:spcBef>
                <a:spcPts val="0"/>
              </a:spcBef>
              <a:spcAft>
                <a:spcPts val="0"/>
              </a:spcAft>
            </a:pPr>
            <a:r>
              <a:rPr sz="960" b="1">
                <a:solidFill>
                  <a:srgbClr val="C25E1A"/>
                </a:solidFill>
                <a:latin typeface="Calibri"/>
              </a:rPr>
              <a:t>LIMITATIONS</a:t>
            </a:r>
          </a:p>
        </p:txBody>
      </p:sp>
      <p:sp>
        <p:nvSpPr>
          <p:cNvPr id="5" name="TextBox 4"/>
          <p:cNvSpPr txBox="1"/>
          <p:nvPr/>
        </p:nvSpPr>
        <p:spPr>
          <a:xfrm>
            <a:off x="566928" y="557784"/>
            <a:ext cx="9960833" cy="566928"/>
          </a:xfrm>
          <a:prstGeom prst="rect">
            <a:avLst/>
          </a:prstGeom>
          <a:noFill/>
        </p:spPr>
        <p:txBody>
          <a:bodyPr wrap="square" lIns="0" rIns="0" tIns="0" bIns="0" anchor="t">
            <a:spAutoFit/>
          </a:bodyPr>
          <a:lstStyle/>
          <a:p>
            <a:pPr algn="l">
              <a:lnSpc>
                <a:spcPct val="100000"/>
              </a:lnSpc>
              <a:spcBef>
                <a:spcPts val="0"/>
              </a:spcBef>
              <a:spcAft>
                <a:spcPts val="0"/>
              </a:spcAft>
            </a:pPr>
            <a:r>
              <a:rPr sz="2500" b="1">
                <a:solidFill>
                  <a:srgbClr val="0F2D52"/>
                </a:solidFill>
                <a:latin typeface="Calibri"/>
              </a:rPr>
              <a:t>Limitations and areas for further study</a:t>
            </a:r>
          </a:p>
        </p:txBody>
      </p:sp>
      <p:sp>
        <p:nvSpPr>
          <p:cNvPr id="6" name="Rectangle 5"/>
          <p:cNvSpPr/>
          <p:nvPr/>
        </p:nvSpPr>
        <p:spPr>
          <a:xfrm>
            <a:off x="566928" y="950976"/>
            <a:ext cx="11058113" cy="10058"/>
          </a:xfrm>
          <a:prstGeom prst="rect">
            <a:avLst/>
          </a:prstGeom>
          <a:solidFill>
            <a:srgbClr val="D5D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6492240"/>
            <a:ext cx="10143713" cy="219456"/>
          </a:xfrm>
          <a:prstGeom prst="rect">
            <a:avLst/>
          </a:prstGeom>
          <a:noFill/>
        </p:spPr>
        <p:txBody>
          <a:bodyPr wrap="square" lIns="0" rIns="0" tIns="0" bIns="0" anchor="t">
            <a:spAutoFit/>
          </a:bodyPr>
          <a:lstStyle/>
          <a:p>
            <a:pPr algn="l">
              <a:lnSpc>
                <a:spcPct val="106000"/>
              </a:lnSpc>
              <a:spcBef>
                <a:spcPts val="0"/>
              </a:spcBef>
              <a:spcAft>
                <a:spcPts val="0"/>
              </a:spcAft>
            </a:pPr>
            <a:r>
              <a:rPr sz="819" b="0">
                <a:solidFill>
                  <a:srgbClr val="8A94A2"/>
                </a:solidFill>
                <a:latin typeface="Calibri"/>
              </a:rPr>
              <a:t>Philosophy and Its Role in Education and Society</a:t>
            </a:r>
          </a:p>
        </p:txBody>
      </p:sp>
      <p:sp>
        <p:nvSpPr>
          <p:cNvPr id="8" name="TextBox 7"/>
          <p:cNvSpPr txBox="1"/>
          <p:nvPr/>
        </p:nvSpPr>
        <p:spPr>
          <a:xfrm>
            <a:off x="10802081" y="6492240"/>
            <a:ext cx="822960" cy="219456"/>
          </a:xfrm>
          <a:prstGeom prst="rect">
            <a:avLst/>
          </a:prstGeom>
          <a:noFill/>
        </p:spPr>
        <p:txBody>
          <a:bodyPr wrap="square" lIns="0" rIns="0" tIns="0" bIns="0" anchor="t">
            <a:spAutoFit/>
          </a:bodyPr>
          <a:lstStyle/>
          <a:p>
            <a:pPr algn="r">
              <a:lnSpc>
                <a:spcPct val="106000"/>
              </a:lnSpc>
              <a:spcBef>
                <a:spcPts val="0"/>
              </a:spcBef>
              <a:spcAft>
                <a:spcPts val="0"/>
              </a:spcAft>
            </a:pPr>
            <a:r>
              <a:rPr sz="860" b="1">
                <a:solidFill>
                  <a:srgbClr val="5F6B7A"/>
                </a:solidFill>
                <a:latin typeface="Calibri"/>
              </a:rPr>
              <a:t>17 / 18</a:t>
            </a:r>
          </a:p>
        </p:txBody>
      </p:sp>
      <p:sp>
        <p:nvSpPr>
          <p:cNvPr id="9" name="TextBox 8"/>
          <p:cNvSpPr txBox="1"/>
          <p:nvPr/>
        </p:nvSpPr>
        <p:spPr>
          <a:xfrm>
            <a:off x="566928" y="1188720"/>
            <a:ext cx="5394960" cy="566928"/>
          </a:xfrm>
          <a:prstGeom prst="rect">
            <a:avLst/>
          </a:prstGeom>
          <a:noFill/>
        </p:spPr>
        <p:txBody>
          <a:bodyPr wrap="square" lIns="0" rIns="0" tIns="0" bIns="0" anchor="t">
            <a:spAutoFit/>
          </a:bodyPr>
          <a:lstStyle/>
          <a:p>
            <a:pPr algn="l">
              <a:lnSpc>
                <a:spcPct val="110000"/>
              </a:lnSpc>
              <a:spcBef>
                <a:spcPts val="0"/>
              </a:spcBef>
              <a:spcAft>
                <a:spcPts val="0"/>
              </a:spcAft>
            </a:pPr>
            <a:r>
              <a:rPr sz="1220" b="0">
                <a:solidFill>
                  <a:srgbClr val="333A42"/>
                </a:solidFill>
                <a:latin typeface="Calibri"/>
              </a:rPr>
              <a:t>An honest account of a conceptual study must state what it cannot establish. Four limitations bound the claims made in this presentation, and each points to a direction for further work.</a:t>
            </a:r>
          </a:p>
        </p:txBody>
      </p:sp>
      <p:pic>
        <p:nvPicPr>
          <p:cNvPr id="10" name="Picture 9" descr="quest_navy.png"/>
          <p:cNvPicPr>
            <a:picLocks noChangeAspect="1"/>
          </p:cNvPicPr>
          <p:nvPr/>
        </p:nvPicPr>
        <p:blipFill>
          <a:blip r:embed="rId2"/>
          <a:stretch>
            <a:fillRect/>
          </a:stretch>
        </p:blipFill>
        <p:spPr>
          <a:xfrm>
            <a:off x="566928" y="1933956"/>
            <a:ext cx="219456" cy="219456"/>
          </a:xfrm>
          <a:prstGeom prst="rect">
            <a:avLst/>
          </a:prstGeom>
        </p:spPr>
      </p:pic>
      <p:sp>
        <p:nvSpPr>
          <p:cNvPr id="11" name="TextBox 10"/>
          <p:cNvSpPr txBox="1"/>
          <p:nvPr/>
        </p:nvSpPr>
        <p:spPr>
          <a:xfrm>
            <a:off x="905256" y="1920240"/>
            <a:ext cx="5056632" cy="274320"/>
          </a:xfrm>
          <a:prstGeom prst="rect">
            <a:avLst/>
          </a:prstGeom>
          <a:noFill/>
        </p:spPr>
        <p:txBody>
          <a:bodyPr wrap="square" lIns="0" rIns="0" tIns="0" bIns="0" anchor="t">
            <a:spAutoFit/>
          </a:bodyPr>
          <a:lstStyle/>
          <a:p>
            <a:pPr algn="l">
              <a:lnSpc>
                <a:spcPct val="102000"/>
              </a:lnSpc>
              <a:spcBef>
                <a:spcPts val="0"/>
              </a:spcBef>
              <a:spcAft>
                <a:spcPts val="0"/>
              </a:spcAft>
            </a:pPr>
            <a:r>
              <a:rPr sz="1080" b="1">
                <a:solidFill>
                  <a:srgbClr val="0F2D52"/>
                </a:solidFill>
                <a:latin typeface="Calibri"/>
              </a:rPr>
              <a:t>No primary data</a:t>
            </a:r>
          </a:p>
        </p:txBody>
      </p:sp>
      <p:sp>
        <p:nvSpPr>
          <p:cNvPr id="12" name="TextBox 11"/>
          <p:cNvSpPr txBox="1"/>
          <p:nvPr/>
        </p:nvSpPr>
        <p:spPr>
          <a:xfrm>
            <a:off x="905256" y="2104034"/>
            <a:ext cx="5056632" cy="557784"/>
          </a:xfrm>
          <a:prstGeom prst="rect">
            <a:avLst/>
          </a:prstGeom>
          <a:noFill/>
        </p:spPr>
        <p:txBody>
          <a:bodyPr wrap="square" lIns="0" rIns="0" tIns="0" bIns="0" anchor="t">
            <a:spAutoFit/>
          </a:bodyPr>
          <a:lstStyle/>
          <a:p>
            <a:pPr algn="l">
              <a:lnSpc>
                <a:spcPct val="106000"/>
              </a:lnSpc>
              <a:spcBef>
                <a:spcPts val="0"/>
              </a:spcBef>
              <a:spcAft>
                <a:spcPts val="0"/>
              </a:spcAft>
            </a:pPr>
            <a:r>
              <a:rPr sz="1010" b="0">
                <a:solidFill>
                  <a:srgbClr val="333A42"/>
                </a:solidFill>
                <a:latin typeface="Calibri"/>
              </a:rPr>
              <a:t>This is a synthesis of published scholarship. No experiment, survey or intervention was conducted.</a:t>
            </a:r>
          </a:p>
        </p:txBody>
      </p:sp>
      <p:pic>
        <p:nvPicPr>
          <p:cNvPr id="13" name="Picture 12" descr="globe_orange.png"/>
          <p:cNvPicPr>
            <a:picLocks noChangeAspect="1"/>
          </p:cNvPicPr>
          <p:nvPr/>
        </p:nvPicPr>
        <p:blipFill>
          <a:blip r:embed="rId3"/>
          <a:stretch>
            <a:fillRect/>
          </a:stretch>
        </p:blipFill>
        <p:spPr>
          <a:xfrm>
            <a:off x="566928" y="2762402"/>
            <a:ext cx="219456" cy="219456"/>
          </a:xfrm>
          <a:prstGeom prst="rect">
            <a:avLst/>
          </a:prstGeom>
        </p:spPr>
      </p:pic>
      <p:sp>
        <p:nvSpPr>
          <p:cNvPr id="14" name="TextBox 13"/>
          <p:cNvSpPr txBox="1"/>
          <p:nvPr/>
        </p:nvSpPr>
        <p:spPr>
          <a:xfrm>
            <a:off x="905256" y="2748686"/>
            <a:ext cx="5056632" cy="274320"/>
          </a:xfrm>
          <a:prstGeom prst="rect">
            <a:avLst/>
          </a:prstGeom>
          <a:noFill/>
        </p:spPr>
        <p:txBody>
          <a:bodyPr wrap="square" lIns="0" rIns="0" tIns="0" bIns="0" anchor="t">
            <a:spAutoFit/>
          </a:bodyPr>
          <a:lstStyle/>
          <a:p>
            <a:pPr algn="l">
              <a:lnSpc>
                <a:spcPct val="102000"/>
              </a:lnSpc>
              <a:spcBef>
                <a:spcPts val="0"/>
              </a:spcBef>
              <a:spcAft>
                <a:spcPts val="0"/>
              </a:spcAft>
            </a:pPr>
            <a:r>
              <a:rPr sz="1080" b="1">
                <a:solidFill>
                  <a:srgbClr val="C25E1A"/>
                </a:solidFill>
                <a:latin typeface="Calibri"/>
              </a:rPr>
              <a:t>Cultural scope</a:t>
            </a:r>
          </a:p>
        </p:txBody>
      </p:sp>
      <p:sp>
        <p:nvSpPr>
          <p:cNvPr id="15" name="TextBox 14"/>
          <p:cNvSpPr txBox="1"/>
          <p:nvPr/>
        </p:nvSpPr>
        <p:spPr>
          <a:xfrm>
            <a:off x="905256" y="2932480"/>
            <a:ext cx="5056632" cy="557784"/>
          </a:xfrm>
          <a:prstGeom prst="rect">
            <a:avLst/>
          </a:prstGeom>
          <a:noFill/>
        </p:spPr>
        <p:txBody>
          <a:bodyPr wrap="square" lIns="0" rIns="0" tIns="0" bIns="0" anchor="t">
            <a:spAutoFit/>
          </a:bodyPr>
          <a:lstStyle/>
          <a:p>
            <a:pPr algn="l">
              <a:lnSpc>
                <a:spcPct val="106000"/>
              </a:lnSpc>
              <a:spcBef>
                <a:spcPts val="0"/>
              </a:spcBef>
              <a:spcAft>
                <a:spcPts val="0"/>
              </a:spcAft>
            </a:pPr>
            <a:r>
              <a:rPr sz="1010" b="0">
                <a:solidFill>
                  <a:srgbClr val="333A42"/>
                </a:solidFill>
                <a:latin typeface="Calibri"/>
              </a:rPr>
              <a:t>The five branches and five traditions are presented from a predominantly Western philosophical tradition.</a:t>
            </a:r>
          </a:p>
        </p:txBody>
      </p:sp>
      <p:pic>
        <p:nvPicPr>
          <p:cNvPr id="16" name="Picture 15" descr="people_teal.png"/>
          <p:cNvPicPr>
            <a:picLocks noChangeAspect="1"/>
          </p:cNvPicPr>
          <p:nvPr/>
        </p:nvPicPr>
        <p:blipFill>
          <a:blip r:embed="rId4"/>
          <a:stretch>
            <a:fillRect/>
          </a:stretch>
        </p:blipFill>
        <p:spPr>
          <a:xfrm>
            <a:off x="566928" y="3590848"/>
            <a:ext cx="219456" cy="219456"/>
          </a:xfrm>
          <a:prstGeom prst="rect">
            <a:avLst/>
          </a:prstGeom>
        </p:spPr>
      </p:pic>
      <p:sp>
        <p:nvSpPr>
          <p:cNvPr id="17" name="TextBox 16"/>
          <p:cNvSpPr txBox="1"/>
          <p:nvPr/>
        </p:nvSpPr>
        <p:spPr>
          <a:xfrm>
            <a:off x="905256" y="3577132"/>
            <a:ext cx="5056632" cy="274320"/>
          </a:xfrm>
          <a:prstGeom prst="rect">
            <a:avLst/>
          </a:prstGeom>
          <a:noFill/>
        </p:spPr>
        <p:txBody>
          <a:bodyPr wrap="square" lIns="0" rIns="0" tIns="0" bIns="0" anchor="t">
            <a:spAutoFit/>
          </a:bodyPr>
          <a:lstStyle/>
          <a:p>
            <a:pPr algn="l">
              <a:lnSpc>
                <a:spcPct val="102000"/>
              </a:lnSpc>
              <a:spcBef>
                <a:spcPts val="0"/>
              </a:spcBef>
              <a:spcAft>
                <a:spcPts val="0"/>
              </a:spcAft>
            </a:pPr>
            <a:r>
              <a:rPr sz="1080" b="1">
                <a:solidFill>
                  <a:srgbClr val="166B67"/>
                </a:solidFill>
                <a:latin typeface="Calibri"/>
              </a:rPr>
              <a:t>No effectiveness claims</a:t>
            </a:r>
          </a:p>
        </p:txBody>
      </p:sp>
      <p:sp>
        <p:nvSpPr>
          <p:cNvPr id="18" name="TextBox 17"/>
          <p:cNvSpPr txBox="1"/>
          <p:nvPr/>
        </p:nvSpPr>
        <p:spPr>
          <a:xfrm>
            <a:off x="905256" y="3760927"/>
            <a:ext cx="5056632" cy="557784"/>
          </a:xfrm>
          <a:prstGeom prst="rect">
            <a:avLst/>
          </a:prstGeom>
          <a:noFill/>
        </p:spPr>
        <p:txBody>
          <a:bodyPr wrap="square" lIns="0" rIns="0" tIns="0" bIns="0" anchor="t">
            <a:spAutoFit/>
          </a:bodyPr>
          <a:lstStyle/>
          <a:p>
            <a:pPr algn="l">
              <a:lnSpc>
                <a:spcPct val="106000"/>
              </a:lnSpc>
              <a:spcBef>
                <a:spcPts val="0"/>
              </a:spcBef>
              <a:spcAft>
                <a:spcPts val="0"/>
              </a:spcAft>
            </a:pPr>
            <a:r>
              <a:rPr sz="1010" b="0">
                <a:solidFill>
                  <a:srgbClr val="333A42"/>
                </a:solidFill>
                <a:latin typeface="Calibri"/>
              </a:rPr>
              <a:t>No claim is made that any educational philosophy produces better outcomes; that would require empirical testing.</a:t>
            </a:r>
          </a:p>
        </p:txBody>
      </p:sp>
      <p:pic>
        <p:nvPicPr>
          <p:cNvPr id="19" name="Picture 18" descr="grid_purple.png"/>
          <p:cNvPicPr>
            <a:picLocks noChangeAspect="1"/>
          </p:cNvPicPr>
          <p:nvPr/>
        </p:nvPicPr>
        <p:blipFill>
          <a:blip r:embed="rId5"/>
          <a:stretch>
            <a:fillRect/>
          </a:stretch>
        </p:blipFill>
        <p:spPr>
          <a:xfrm>
            <a:off x="566928" y="4419295"/>
            <a:ext cx="219456" cy="219456"/>
          </a:xfrm>
          <a:prstGeom prst="rect">
            <a:avLst/>
          </a:prstGeom>
        </p:spPr>
      </p:pic>
      <p:sp>
        <p:nvSpPr>
          <p:cNvPr id="20" name="TextBox 19"/>
          <p:cNvSpPr txBox="1"/>
          <p:nvPr/>
        </p:nvSpPr>
        <p:spPr>
          <a:xfrm>
            <a:off x="905256" y="4405579"/>
            <a:ext cx="5056632" cy="274320"/>
          </a:xfrm>
          <a:prstGeom prst="rect">
            <a:avLst/>
          </a:prstGeom>
          <a:noFill/>
        </p:spPr>
        <p:txBody>
          <a:bodyPr wrap="square" lIns="0" rIns="0" tIns="0" bIns="0" anchor="t">
            <a:spAutoFit/>
          </a:bodyPr>
          <a:lstStyle/>
          <a:p>
            <a:pPr algn="l">
              <a:lnSpc>
                <a:spcPct val="102000"/>
              </a:lnSpc>
              <a:spcBef>
                <a:spcPts val="0"/>
              </a:spcBef>
              <a:spcAft>
                <a:spcPts val="0"/>
              </a:spcAft>
            </a:pPr>
            <a:r>
              <a:rPr sz="1080" b="1">
                <a:solidFill>
                  <a:srgbClr val="5B4B8A"/>
                </a:solidFill>
                <a:latin typeface="Calibri"/>
              </a:rPr>
              <a:t>Selection of traditions</a:t>
            </a:r>
          </a:p>
        </p:txBody>
      </p:sp>
      <p:sp>
        <p:nvSpPr>
          <p:cNvPr id="21" name="TextBox 20"/>
          <p:cNvSpPr txBox="1"/>
          <p:nvPr/>
        </p:nvSpPr>
        <p:spPr>
          <a:xfrm>
            <a:off x="905256" y="4589373"/>
            <a:ext cx="5056632" cy="557784"/>
          </a:xfrm>
          <a:prstGeom prst="rect">
            <a:avLst/>
          </a:prstGeom>
          <a:noFill/>
        </p:spPr>
        <p:txBody>
          <a:bodyPr wrap="square" lIns="0" rIns="0" tIns="0" bIns="0" anchor="t">
            <a:spAutoFit/>
          </a:bodyPr>
          <a:lstStyle/>
          <a:p>
            <a:pPr algn="l">
              <a:lnSpc>
                <a:spcPct val="106000"/>
              </a:lnSpc>
              <a:spcBef>
                <a:spcPts val="0"/>
              </a:spcBef>
              <a:spcAft>
                <a:spcPts val="0"/>
              </a:spcAft>
            </a:pPr>
            <a:r>
              <a:rPr sz="1010" b="0">
                <a:solidFill>
                  <a:srgbClr val="333A42"/>
                </a:solidFill>
                <a:latin typeface="Calibri"/>
              </a:rPr>
              <a:t>Five traditions were compared; other frameworks and hybrid positions are not represented.</a:t>
            </a:r>
          </a:p>
        </p:txBody>
      </p:sp>
      <p:pic>
        <p:nvPicPr>
          <p:cNvPr id="22" name="Picture 21" descr="gear_crimson.png"/>
          <p:cNvPicPr>
            <a:picLocks noChangeAspect="1"/>
          </p:cNvPicPr>
          <p:nvPr/>
        </p:nvPicPr>
        <p:blipFill>
          <a:blip r:embed="rId6"/>
          <a:stretch>
            <a:fillRect/>
          </a:stretch>
        </p:blipFill>
        <p:spPr>
          <a:xfrm>
            <a:off x="566928" y="5247741"/>
            <a:ext cx="219456" cy="219456"/>
          </a:xfrm>
          <a:prstGeom prst="rect">
            <a:avLst/>
          </a:prstGeom>
        </p:spPr>
      </p:pic>
      <p:sp>
        <p:nvSpPr>
          <p:cNvPr id="23" name="TextBox 22"/>
          <p:cNvSpPr txBox="1"/>
          <p:nvPr/>
        </p:nvSpPr>
        <p:spPr>
          <a:xfrm>
            <a:off x="905256" y="5234025"/>
            <a:ext cx="5056632" cy="274320"/>
          </a:xfrm>
          <a:prstGeom prst="rect">
            <a:avLst/>
          </a:prstGeom>
          <a:noFill/>
        </p:spPr>
        <p:txBody>
          <a:bodyPr wrap="square" lIns="0" rIns="0" tIns="0" bIns="0" anchor="t">
            <a:spAutoFit/>
          </a:bodyPr>
          <a:lstStyle/>
          <a:p>
            <a:pPr algn="l">
              <a:lnSpc>
                <a:spcPct val="102000"/>
              </a:lnSpc>
              <a:spcBef>
                <a:spcPts val="0"/>
              </a:spcBef>
              <a:spcAft>
                <a:spcPts val="0"/>
              </a:spcAft>
            </a:pPr>
            <a:r>
              <a:rPr sz="1080" b="1">
                <a:solidFill>
                  <a:srgbClr val="9E2B2B"/>
                </a:solidFill>
                <a:latin typeface="Calibri"/>
              </a:rPr>
              <a:t>Further study</a:t>
            </a:r>
          </a:p>
        </p:txBody>
      </p:sp>
      <p:sp>
        <p:nvSpPr>
          <p:cNvPr id="24" name="TextBox 23"/>
          <p:cNvSpPr txBox="1"/>
          <p:nvPr/>
        </p:nvSpPr>
        <p:spPr>
          <a:xfrm>
            <a:off x="905256" y="5417820"/>
            <a:ext cx="5056632" cy="557784"/>
          </a:xfrm>
          <a:prstGeom prst="rect">
            <a:avLst/>
          </a:prstGeom>
          <a:noFill/>
        </p:spPr>
        <p:txBody>
          <a:bodyPr wrap="square" lIns="0" rIns="0" tIns="0" bIns="0" anchor="t">
            <a:spAutoFit/>
          </a:bodyPr>
          <a:lstStyle/>
          <a:p>
            <a:pPr algn="l">
              <a:lnSpc>
                <a:spcPct val="106000"/>
              </a:lnSpc>
              <a:spcBef>
                <a:spcPts val="0"/>
              </a:spcBef>
              <a:spcAft>
                <a:spcPts val="0"/>
              </a:spcAft>
            </a:pPr>
            <a:r>
              <a:rPr sz="1010" b="0">
                <a:solidFill>
                  <a:srgbClr val="333A42"/>
                </a:solidFill>
                <a:latin typeface="Calibri"/>
              </a:rPr>
              <a:t>A systematic review, or a comparative study of reasoning instruction, would test the proposals on slide 16.</a:t>
            </a:r>
          </a:p>
        </p:txBody>
      </p:sp>
      <p:pic>
        <p:nvPicPr>
          <p:cNvPr id="25" name="Picture 24" descr="library.jpg"/>
          <p:cNvPicPr>
            <a:picLocks noChangeAspect="1"/>
          </p:cNvPicPr>
          <p:nvPr/>
        </p:nvPicPr>
        <p:blipFill>
          <a:blip r:embed="rId7"/>
          <a:srcRect t="30330" b="30330"/>
          <a:stretch>
            <a:fillRect/>
          </a:stretch>
        </p:blipFill>
        <p:spPr>
          <a:xfrm>
            <a:off x="6263640" y="1152144"/>
            <a:ext cx="5361401" cy="1581911"/>
          </a:xfrm>
          <a:prstGeom prst="rect">
            <a:avLst/>
          </a:prstGeom>
        </p:spPr>
      </p:pic>
      <p:sp>
        <p:nvSpPr>
          <p:cNvPr id="26" name="Rectangle 25"/>
          <p:cNvSpPr/>
          <p:nvPr/>
        </p:nvSpPr>
        <p:spPr>
          <a:xfrm>
            <a:off x="6263640" y="2734056"/>
            <a:ext cx="5361401" cy="475488"/>
          </a:xfrm>
          <a:prstGeom prst="rect">
            <a:avLst/>
          </a:prstGeom>
          <a:solidFill>
            <a:srgbClr val="EEF3F9"/>
          </a:solidFill>
          <a:ln w="9525">
            <a:solidFill>
              <a:srgbClr val="D5DA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391656" y="2802636"/>
            <a:ext cx="5105369" cy="347472"/>
          </a:xfrm>
          <a:prstGeom prst="rect">
            <a:avLst/>
          </a:prstGeom>
          <a:noFill/>
        </p:spPr>
        <p:txBody>
          <a:bodyPr wrap="square" lIns="0" rIns="0" tIns="0" bIns="0" anchor="t">
            <a:spAutoFit/>
          </a:bodyPr>
          <a:lstStyle/>
          <a:p>
            <a:pPr algn="l">
              <a:lnSpc>
                <a:spcPct val="105000"/>
              </a:lnSpc>
              <a:spcBef>
                <a:spcPts val="0"/>
              </a:spcBef>
              <a:spcAft>
                <a:spcPts val="0"/>
              </a:spcAft>
            </a:pPr>
            <a:r>
              <a:rPr sz="1040" b="0">
                <a:solidFill>
                  <a:srgbClr val="333A42"/>
                </a:solidFill>
                <a:latin typeface="Calibri"/>
              </a:rPr>
              <a:t>Students reading. The synthesis in this presentation rests on the published record rather than on new data collection.</a:t>
            </a:r>
          </a:p>
        </p:txBody>
      </p:sp>
      <p:sp>
        <p:nvSpPr>
          <p:cNvPr id="28" name="TextBox 27"/>
          <p:cNvSpPr txBox="1"/>
          <p:nvPr/>
        </p:nvSpPr>
        <p:spPr>
          <a:xfrm>
            <a:off x="6263640" y="3246120"/>
            <a:ext cx="5361401" cy="219456"/>
          </a:xfrm>
          <a:prstGeom prst="rect">
            <a:avLst/>
          </a:prstGeom>
          <a:noFill/>
        </p:spPr>
        <p:txBody>
          <a:bodyPr wrap="square" lIns="0" rIns="0" tIns="0" bIns="0" anchor="t">
            <a:spAutoFit/>
          </a:bodyPr>
          <a:lstStyle/>
          <a:p>
            <a:pPr algn="l">
              <a:lnSpc>
                <a:spcPct val="100000"/>
              </a:lnSpc>
              <a:spcBef>
                <a:spcPts val="0"/>
              </a:spcBef>
              <a:spcAft>
                <a:spcPts val="0"/>
              </a:spcAft>
            </a:pPr>
            <a:r>
              <a:rPr sz="720" b="0">
                <a:solidFill>
                  <a:srgbClr val="8A94A2"/>
                </a:solidFill>
                <a:latin typeface="Calibri"/>
              </a:rPr>
              <a:t>Image: Public Library Bhiswa – Students Reading.jpg — Samir Kumar (CC BY-SA 4.0), via Wikimedia Commons</a:t>
            </a:r>
          </a:p>
        </p:txBody>
      </p:sp>
      <p:pic>
        <p:nvPicPr>
          <p:cNvPr id="29" name="Picture 28" descr="graduation.jpg"/>
          <p:cNvPicPr>
            <a:picLocks noChangeAspect="1"/>
          </p:cNvPicPr>
          <p:nvPr/>
        </p:nvPicPr>
        <p:blipFill>
          <a:blip r:embed="rId8"/>
          <a:srcRect t="31773" b="31773"/>
          <a:stretch>
            <a:fillRect/>
          </a:stretch>
        </p:blipFill>
        <p:spPr>
          <a:xfrm>
            <a:off x="6263640" y="3675888"/>
            <a:ext cx="5361401" cy="1581911"/>
          </a:xfrm>
          <a:prstGeom prst="rect">
            <a:avLst/>
          </a:prstGeom>
        </p:spPr>
      </p:pic>
      <p:sp>
        <p:nvSpPr>
          <p:cNvPr id="30" name="Rectangle 29"/>
          <p:cNvSpPr/>
          <p:nvPr/>
        </p:nvSpPr>
        <p:spPr>
          <a:xfrm>
            <a:off x="6263640" y="5257800"/>
            <a:ext cx="5361401" cy="475488"/>
          </a:xfrm>
          <a:prstGeom prst="rect">
            <a:avLst/>
          </a:prstGeom>
          <a:solidFill>
            <a:srgbClr val="EEF3F9"/>
          </a:solidFill>
          <a:ln w="9525">
            <a:solidFill>
              <a:srgbClr val="D5DA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391656" y="5326380"/>
            <a:ext cx="5105369" cy="347472"/>
          </a:xfrm>
          <a:prstGeom prst="rect">
            <a:avLst/>
          </a:prstGeom>
          <a:noFill/>
        </p:spPr>
        <p:txBody>
          <a:bodyPr wrap="square" lIns="0" rIns="0" tIns="0" bIns="0" anchor="t">
            <a:spAutoFit/>
          </a:bodyPr>
          <a:lstStyle/>
          <a:p>
            <a:pPr algn="l">
              <a:lnSpc>
                <a:spcPct val="105000"/>
              </a:lnSpc>
              <a:spcBef>
                <a:spcPts val="0"/>
              </a:spcBef>
              <a:spcAft>
                <a:spcPts val="0"/>
              </a:spcAft>
            </a:pPr>
            <a:r>
              <a:rPr sz="1040" b="0">
                <a:solidFill>
                  <a:srgbClr val="333A42"/>
                </a:solidFill>
                <a:latin typeface="Calibri"/>
              </a:rPr>
              <a:t>A university commencement. Whether philosophical education changes graduates’ reasoning is an open empirical question.</a:t>
            </a:r>
          </a:p>
        </p:txBody>
      </p:sp>
      <p:sp>
        <p:nvSpPr>
          <p:cNvPr id="32" name="TextBox 31"/>
          <p:cNvSpPr txBox="1"/>
          <p:nvPr/>
        </p:nvSpPr>
        <p:spPr>
          <a:xfrm>
            <a:off x="6263640" y="5769864"/>
            <a:ext cx="5361401" cy="219456"/>
          </a:xfrm>
          <a:prstGeom prst="rect">
            <a:avLst/>
          </a:prstGeom>
          <a:noFill/>
        </p:spPr>
        <p:txBody>
          <a:bodyPr wrap="square" lIns="0" rIns="0" tIns="0" bIns="0" anchor="t">
            <a:spAutoFit/>
          </a:bodyPr>
          <a:lstStyle/>
          <a:p>
            <a:pPr algn="l">
              <a:lnSpc>
                <a:spcPct val="100000"/>
              </a:lnSpc>
              <a:spcBef>
                <a:spcPts val="0"/>
              </a:spcBef>
              <a:spcAft>
                <a:spcPts val="0"/>
              </a:spcAft>
            </a:pPr>
            <a:r>
              <a:rPr sz="720" b="0">
                <a:solidFill>
                  <a:srgbClr val="8A94A2"/>
                </a:solidFill>
                <a:latin typeface="Calibri"/>
              </a:rPr>
              <a:t>Image: Commencement (UHPCSNP 11996).jpg — Unknown photographer (Public domain), via Wikimedia Commons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6012" cy="6858000"/>
          </a:xfrm>
          <a:prstGeom prst="rect">
            <a:avLst/>
          </a:prstGeom>
          <a:solidFill>
            <a:srgbClr val="C25E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56616"/>
            <a:ext cx="11058113" cy="219456"/>
          </a:xfrm>
          <a:prstGeom prst="rect">
            <a:avLst/>
          </a:prstGeom>
          <a:noFill/>
        </p:spPr>
        <p:txBody>
          <a:bodyPr wrap="square" lIns="0" rIns="0" tIns="0" bIns="0" anchor="t">
            <a:spAutoFit/>
          </a:bodyPr>
          <a:lstStyle/>
          <a:p>
            <a:pPr algn="l">
              <a:lnSpc>
                <a:spcPct val="106000"/>
              </a:lnSpc>
              <a:spcBef>
                <a:spcPts val="0"/>
              </a:spcBef>
              <a:spcAft>
                <a:spcPts val="0"/>
              </a:spcAft>
            </a:pPr>
            <a:r>
              <a:rPr sz="960" b="1">
                <a:solidFill>
                  <a:srgbClr val="C25E1A"/>
                </a:solidFill>
                <a:latin typeface="Calibri"/>
              </a:rPr>
              <a:t>CONCLUSION</a:t>
            </a:r>
          </a:p>
        </p:txBody>
      </p:sp>
      <p:sp>
        <p:nvSpPr>
          <p:cNvPr id="5" name="TextBox 4"/>
          <p:cNvSpPr txBox="1"/>
          <p:nvPr/>
        </p:nvSpPr>
        <p:spPr>
          <a:xfrm>
            <a:off x="566928" y="557784"/>
            <a:ext cx="9960833" cy="566928"/>
          </a:xfrm>
          <a:prstGeom prst="rect">
            <a:avLst/>
          </a:prstGeom>
          <a:noFill/>
        </p:spPr>
        <p:txBody>
          <a:bodyPr wrap="square" lIns="0" rIns="0" tIns="0" bIns="0" anchor="t">
            <a:spAutoFit/>
          </a:bodyPr>
          <a:lstStyle/>
          <a:p>
            <a:pPr algn="l">
              <a:lnSpc>
                <a:spcPct val="100000"/>
              </a:lnSpc>
              <a:spcBef>
                <a:spcPts val="0"/>
              </a:spcBef>
              <a:spcAft>
                <a:spcPts val="0"/>
              </a:spcAft>
            </a:pPr>
            <a:r>
              <a:rPr sz="2500" b="1">
                <a:solidFill>
                  <a:srgbClr val="0F2D52"/>
                </a:solidFill>
                <a:latin typeface="Calibri"/>
              </a:rPr>
              <a:t>Conclusion and key takeaways</a:t>
            </a:r>
          </a:p>
        </p:txBody>
      </p:sp>
      <p:sp>
        <p:nvSpPr>
          <p:cNvPr id="6" name="Rectangle 5"/>
          <p:cNvSpPr/>
          <p:nvPr/>
        </p:nvSpPr>
        <p:spPr>
          <a:xfrm>
            <a:off x="566928" y="950976"/>
            <a:ext cx="11058113" cy="10058"/>
          </a:xfrm>
          <a:prstGeom prst="rect">
            <a:avLst/>
          </a:prstGeom>
          <a:solidFill>
            <a:srgbClr val="D5D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6492240"/>
            <a:ext cx="10143713" cy="219456"/>
          </a:xfrm>
          <a:prstGeom prst="rect">
            <a:avLst/>
          </a:prstGeom>
          <a:noFill/>
        </p:spPr>
        <p:txBody>
          <a:bodyPr wrap="square" lIns="0" rIns="0" tIns="0" bIns="0" anchor="t">
            <a:spAutoFit/>
          </a:bodyPr>
          <a:lstStyle/>
          <a:p>
            <a:pPr algn="l">
              <a:lnSpc>
                <a:spcPct val="106000"/>
              </a:lnSpc>
              <a:spcBef>
                <a:spcPts val="0"/>
              </a:spcBef>
              <a:spcAft>
                <a:spcPts val="0"/>
              </a:spcAft>
            </a:pPr>
            <a:r>
              <a:rPr sz="819" b="0">
                <a:solidFill>
                  <a:srgbClr val="8A94A2"/>
                </a:solidFill>
                <a:latin typeface="Calibri"/>
              </a:rPr>
              <a:t>Philosophy and Its Role in Education and Society</a:t>
            </a:r>
          </a:p>
        </p:txBody>
      </p:sp>
      <p:sp>
        <p:nvSpPr>
          <p:cNvPr id="8" name="TextBox 7"/>
          <p:cNvSpPr txBox="1"/>
          <p:nvPr/>
        </p:nvSpPr>
        <p:spPr>
          <a:xfrm>
            <a:off x="10802081" y="6492240"/>
            <a:ext cx="822960" cy="219456"/>
          </a:xfrm>
          <a:prstGeom prst="rect">
            <a:avLst/>
          </a:prstGeom>
          <a:noFill/>
        </p:spPr>
        <p:txBody>
          <a:bodyPr wrap="square" lIns="0" rIns="0" tIns="0" bIns="0" anchor="t">
            <a:spAutoFit/>
          </a:bodyPr>
          <a:lstStyle/>
          <a:p>
            <a:pPr algn="r">
              <a:lnSpc>
                <a:spcPct val="106000"/>
              </a:lnSpc>
              <a:spcBef>
                <a:spcPts val="0"/>
              </a:spcBef>
              <a:spcAft>
                <a:spcPts val="0"/>
              </a:spcAft>
            </a:pPr>
            <a:r>
              <a:rPr sz="860" b="1">
                <a:solidFill>
                  <a:srgbClr val="5F6B7A"/>
                </a:solidFill>
                <a:latin typeface="Calibri"/>
              </a:rPr>
              <a:t>18 / 18</a:t>
            </a:r>
          </a:p>
        </p:txBody>
      </p:sp>
      <p:sp>
        <p:nvSpPr>
          <p:cNvPr id="9" name="TextBox 8"/>
          <p:cNvSpPr txBox="1"/>
          <p:nvPr/>
        </p:nvSpPr>
        <p:spPr>
          <a:xfrm>
            <a:off x="566928" y="1188720"/>
            <a:ext cx="5394960" cy="566928"/>
          </a:xfrm>
          <a:prstGeom prst="rect">
            <a:avLst/>
          </a:prstGeom>
          <a:noFill/>
        </p:spPr>
        <p:txBody>
          <a:bodyPr wrap="square" lIns="0" rIns="0" tIns="0" bIns="0" anchor="t">
            <a:spAutoFit/>
          </a:bodyPr>
          <a:lstStyle/>
          <a:p>
            <a:pPr algn="l">
              <a:lnSpc>
                <a:spcPct val="110000"/>
              </a:lnSpc>
              <a:spcBef>
                <a:spcPts val="0"/>
              </a:spcBef>
              <a:spcAft>
                <a:spcPts val="0"/>
              </a:spcAft>
            </a:pPr>
            <a:r>
              <a:rPr sz="1240" b="0">
                <a:solidFill>
                  <a:srgbClr val="333A42"/>
                </a:solidFill>
                <a:latin typeface="Calibri"/>
              </a:rPr>
              <a:t>Philosophy is best understood as the connective discipline. It does not sit alongside education and research; it supplies the reasoning that makes both of them defensible.</a:t>
            </a:r>
          </a:p>
        </p:txBody>
      </p:sp>
      <p:pic>
        <p:nvPicPr>
          <p:cNvPr id="10" name="Picture 9" descr="bulb_navy.png"/>
          <p:cNvPicPr>
            <a:picLocks noChangeAspect="1"/>
          </p:cNvPicPr>
          <p:nvPr/>
        </p:nvPicPr>
        <p:blipFill>
          <a:blip r:embed="rId2"/>
          <a:stretch>
            <a:fillRect/>
          </a:stretch>
        </p:blipFill>
        <p:spPr>
          <a:xfrm>
            <a:off x="566928" y="1952244"/>
            <a:ext cx="219456" cy="219456"/>
          </a:xfrm>
          <a:prstGeom prst="rect">
            <a:avLst/>
          </a:prstGeom>
        </p:spPr>
      </p:pic>
      <p:sp>
        <p:nvSpPr>
          <p:cNvPr id="11" name="TextBox 10"/>
          <p:cNvSpPr txBox="1"/>
          <p:nvPr/>
        </p:nvSpPr>
        <p:spPr>
          <a:xfrm>
            <a:off x="905256" y="1938528"/>
            <a:ext cx="5056632" cy="274320"/>
          </a:xfrm>
          <a:prstGeom prst="rect">
            <a:avLst/>
          </a:prstGeom>
          <a:noFill/>
        </p:spPr>
        <p:txBody>
          <a:bodyPr wrap="square" lIns="0" rIns="0" tIns="0" bIns="0" anchor="t">
            <a:spAutoFit/>
          </a:bodyPr>
          <a:lstStyle/>
          <a:p>
            <a:pPr algn="l">
              <a:lnSpc>
                <a:spcPct val="102000"/>
              </a:lnSpc>
              <a:spcBef>
                <a:spcPts val="0"/>
              </a:spcBef>
              <a:spcAft>
                <a:spcPts val="0"/>
              </a:spcAft>
            </a:pPr>
            <a:r>
              <a:rPr sz="1080" b="1">
                <a:solidFill>
                  <a:srgbClr val="0F2D52"/>
                </a:solidFill>
                <a:latin typeface="Calibri"/>
              </a:rPr>
              <a:t>A practice, not a doctrine</a:t>
            </a:r>
          </a:p>
        </p:txBody>
      </p:sp>
      <p:sp>
        <p:nvSpPr>
          <p:cNvPr id="12" name="TextBox 11"/>
          <p:cNvSpPr txBox="1"/>
          <p:nvPr/>
        </p:nvSpPr>
        <p:spPr>
          <a:xfrm>
            <a:off x="905256" y="2122322"/>
            <a:ext cx="5056632" cy="554126"/>
          </a:xfrm>
          <a:prstGeom prst="rect">
            <a:avLst/>
          </a:prstGeom>
          <a:noFill/>
        </p:spPr>
        <p:txBody>
          <a:bodyPr wrap="square" lIns="0" rIns="0" tIns="0" bIns="0" anchor="t">
            <a:spAutoFit/>
          </a:bodyPr>
          <a:lstStyle/>
          <a:p>
            <a:pPr algn="l">
              <a:lnSpc>
                <a:spcPct val="106000"/>
              </a:lnSpc>
              <a:spcBef>
                <a:spcPts val="0"/>
              </a:spcBef>
              <a:spcAft>
                <a:spcPts val="0"/>
              </a:spcAft>
            </a:pPr>
            <a:r>
              <a:rPr sz="1010" b="0">
                <a:solidFill>
                  <a:srgbClr val="333A42"/>
                </a:solidFill>
                <a:latin typeface="Calibri"/>
              </a:rPr>
              <a:t>Philosophy is justified questioning; it is judged by the quality of its reasons.</a:t>
            </a:r>
          </a:p>
        </p:txBody>
      </p:sp>
      <p:pic>
        <p:nvPicPr>
          <p:cNvPr id="13" name="Picture 12" descr="grid_orange.png"/>
          <p:cNvPicPr>
            <a:picLocks noChangeAspect="1"/>
          </p:cNvPicPr>
          <p:nvPr/>
        </p:nvPicPr>
        <p:blipFill>
          <a:blip r:embed="rId3"/>
          <a:stretch>
            <a:fillRect/>
          </a:stretch>
        </p:blipFill>
        <p:spPr>
          <a:xfrm>
            <a:off x="566928" y="2777032"/>
            <a:ext cx="219456" cy="219456"/>
          </a:xfrm>
          <a:prstGeom prst="rect">
            <a:avLst/>
          </a:prstGeom>
        </p:spPr>
      </p:pic>
      <p:sp>
        <p:nvSpPr>
          <p:cNvPr id="14" name="TextBox 13"/>
          <p:cNvSpPr txBox="1"/>
          <p:nvPr/>
        </p:nvSpPr>
        <p:spPr>
          <a:xfrm>
            <a:off x="905256" y="2763316"/>
            <a:ext cx="5056632" cy="274320"/>
          </a:xfrm>
          <a:prstGeom prst="rect">
            <a:avLst/>
          </a:prstGeom>
          <a:noFill/>
        </p:spPr>
        <p:txBody>
          <a:bodyPr wrap="square" lIns="0" rIns="0" tIns="0" bIns="0" anchor="t">
            <a:spAutoFit/>
          </a:bodyPr>
          <a:lstStyle/>
          <a:p>
            <a:pPr algn="l">
              <a:lnSpc>
                <a:spcPct val="102000"/>
              </a:lnSpc>
              <a:spcBef>
                <a:spcPts val="0"/>
              </a:spcBef>
              <a:spcAft>
                <a:spcPts val="0"/>
              </a:spcAft>
            </a:pPr>
            <a:r>
              <a:rPr sz="1080" b="1">
                <a:solidFill>
                  <a:srgbClr val="C25E1A"/>
                </a:solidFill>
                <a:latin typeface="Calibri"/>
              </a:rPr>
              <a:t>Five branches, five tests</a:t>
            </a:r>
          </a:p>
        </p:txBody>
      </p:sp>
      <p:sp>
        <p:nvSpPr>
          <p:cNvPr id="15" name="TextBox 14"/>
          <p:cNvSpPr txBox="1"/>
          <p:nvPr/>
        </p:nvSpPr>
        <p:spPr>
          <a:xfrm>
            <a:off x="905256" y="2947111"/>
            <a:ext cx="5056632" cy="554126"/>
          </a:xfrm>
          <a:prstGeom prst="rect">
            <a:avLst/>
          </a:prstGeom>
          <a:noFill/>
        </p:spPr>
        <p:txBody>
          <a:bodyPr wrap="square" lIns="0" rIns="0" tIns="0" bIns="0" anchor="t">
            <a:spAutoFit/>
          </a:bodyPr>
          <a:lstStyle/>
          <a:p>
            <a:pPr algn="l">
              <a:lnSpc>
                <a:spcPct val="106000"/>
              </a:lnSpc>
              <a:spcBef>
                <a:spcPts val="0"/>
              </a:spcBef>
              <a:spcAft>
                <a:spcPts val="0"/>
              </a:spcAft>
            </a:pPr>
            <a:r>
              <a:rPr sz="1010" b="0">
                <a:solidFill>
                  <a:srgbClr val="333A42"/>
                </a:solidFill>
                <a:latin typeface="Calibri"/>
              </a:rPr>
              <a:t>Metaphysics, epistemology, ethics, logic and aesthetics each apply a distinct standard.</a:t>
            </a:r>
          </a:p>
        </p:txBody>
      </p:sp>
      <p:pic>
        <p:nvPicPr>
          <p:cNvPr id="16" name="Picture 15" descr="cap_teal.png"/>
          <p:cNvPicPr>
            <a:picLocks noChangeAspect="1"/>
          </p:cNvPicPr>
          <p:nvPr/>
        </p:nvPicPr>
        <p:blipFill>
          <a:blip r:embed="rId4"/>
          <a:stretch>
            <a:fillRect/>
          </a:stretch>
        </p:blipFill>
        <p:spPr>
          <a:xfrm>
            <a:off x="566928" y="3601821"/>
            <a:ext cx="219456" cy="219456"/>
          </a:xfrm>
          <a:prstGeom prst="rect">
            <a:avLst/>
          </a:prstGeom>
        </p:spPr>
      </p:pic>
      <p:sp>
        <p:nvSpPr>
          <p:cNvPr id="17" name="TextBox 16"/>
          <p:cNvSpPr txBox="1"/>
          <p:nvPr/>
        </p:nvSpPr>
        <p:spPr>
          <a:xfrm>
            <a:off x="905256" y="3588105"/>
            <a:ext cx="5056632" cy="274320"/>
          </a:xfrm>
          <a:prstGeom prst="rect">
            <a:avLst/>
          </a:prstGeom>
          <a:noFill/>
        </p:spPr>
        <p:txBody>
          <a:bodyPr wrap="square" lIns="0" rIns="0" tIns="0" bIns="0" anchor="t">
            <a:spAutoFit/>
          </a:bodyPr>
          <a:lstStyle/>
          <a:p>
            <a:pPr algn="l">
              <a:lnSpc>
                <a:spcPct val="102000"/>
              </a:lnSpc>
              <a:spcBef>
                <a:spcPts val="0"/>
              </a:spcBef>
              <a:spcAft>
                <a:spcPts val="0"/>
              </a:spcAft>
            </a:pPr>
            <a:r>
              <a:rPr sz="1080" b="1">
                <a:solidFill>
                  <a:srgbClr val="166B67"/>
                </a:solidFill>
                <a:latin typeface="Calibri"/>
              </a:rPr>
              <a:t>Education is the proving ground</a:t>
            </a:r>
          </a:p>
        </p:txBody>
      </p:sp>
      <p:sp>
        <p:nvSpPr>
          <p:cNvPr id="18" name="TextBox 17"/>
          <p:cNvSpPr txBox="1"/>
          <p:nvPr/>
        </p:nvSpPr>
        <p:spPr>
          <a:xfrm>
            <a:off x="905256" y="3771900"/>
            <a:ext cx="5056632" cy="554126"/>
          </a:xfrm>
          <a:prstGeom prst="rect">
            <a:avLst/>
          </a:prstGeom>
          <a:noFill/>
        </p:spPr>
        <p:txBody>
          <a:bodyPr wrap="square" lIns="0" rIns="0" tIns="0" bIns="0" anchor="t">
            <a:spAutoFit/>
          </a:bodyPr>
          <a:lstStyle/>
          <a:p>
            <a:pPr algn="l">
              <a:lnSpc>
                <a:spcPct val="106000"/>
              </a:lnSpc>
              <a:spcBef>
                <a:spcPts val="0"/>
              </a:spcBef>
              <a:spcAft>
                <a:spcPts val="0"/>
              </a:spcAft>
            </a:pPr>
            <a:r>
              <a:rPr sz="1010" b="0">
                <a:solidFill>
                  <a:srgbClr val="333A42"/>
                </a:solidFill>
                <a:latin typeface="Calibri"/>
              </a:rPr>
              <a:t>Aims, curriculum, pedagogy and assessment are where philosophical claims become consequential.</a:t>
            </a:r>
          </a:p>
        </p:txBody>
      </p:sp>
      <p:pic>
        <p:nvPicPr>
          <p:cNvPr id="19" name="Picture 18" descr="shield_purple.png"/>
          <p:cNvPicPr>
            <a:picLocks noChangeAspect="1"/>
          </p:cNvPicPr>
          <p:nvPr/>
        </p:nvPicPr>
        <p:blipFill>
          <a:blip r:embed="rId5"/>
          <a:stretch>
            <a:fillRect/>
          </a:stretch>
        </p:blipFill>
        <p:spPr>
          <a:xfrm>
            <a:off x="566928" y="4426610"/>
            <a:ext cx="219456" cy="219456"/>
          </a:xfrm>
          <a:prstGeom prst="rect">
            <a:avLst/>
          </a:prstGeom>
        </p:spPr>
      </p:pic>
      <p:sp>
        <p:nvSpPr>
          <p:cNvPr id="20" name="TextBox 19"/>
          <p:cNvSpPr txBox="1"/>
          <p:nvPr/>
        </p:nvSpPr>
        <p:spPr>
          <a:xfrm>
            <a:off x="905256" y="4412894"/>
            <a:ext cx="5056632" cy="274320"/>
          </a:xfrm>
          <a:prstGeom prst="rect">
            <a:avLst/>
          </a:prstGeom>
          <a:noFill/>
        </p:spPr>
        <p:txBody>
          <a:bodyPr wrap="square" lIns="0" rIns="0" tIns="0" bIns="0" anchor="t">
            <a:spAutoFit/>
          </a:bodyPr>
          <a:lstStyle/>
          <a:p>
            <a:pPr algn="l">
              <a:lnSpc>
                <a:spcPct val="102000"/>
              </a:lnSpc>
              <a:spcBef>
                <a:spcPts val="0"/>
              </a:spcBef>
              <a:spcAft>
                <a:spcPts val="0"/>
              </a:spcAft>
            </a:pPr>
            <a:r>
              <a:rPr sz="1080" b="1">
                <a:solidFill>
                  <a:srgbClr val="5B4B8A"/>
                </a:solidFill>
                <a:latin typeface="Calibri"/>
              </a:rPr>
              <a:t>Research ethics is applied philosophy</a:t>
            </a:r>
          </a:p>
        </p:txBody>
      </p:sp>
      <p:sp>
        <p:nvSpPr>
          <p:cNvPr id="21" name="TextBox 20"/>
          <p:cNvSpPr txBox="1"/>
          <p:nvPr/>
        </p:nvSpPr>
        <p:spPr>
          <a:xfrm>
            <a:off x="905256" y="4596688"/>
            <a:ext cx="5056632" cy="554126"/>
          </a:xfrm>
          <a:prstGeom prst="rect">
            <a:avLst/>
          </a:prstGeom>
          <a:noFill/>
        </p:spPr>
        <p:txBody>
          <a:bodyPr wrap="square" lIns="0" rIns="0" tIns="0" bIns="0" anchor="t">
            <a:spAutoFit/>
          </a:bodyPr>
          <a:lstStyle/>
          <a:p>
            <a:pPr algn="l">
              <a:lnSpc>
                <a:spcPct val="106000"/>
              </a:lnSpc>
              <a:spcBef>
                <a:spcPts val="0"/>
              </a:spcBef>
              <a:spcAft>
                <a:spcPts val="0"/>
              </a:spcAft>
            </a:pPr>
            <a:r>
              <a:rPr sz="1010" b="0">
                <a:solidFill>
                  <a:srgbClr val="333A42"/>
                </a:solidFill>
                <a:latin typeface="Calibri"/>
              </a:rPr>
              <a:t>Consent, confidentiality, attribution and integrity are reasoned obligations, not paperwork.</a:t>
            </a:r>
          </a:p>
        </p:txBody>
      </p:sp>
      <p:pic>
        <p:nvPicPr>
          <p:cNvPr id="22" name="Picture 21" descr="globe_crimson.png"/>
          <p:cNvPicPr>
            <a:picLocks noChangeAspect="1"/>
          </p:cNvPicPr>
          <p:nvPr/>
        </p:nvPicPr>
        <p:blipFill>
          <a:blip r:embed="rId6"/>
          <a:stretch>
            <a:fillRect/>
          </a:stretch>
        </p:blipFill>
        <p:spPr>
          <a:xfrm>
            <a:off x="566928" y="5251399"/>
            <a:ext cx="219456" cy="219456"/>
          </a:xfrm>
          <a:prstGeom prst="rect">
            <a:avLst/>
          </a:prstGeom>
        </p:spPr>
      </p:pic>
      <p:sp>
        <p:nvSpPr>
          <p:cNvPr id="23" name="TextBox 22"/>
          <p:cNvSpPr txBox="1"/>
          <p:nvPr/>
        </p:nvSpPr>
        <p:spPr>
          <a:xfrm>
            <a:off x="905256" y="5237683"/>
            <a:ext cx="5056632" cy="274320"/>
          </a:xfrm>
          <a:prstGeom prst="rect">
            <a:avLst/>
          </a:prstGeom>
          <a:noFill/>
        </p:spPr>
        <p:txBody>
          <a:bodyPr wrap="square" lIns="0" rIns="0" tIns="0" bIns="0" anchor="t">
            <a:spAutoFit/>
          </a:bodyPr>
          <a:lstStyle/>
          <a:p>
            <a:pPr algn="l">
              <a:lnSpc>
                <a:spcPct val="102000"/>
              </a:lnSpc>
              <a:spcBef>
                <a:spcPts val="0"/>
              </a:spcBef>
              <a:spcAft>
                <a:spcPts val="0"/>
              </a:spcAft>
            </a:pPr>
            <a:r>
              <a:rPr sz="1080" b="1">
                <a:solidFill>
                  <a:srgbClr val="9E2B2B"/>
                </a:solidFill>
                <a:latin typeface="Calibri"/>
              </a:rPr>
              <a:t>A reasoned public sphere</a:t>
            </a:r>
          </a:p>
        </p:txBody>
      </p:sp>
      <p:sp>
        <p:nvSpPr>
          <p:cNvPr id="24" name="TextBox 23"/>
          <p:cNvSpPr txBox="1"/>
          <p:nvPr/>
        </p:nvSpPr>
        <p:spPr>
          <a:xfrm>
            <a:off x="905256" y="5421477"/>
            <a:ext cx="5056632" cy="554126"/>
          </a:xfrm>
          <a:prstGeom prst="rect">
            <a:avLst/>
          </a:prstGeom>
          <a:noFill/>
        </p:spPr>
        <p:txBody>
          <a:bodyPr wrap="square" lIns="0" rIns="0" tIns="0" bIns="0" anchor="t">
            <a:spAutoFit/>
          </a:bodyPr>
          <a:lstStyle/>
          <a:p>
            <a:pPr algn="l">
              <a:lnSpc>
                <a:spcPct val="106000"/>
              </a:lnSpc>
              <a:spcBef>
                <a:spcPts val="0"/>
              </a:spcBef>
              <a:spcAft>
                <a:spcPts val="0"/>
              </a:spcAft>
            </a:pPr>
            <a:r>
              <a:rPr sz="1010" b="0">
                <a:solidFill>
                  <a:srgbClr val="333A42"/>
                </a:solidFill>
                <a:latin typeface="Calibri"/>
              </a:rPr>
              <a:t>Justice, equality and freedom are argued principles; a philosophically literate society argues better.</a:t>
            </a:r>
          </a:p>
        </p:txBody>
      </p:sp>
      <p:pic>
        <p:nvPicPr>
          <p:cNvPr id="25" name="Picture 24" descr="s16_conclusion.png"/>
          <p:cNvPicPr>
            <a:picLocks noChangeAspect="1"/>
          </p:cNvPicPr>
          <p:nvPr/>
        </p:nvPicPr>
        <p:blipFill>
          <a:blip r:embed="rId7"/>
          <a:stretch>
            <a:fillRect/>
          </a:stretch>
        </p:blipFill>
        <p:spPr>
          <a:xfrm>
            <a:off x="6172200" y="2871045"/>
            <a:ext cx="5544281" cy="1627973"/>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6012" cy="6858000"/>
          </a:xfrm>
          <a:prstGeom prst="rect">
            <a:avLst/>
          </a:prstGeom>
          <a:solidFill>
            <a:srgbClr val="C25E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56616"/>
            <a:ext cx="11058113" cy="219456"/>
          </a:xfrm>
          <a:prstGeom prst="rect">
            <a:avLst/>
          </a:prstGeom>
          <a:noFill/>
        </p:spPr>
        <p:txBody>
          <a:bodyPr wrap="square" lIns="0" rIns="0" tIns="0" bIns="0" anchor="t">
            <a:spAutoFit/>
          </a:bodyPr>
          <a:lstStyle/>
          <a:p>
            <a:pPr algn="l">
              <a:lnSpc>
                <a:spcPct val="106000"/>
              </a:lnSpc>
              <a:spcBef>
                <a:spcPts val="0"/>
              </a:spcBef>
              <a:spcAft>
                <a:spcPts val="0"/>
              </a:spcAft>
            </a:pPr>
            <a:r>
              <a:rPr sz="960" b="1">
                <a:solidFill>
                  <a:srgbClr val="C25E1A"/>
                </a:solidFill>
                <a:latin typeface="Calibri"/>
              </a:rPr>
              <a:t>REFERENCES</a:t>
            </a:r>
          </a:p>
        </p:txBody>
      </p:sp>
      <p:sp>
        <p:nvSpPr>
          <p:cNvPr id="5" name="TextBox 4"/>
          <p:cNvSpPr txBox="1"/>
          <p:nvPr/>
        </p:nvSpPr>
        <p:spPr>
          <a:xfrm>
            <a:off x="566928" y="557784"/>
            <a:ext cx="9960833" cy="566928"/>
          </a:xfrm>
          <a:prstGeom prst="rect">
            <a:avLst/>
          </a:prstGeom>
          <a:noFill/>
        </p:spPr>
        <p:txBody>
          <a:bodyPr wrap="square" lIns="0" rIns="0" tIns="0" bIns="0" anchor="t">
            <a:spAutoFit/>
          </a:bodyPr>
          <a:lstStyle/>
          <a:p>
            <a:pPr algn="l">
              <a:lnSpc>
                <a:spcPct val="100000"/>
              </a:lnSpc>
              <a:spcBef>
                <a:spcPts val="0"/>
              </a:spcBef>
              <a:spcAft>
                <a:spcPts val="0"/>
              </a:spcAft>
            </a:pPr>
            <a:r>
              <a:rPr sz="2500" b="1">
                <a:solidFill>
                  <a:srgbClr val="0F2D52"/>
                </a:solidFill>
                <a:latin typeface="Calibri"/>
              </a:rPr>
              <a:t>References — journal articles and standards</a:t>
            </a:r>
          </a:p>
        </p:txBody>
      </p:sp>
      <p:sp>
        <p:nvSpPr>
          <p:cNvPr id="6" name="Rectangle 5"/>
          <p:cNvSpPr/>
          <p:nvPr/>
        </p:nvSpPr>
        <p:spPr>
          <a:xfrm>
            <a:off x="566928" y="950976"/>
            <a:ext cx="11058113" cy="10058"/>
          </a:xfrm>
          <a:prstGeom prst="rect">
            <a:avLst/>
          </a:prstGeom>
          <a:solidFill>
            <a:srgbClr val="D5D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6492240"/>
            <a:ext cx="10143713" cy="219456"/>
          </a:xfrm>
          <a:prstGeom prst="rect">
            <a:avLst/>
          </a:prstGeom>
          <a:noFill/>
        </p:spPr>
        <p:txBody>
          <a:bodyPr wrap="square" lIns="0" rIns="0" tIns="0" bIns="0" anchor="t">
            <a:spAutoFit/>
          </a:bodyPr>
          <a:lstStyle/>
          <a:p>
            <a:pPr algn="l">
              <a:lnSpc>
                <a:spcPct val="106000"/>
              </a:lnSpc>
              <a:spcBef>
                <a:spcPts val="0"/>
              </a:spcBef>
              <a:spcAft>
                <a:spcPts val="0"/>
              </a:spcAft>
            </a:pPr>
            <a:r>
              <a:rPr sz="819" b="0">
                <a:solidFill>
                  <a:srgbClr val="8A94A2"/>
                </a:solidFill>
                <a:latin typeface="Calibri"/>
              </a:rPr>
              <a:t>Philosophy and Its Role in Education and Society</a:t>
            </a:r>
          </a:p>
        </p:txBody>
      </p:sp>
      <p:sp>
        <p:nvSpPr>
          <p:cNvPr id="8" name="TextBox 7"/>
          <p:cNvSpPr txBox="1"/>
          <p:nvPr/>
        </p:nvSpPr>
        <p:spPr>
          <a:xfrm>
            <a:off x="10802081" y="6492240"/>
            <a:ext cx="822960" cy="219456"/>
          </a:xfrm>
          <a:prstGeom prst="rect">
            <a:avLst/>
          </a:prstGeom>
          <a:noFill/>
        </p:spPr>
        <p:txBody>
          <a:bodyPr wrap="square" lIns="0" rIns="0" tIns="0" bIns="0" anchor="t">
            <a:spAutoFit/>
          </a:bodyPr>
          <a:lstStyle/>
          <a:p>
            <a:pPr algn="r">
              <a:lnSpc>
                <a:spcPct val="106000"/>
              </a:lnSpc>
              <a:spcBef>
                <a:spcPts val="0"/>
              </a:spcBef>
              <a:spcAft>
                <a:spcPts val="0"/>
              </a:spcAft>
            </a:pPr>
            <a:r>
              <a:rPr sz="860" b="1">
                <a:solidFill>
                  <a:srgbClr val="5F6B7A"/>
                </a:solidFill>
                <a:latin typeface="Calibri"/>
              </a:rPr>
              <a:t>19 / 20</a:t>
            </a:r>
          </a:p>
        </p:txBody>
      </p:sp>
      <p:sp>
        <p:nvSpPr>
          <p:cNvPr id="9" name="TextBox 8"/>
          <p:cNvSpPr txBox="1"/>
          <p:nvPr/>
        </p:nvSpPr>
        <p:spPr>
          <a:xfrm>
            <a:off x="566928" y="1152144"/>
            <a:ext cx="11058113" cy="566928"/>
          </a:xfrm>
          <a:prstGeom prst="rect">
            <a:avLst/>
          </a:prstGeom>
          <a:noFill/>
        </p:spPr>
        <p:txBody>
          <a:bodyPr wrap="square" lIns="0" rIns="0" tIns="0" bIns="0" anchor="t">
            <a:spAutoFit/>
          </a:bodyPr>
          <a:lstStyle/>
          <a:p>
            <a:pPr algn="l">
              <a:lnSpc>
                <a:spcPct val="110000"/>
              </a:lnSpc>
              <a:spcBef>
                <a:spcPts val="0"/>
              </a:spcBef>
              <a:spcAft>
                <a:spcPts val="0"/>
              </a:spcAft>
            </a:pPr>
            <a:r>
              <a:rPr sz="1040" b="0">
                <a:solidFill>
                  <a:srgbClr val="5F6B7A"/>
                </a:solidFill>
                <a:latin typeface="Calibri"/>
              </a:rPr>
              <a:t>All sources below are supplementary scholarly literature, verified against Crossref and Open Library. No primary data were collected for this presentation.</a:t>
            </a:r>
          </a:p>
        </p:txBody>
      </p:sp>
      <p:sp>
        <p:nvSpPr>
          <p:cNvPr id="10" name="TextBox 9"/>
          <p:cNvSpPr txBox="1"/>
          <p:nvPr/>
        </p:nvSpPr>
        <p:spPr>
          <a:xfrm>
            <a:off x="566928" y="1609344"/>
            <a:ext cx="5373608" cy="573786"/>
          </a:xfrm>
          <a:prstGeom prst="rect">
            <a:avLst/>
          </a:prstGeom>
          <a:noFill/>
        </p:spPr>
        <p:txBody>
          <a:bodyPr wrap="square" lIns="0" rIns="0" tIns="0" bIns="0" anchor="t">
            <a:spAutoFit/>
          </a:bodyPr>
          <a:lstStyle/>
          <a:p>
            <a:pPr algn="l">
              <a:lnSpc>
                <a:spcPct val="104000"/>
              </a:lnSpc>
              <a:spcBef>
                <a:spcPts val="0"/>
              </a:spcBef>
              <a:spcAft>
                <a:spcPts val="0"/>
              </a:spcAft>
            </a:pPr>
            <a:r>
              <a:rPr sz="780" b="1">
                <a:solidFill>
                  <a:srgbClr val="C25E1A"/>
                </a:solidFill>
                <a:latin typeface="Calibri"/>
              </a:rPr>
              <a:t>▪  </a:t>
            </a:r>
            <a:r>
              <a:rPr sz="780">
                <a:solidFill>
                  <a:srgbClr val="333A42"/>
                </a:solidFill>
                <a:latin typeface="Calibri"/>
              </a:rPr>
              <a:t>Biesta, G. (2007). Why “what works” won’t work: Evidence‑based practice and the democratic deficit in educational research. Educational Theory, 57(1), 1–22. https://doi.org/10.1111/j.1741-5446.2006.00241.x</a:t>
            </a:r>
          </a:p>
        </p:txBody>
      </p:sp>
      <p:sp>
        <p:nvSpPr>
          <p:cNvPr id="11" name="TextBox 10"/>
          <p:cNvSpPr txBox="1"/>
          <p:nvPr/>
        </p:nvSpPr>
        <p:spPr>
          <a:xfrm>
            <a:off x="566928" y="2183130"/>
            <a:ext cx="5373608" cy="573786"/>
          </a:xfrm>
          <a:prstGeom prst="rect">
            <a:avLst/>
          </a:prstGeom>
          <a:noFill/>
        </p:spPr>
        <p:txBody>
          <a:bodyPr wrap="square" lIns="0" rIns="0" tIns="0" bIns="0" anchor="t">
            <a:spAutoFit/>
          </a:bodyPr>
          <a:lstStyle/>
          <a:p>
            <a:pPr algn="l">
              <a:lnSpc>
                <a:spcPct val="104000"/>
              </a:lnSpc>
              <a:spcBef>
                <a:spcPts val="0"/>
              </a:spcBef>
              <a:spcAft>
                <a:spcPts val="0"/>
              </a:spcAft>
            </a:pPr>
            <a:r>
              <a:rPr sz="780" b="1">
                <a:solidFill>
                  <a:srgbClr val="C25E1A"/>
                </a:solidFill>
                <a:latin typeface="Calibri"/>
              </a:rPr>
              <a:t>▪  </a:t>
            </a:r>
            <a:r>
              <a:rPr sz="780">
                <a:solidFill>
                  <a:srgbClr val="333A42"/>
                </a:solidFill>
                <a:latin typeface="Calibri"/>
              </a:rPr>
              <a:t>Fanelli, D. (2009). How many scientists fabricate and falsify research? A systematic review and meta‑analysis of survey data. PLOS ONE, 4(5), e5738. https://doi.org/10.1371/journal.pone.0005738</a:t>
            </a:r>
          </a:p>
        </p:txBody>
      </p:sp>
      <p:sp>
        <p:nvSpPr>
          <p:cNvPr id="12" name="TextBox 11"/>
          <p:cNvSpPr txBox="1"/>
          <p:nvPr/>
        </p:nvSpPr>
        <p:spPr>
          <a:xfrm>
            <a:off x="566928" y="2756916"/>
            <a:ext cx="5373608" cy="573786"/>
          </a:xfrm>
          <a:prstGeom prst="rect">
            <a:avLst/>
          </a:prstGeom>
          <a:noFill/>
        </p:spPr>
        <p:txBody>
          <a:bodyPr wrap="square" lIns="0" rIns="0" tIns="0" bIns="0" anchor="t">
            <a:spAutoFit/>
          </a:bodyPr>
          <a:lstStyle/>
          <a:p>
            <a:pPr algn="l">
              <a:lnSpc>
                <a:spcPct val="104000"/>
              </a:lnSpc>
              <a:spcBef>
                <a:spcPts val="0"/>
              </a:spcBef>
              <a:spcAft>
                <a:spcPts val="0"/>
              </a:spcAft>
            </a:pPr>
            <a:r>
              <a:rPr sz="780" b="1">
                <a:solidFill>
                  <a:srgbClr val="C25E1A"/>
                </a:solidFill>
                <a:latin typeface="Calibri"/>
              </a:rPr>
              <a:t>▪  </a:t>
            </a:r>
            <a:r>
              <a:rPr sz="780">
                <a:solidFill>
                  <a:srgbClr val="333A42"/>
                </a:solidFill>
                <a:latin typeface="Calibri"/>
              </a:rPr>
              <a:t>Ioannidis, J. P. A. (2005). Why most published research findings are false. PLOS Medicine, 2(8), e124. https://doi.org/10.1371/journal.pmed.0020124</a:t>
            </a:r>
          </a:p>
        </p:txBody>
      </p:sp>
      <p:sp>
        <p:nvSpPr>
          <p:cNvPr id="13" name="TextBox 12"/>
          <p:cNvSpPr txBox="1"/>
          <p:nvPr/>
        </p:nvSpPr>
        <p:spPr>
          <a:xfrm>
            <a:off x="566928" y="3330702"/>
            <a:ext cx="5373608" cy="573786"/>
          </a:xfrm>
          <a:prstGeom prst="rect">
            <a:avLst/>
          </a:prstGeom>
          <a:noFill/>
        </p:spPr>
        <p:txBody>
          <a:bodyPr wrap="square" lIns="0" rIns="0" tIns="0" bIns="0" anchor="t">
            <a:spAutoFit/>
          </a:bodyPr>
          <a:lstStyle/>
          <a:p>
            <a:pPr algn="l">
              <a:lnSpc>
                <a:spcPct val="104000"/>
              </a:lnSpc>
              <a:spcBef>
                <a:spcPts val="0"/>
              </a:spcBef>
              <a:spcAft>
                <a:spcPts val="0"/>
              </a:spcAft>
            </a:pPr>
            <a:r>
              <a:rPr sz="780" b="1">
                <a:solidFill>
                  <a:srgbClr val="C25E1A"/>
                </a:solidFill>
                <a:latin typeface="Calibri"/>
              </a:rPr>
              <a:t>▪  </a:t>
            </a:r>
            <a:r>
              <a:rPr sz="780">
                <a:solidFill>
                  <a:srgbClr val="333A42"/>
                </a:solidFill>
                <a:latin typeface="Calibri"/>
              </a:rPr>
              <a:t>Martinson, B. C., Anderson, M. S., &amp; de Vries, R. (2005). Scientists behaving badly. Nature, 435(7043), 737–738. https://doi.org/10.1038/435737a</a:t>
            </a:r>
          </a:p>
        </p:txBody>
      </p:sp>
      <p:sp>
        <p:nvSpPr>
          <p:cNvPr id="14" name="TextBox 13"/>
          <p:cNvSpPr txBox="1"/>
          <p:nvPr/>
        </p:nvSpPr>
        <p:spPr>
          <a:xfrm>
            <a:off x="566928" y="3904488"/>
            <a:ext cx="5373608" cy="573786"/>
          </a:xfrm>
          <a:prstGeom prst="rect">
            <a:avLst/>
          </a:prstGeom>
          <a:noFill/>
        </p:spPr>
        <p:txBody>
          <a:bodyPr wrap="square" lIns="0" rIns="0" tIns="0" bIns="0" anchor="t">
            <a:spAutoFit/>
          </a:bodyPr>
          <a:lstStyle/>
          <a:p>
            <a:pPr algn="l">
              <a:lnSpc>
                <a:spcPct val="104000"/>
              </a:lnSpc>
              <a:spcBef>
                <a:spcPts val="0"/>
              </a:spcBef>
              <a:spcAft>
                <a:spcPts val="0"/>
              </a:spcAft>
            </a:pPr>
            <a:r>
              <a:rPr sz="780" b="1">
                <a:solidFill>
                  <a:srgbClr val="C25E1A"/>
                </a:solidFill>
                <a:latin typeface="Calibri"/>
              </a:rPr>
              <a:t>▪  </a:t>
            </a:r>
            <a:r>
              <a:rPr sz="780">
                <a:solidFill>
                  <a:srgbClr val="333A42"/>
                </a:solidFill>
                <a:latin typeface="Calibri"/>
              </a:rPr>
              <a:t>Milgram, S. (1963). Behavioral study of obedience. Journal of Abnormal and Social Psychology, 67(4), 371–378. https://doi.org/10.1037/h0040525</a:t>
            </a:r>
          </a:p>
        </p:txBody>
      </p:sp>
      <p:sp>
        <p:nvSpPr>
          <p:cNvPr id="15" name="TextBox 14"/>
          <p:cNvSpPr txBox="1"/>
          <p:nvPr/>
        </p:nvSpPr>
        <p:spPr>
          <a:xfrm>
            <a:off x="566928" y="4478274"/>
            <a:ext cx="5373608" cy="573786"/>
          </a:xfrm>
          <a:prstGeom prst="rect">
            <a:avLst/>
          </a:prstGeom>
          <a:noFill/>
        </p:spPr>
        <p:txBody>
          <a:bodyPr wrap="square" lIns="0" rIns="0" tIns="0" bIns="0" anchor="t">
            <a:spAutoFit/>
          </a:bodyPr>
          <a:lstStyle/>
          <a:p>
            <a:pPr algn="l">
              <a:lnSpc>
                <a:spcPct val="104000"/>
              </a:lnSpc>
              <a:spcBef>
                <a:spcPts val="0"/>
              </a:spcBef>
              <a:spcAft>
                <a:spcPts val="0"/>
              </a:spcAft>
            </a:pPr>
            <a:r>
              <a:rPr sz="780" b="1">
                <a:solidFill>
                  <a:srgbClr val="C25E1A"/>
                </a:solidFill>
                <a:latin typeface="Calibri"/>
              </a:rPr>
              <a:t>▪  </a:t>
            </a:r>
            <a:r>
              <a:rPr sz="780">
                <a:solidFill>
                  <a:srgbClr val="333A42"/>
                </a:solidFill>
                <a:latin typeface="Calibri"/>
              </a:rPr>
              <a:t>Nosek, B. A., Alter, G., Banks, G. C., Borsboom, D., Bowman, S. D., Breckler, S. J., … Yarkoni, T. (2015). Promoting an open research culture. Science, 348(6242), 1422–1425. https://doi.org/10.1126/science.aab2374</a:t>
            </a:r>
          </a:p>
        </p:txBody>
      </p:sp>
      <p:sp>
        <p:nvSpPr>
          <p:cNvPr id="16" name="TextBox 15"/>
          <p:cNvSpPr txBox="1"/>
          <p:nvPr/>
        </p:nvSpPr>
        <p:spPr>
          <a:xfrm>
            <a:off x="566928" y="5052060"/>
            <a:ext cx="5373608" cy="573786"/>
          </a:xfrm>
          <a:prstGeom prst="rect">
            <a:avLst/>
          </a:prstGeom>
          <a:noFill/>
        </p:spPr>
        <p:txBody>
          <a:bodyPr wrap="square" lIns="0" rIns="0" tIns="0" bIns="0" anchor="t">
            <a:spAutoFit/>
          </a:bodyPr>
          <a:lstStyle/>
          <a:p>
            <a:pPr algn="l">
              <a:lnSpc>
                <a:spcPct val="104000"/>
              </a:lnSpc>
              <a:spcBef>
                <a:spcPts val="0"/>
              </a:spcBef>
              <a:spcAft>
                <a:spcPts val="0"/>
              </a:spcAft>
            </a:pPr>
            <a:r>
              <a:rPr sz="780" b="1">
                <a:solidFill>
                  <a:srgbClr val="C25E1A"/>
                </a:solidFill>
                <a:latin typeface="Calibri"/>
              </a:rPr>
              <a:t>▪  </a:t>
            </a:r>
            <a:r>
              <a:rPr sz="780">
                <a:solidFill>
                  <a:srgbClr val="333A42"/>
                </a:solidFill>
                <a:latin typeface="Calibri"/>
              </a:rPr>
              <a:t>Open Science Collaboration. (2015). Estimating the reproducibility of psychological science. Science, 349(6251), aac4716. https://doi.org/10.1126/science.aac4716</a:t>
            </a:r>
          </a:p>
        </p:txBody>
      </p:sp>
      <p:sp>
        <p:nvSpPr>
          <p:cNvPr id="17" name="TextBox 16"/>
          <p:cNvSpPr txBox="1"/>
          <p:nvPr/>
        </p:nvSpPr>
        <p:spPr>
          <a:xfrm>
            <a:off x="566928" y="5625846"/>
            <a:ext cx="5373608" cy="573786"/>
          </a:xfrm>
          <a:prstGeom prst="rect">
            <a:avLst/>
          </a:prstGeom>
          <a:noFill/>
        </p:spPr>
        <p:txBody>
          <a:bodyPr wrap="square" lIns="0" rIns="0" tIns="0" bIns="0" anchor="t">
            <a:spAutoFit/>
          </a:bodyPr>
          <a:lstStyle/>
          <a:p>
            <a:pPr algn="l">
              <a:lnSpc>
                <a:spcPct val="104000"/>
              </a:lnSpc>
              <a:spcBef>
                <a:spcPts val="0"/>
              </a:spcBef>
              <a:spcAft>
                <a:spcPts val="0"/>
              </a:spcAft>
            </a:pPr>
            <a:r>
              <a:rPr sz="780" b="1">
                <a:solidFill>
                  <a:srgbClr val="C25E1A"/>
                </a:solidFill>
                <a:latin typeface="Calibri"/>
              </a:rPr>
              <a:t>▪  </a:t>
            </a:r>
            <a:r>
              <a:rPr sz="780">
                <a:solidFill>
                  <a:srgbClr val="333A42"/>
                </a:solidFill>
                <a:latin typeface="Calibri"/>
              </a:rPr>
              <a:t>The Lancet. (2010). Retraction—Ileal‑lymphoid‑nodular hyperplasia, non‑specific colitis, and pervasive developmental disorder in children. The Lancet, 375(9713), 445. https://doi.org/10.1016/S0140-6736(10)60175-4</a:t>
            </a:r>
          </a:p>
        </p:txBody>
      </p:sp>
      <p:sp>
        <p:nvSpPr>
          <p:cNvPr id="18" name="TextBox 17"/>
          <p:cNvSpPr txBox="1"/>
          <p:nvPr/>
        </p:nvSpPr>
        <p:spPr>
          <a:xfrm>
            <a:off x="6251432" y="1609344"/>
            <a:ext cx="5373608" cy="573786"/>
          </a:xfrm>
          <a:prstGeom prst="rect">
            <a:avLst/>
          </a:prstGeom>
          <a:noFill/>
        </p:spPr>
        <p:txBody>
          <a:bodyPr wrap="square" lIns="0" rIns="0" tIns="0" bIns="0" anchor="t">
            <a:spAutoFit/>
          </a:bodyPr>
          <a:lstStyle/>
          <a:p>
            <a:pPr algn="l">
              <a:lnSpc>
                <a:spcPct val="104000"/>
              </a:lnSpc>
              <a:spcBef>
                <a:spcPts val="0"/>
              </a:spcBef>
              <a:spcAft>
                <a:spcPts val="0"/>
              </a:spcAft>
            </a:pPr>
            <a:r>
              <a:rPr sz="780" b="1">
                <a:solidFill>
                  <a:srgbClr val="C25E1A"/>
                </a:solidFill>
                <a:latin typeface="Calibri"/>
              </a:rPr>
              <a:t>▪  </a:t>
            </a:r>
            <a:r>
              <a:rPr sz="780">
                <a:solidFill>
                  <a:srgbClr val="333A42"/>
                </a:solidFill>
                <a:latin typeface="Calibri"/>
              </a:rPr>
              <a:t>Wakefield, A. J., Murch, S. H., Anthony, A., Linnell, J., Casson, D. M., Malik, M., … Walker‑Smith, J. A. (1998). RETRACTED: Ileal‑lymphoid‑nodular hyperplasia, non‑specific colitis, and pervasive developmental disorder in children. The Lancet, 351(9103), 637–641. https://doi.org/10.1016/S0140-6736(97)11096-0</a:t>
            </a:r>
          </a:p>
        </p:txBody>
      </p:sp>
      <p:sp>
        <p:nvSpPr>
          <p:cNvPr id="19" name="TextBox 18"/>
          <p:cNvSpPr txBox="1"/>
          <p:nvPr/>
        </p:nvSpPr>
        <p:spPr>
          <a:xfrm>
            <a:off x="6251432" y="2183130"/>
            <a:ext cx="5373608" cy="573786"/>
          </a:xfrm>
          <a:prstGeom prst="rect">
            <a:avLst/>
          </a:prstGeom>
          <a:noFill/>
        </p:spPr>
        <p:txBody>
          <a:bodyPr wrap="square" lIns="0" rIns="0" tIns="0" bIns="0" anchor="t">
            <a:spAutoFit/>
          </a:bodyPr>
          <a:lstStyle/>
          <a:p>
            <a:pPr algn="l">
              <a:lnSpc>
                <a:spcPct val="104000"/>
              </a:lnSpc>
              <a:spcBef>
                <a:spcPts val="0"/>
              </a:spcBef>
              <a:spcAft>
                <a:spcPts val="0"/>
              </a:spcAft>
            </a:pPr>
            <a:r>
              <a:rPr sz="780" b="1">
                <a:solidFill>
                  <a:srgbClr val="C25E1A"/>
                </a:solidFill>
                <a:latin typeface="Calibri"/>
              </a:rPr>
              <a:t>▪  </a:t>
            </a:r>
            <a:r>
              <a:rPr sz="780">
                <a:solidFill>
                  <a:srgbClr val="333A42"/>
                </a:solidFill>
                <a:latin typeface="Calibri"/>
              </a:rPr>
              <a:t>World Medical Association. (2013). World Medical Association Declaration of Helsinki: Ethical principles for medical research involving human subjects. JAMA, 310(20), 2191–2194. https://doi.org/10.1001/jama.2013.281053</a:t>
            </a:r>
          </a:p>
        </p:txBody>
      </p:sp>
      <p:sp>
        <p:nvSpPr>
          <p:cNvPr id="20" name="TextBox 19"/>
          <p:cNvSpPr txBox="1"/>
          <p:nvPr/>
        </p:nvSpPr>
        <p:spPr>
          <a:xfrm>
            <a:off x="6251432" y="2756916"/>
            <a:ext cx="5373608" cy="573786"/>
          </a:xfrm>
          <a:prstGeom prst="rect">
            <a:avLst/>
          </a:prstGeom>
          <a:noFill/>
        </p:spPr>
        <p:txBody>
          <a:bodyPr wrap="square" lIns="0" rIns="0" tIns="0" bIns="0" anchor="t">
            <a:spAutoFit/>
          </a:bodyPr>
          <a:lstStyle/>
          <a:p>
            <a:pPr algn="l">
              <a:lnSpc>
                <a:spcPct val="104000"/>
              </a:lnSpc>
              <a:spcBef>
                <a:spcPts val="0"/>
              </a:spcBef>
              <a:spcAft>
                <a:spcPts val="0"/>
              </a:spcAft>
            </a:pPr>
            <a:r>
              <a:rPr sz="780" b="1">
                <a:solidFill>
                  <a:srgbClr val="C25E1A"/>
                </a:solidFill>
                <a:latin typeface="Calibri"/>
              </a:rPr>
              <a:t>▪  </a:t>
            </a:r>
            <a:r>
              <a:rPr sz="780">
                <a:solidFill>
                  <a:srgbClr val="333A42"/>
                </a:solidFill>
                <a:latin typeface="Calibri"/>
              </a:rPr>
              <a:t>ALLEA. (2023). The European code of conduct for research integrity (rev. ed.). https://allea.org/code-of-conduct/</a:t>
            </a:r>
          </a:p>
        </p:txBody>
      </p:sp>
      <p:sp>
        <p:nvSpPr>
          <p:cNvPr id="21" name="TextBox 20"/>
          <p:cNvSpPr txBox="1"/>
          <p:nvPr/>
        </p:nvSpPr>
        <p:spPr>
          <a:xfrm>
            <a:off x="6251432" y="3330702"/>
            <a:ext cx="5373608" cy="573786"/>
          </a:xfrm>
          <a:prstGeom prst="rect">
            <a:avLst/>
          </a:prstGeom>
          <a:noFill/>
        </p:spPr>
        <p:txBody>
          <a:bodyPr wrap="square" lIns="0" rIns="0" tIns="0" bIns="0" anchor="t">
            <a:spAutoFit/>
          </a:bodyPr>
          <a:lstStyle/>
          <a:p>
            <a:pPr algn="l">
              <a:lnSpc>
                <a:spcPct val="104000"/>
              </a:lnSpc>
              <a:spcBef>
                <a:spcPts val="0"/>
              </a:spcBef>
              <a:spcAft>
                <a:spcPts val="0"/>
              </a:spcAft>
            </a:pPr>
            <a:r>
              <a:rPr sz="780" b="1">
                <a:solidFill>
                  <a:srgbClr val="C25E1A"/>
                </a:solidFill>
                <a:latin typeface="Calibri"/>
              </a:rPr>
              <a:t>▪  </a:t>
            </a:r>
            <a:r>
              <a:rPr sz="780">
                <a:solidFill>
                  <a:srgbClr val="333A42"/>
                </a:solidFill>
                <a:latin typeface="Calibri"/>
              </a:rPr>
              <a:t>ICMJE. (2024). Recommendations for the conduct, reporting, editing, and publication of scholarly work in medical journals. https://www.icmje.org/recommendations/</a:t>
            </a:r>
          </a:p>
        </p:txBody>
      </p:sp>
      <p:sp>
        <p:nvSpPr>
          <p:cNvPr id="22" name="TextBox 21"/>
          <p:cNvSpPr txBox="1"/>
          <p:nvPr/>
        </p:nvSpPr>
        <p:spPr>
          <a:xfrm>
            <a:off x="6251432" y="3904488"/>
            <a:ext cx="5373608" cy="573786"/>
          </a:xfrm>
          <a:prstGeom prst="rect">
            <a:avLst/>
          </a:prstGeom>
          <a:noFill/>
        </p:spPr>
        <p:txBody>
          <a:bodyPr wrap="square" lIns="0" rIns="0" tIns="0" bIns="0" anchor="t">
            <a:spAutoFit/>
          </a:bodyPr>
          <a:lstStyle/>
          <a:p>
            <a:pPr algn="l">
              <a:lnSpc>
                <a:spcPct val="104000"/>
              </a:lnSpc>
              <a:spcBef>
                <a:spcPts val="0"/>
              </a:spcBef>
              <a:spcAft>
                <a:spcPts val="0"/>
              </a:spcAft>
            </a:pPr>
            <a:r>
              <a:rPr sz="780" b="1">
                <a:solidFill>
                  <a:srgbClr val="C25E1A"/>
                </a:solidFill>
                <a:latin typeface="Calibri"/>
              </a:rPr>
              <a:t>▪  </a:t>
            </a:r>
            <a:r>
              <a:rPr sz="780">
                <a:solidFill>
                  <a:srgbClr val="333A42"/>
                </a:solidFill>
                <a:latin typeface="Calibri"/>
              </a:rPr>
              <a:t>National Commission for the Protection of Human Subjects of Biomedical and Behavioral Research. (1979). The Belmont Report: Ethical principles and guidelines for the protection of human subjects of research. U.S. Department of Health, Education, and Welfare.</a:t>
            </a:r>
          </a:p>
        </p:txBody>
      </p:sp>
      <p:sp>
        <p:nvSpPr>
          <p:cNvPr id="23" name="TextBox 22"/>
          <p:cNvSpPr txBox="1"/>
          <p:nvPr/>
        </p:nvSpPr>
        <p:spPr>
          <a:xfrm>
            <a:off x="6251432" y="4478274"/>
            <a:ext cx="5373608" cy="573786"/>
          </a:xfrm>
          <a:prstGeom prst="rect">
            <a:avLst/>
          </a:prstGeom>
          <a:noFill/>
        </p:spPr>
        <p:txBody>
          <a:bodyPr wrap="square" lIns="0" rIns="0" tIns="0" bIns="0" anchor="t">
            <a:spAutoFit/>
          </a:bodyPr>
          <a:lstStyle/>
          <a:p>
            <a:pPr algn="l">
              <a:lnSpc>
                <a:spcPct val="104000"/>
              </a:lnSpc>
              <a:spcBef>
                <a:spcPts val="0"/>
              </a:spcBef>
              <a:spcAft>
                <a:spcPts val="0"/>
              </a:spcAft>
            </a:pPr>
            <a:r>
              <a:rPr sz="780" b="1">
                <a:solidFill>
                  <a:srgbClr val="C25E1A"/>
                </a:solidFill>
                <a:latin typeface="Calibri"/>
              </a:rPr>
              <a:t>▪  </a:t>
            </a:r>
            <a:r>
              <a:rPr sz="780">
                <a:solidFill>
                  <a:srgbClr val="333A42"/>
                </a:solidFill>
                <a:latin typeface="Calibri"/>
              </a:rPr>
              <a:t>Singapore Statement on Research Integrity. (2010). https://www.singaporestatement.org/</a:t>
            </a:r>
          </a:p>
        </p:txBody>
      </p:sp>
      <p:sp>
        <p:nvSpPr>
          <p:cNvPr id="24" name="TextBox 23"/>
          <p:cNvSpPr txBox="1"/>
          <p:nvPr/>
        </p:nvSpPr>
        <p:spPr>
          <a:xfrm>
            <a:off x="6251432" y="5052060"/>
            <a:ext cx="5373608" cy="573786"/>
          </a:xfrm>
          <a:prstGeom prst="rect">
            <a:avLst/>
          </a:prstGeom>
          <a:noFill/>
        </p:spPr>
        <p:txBody>
          <a:bodyPr wrap="square" lIns="0" rIns="0" tIns="0" bIns="0" anchor="t">
            <a:spAutoFit/>
          </a:bodyPr>
          <a:lstStyle/>
          <a:p>
            <a:pPr algn="l">
              <a:lnSpc>
                <a:spcPct val="104000"/>
              </a:lnSpc>
              <a:spcBef>
                <a:spcPts val="0"/>
              </a:spcBef>
              <a:spcAft>
                <a:spcPts val="0"/>
              </a:spcAft>
            </a:pPr>
            <a:r>
              <a:rPr sz="780" b="1">
                <a:solidFill>
                  <a:srgbClr val="C25E1A"/>
                </a:solidFill>
                <a:latin typeface="Calibri"/>
              </a:rPr>
              <a:t>▪  </a:t>
            </a:r>
            <a:r>
              <a:rPr sz="780">
                <a:solidFill>
                  <a:srgbClr val="333A42"/>
                </a:solidFill>
                <a:latin typeface="Calibri"/>
              </a:rPr>
              <a:t>Stanford Encyclopedia of Philosophy. (n.d.). Entries on metaphysics, epistemology, ethics, logic, aesthetics, and philosophy of education. Stanford University. https://plato.stanford.edu/</a:t>
            </a:r>
          </a:p>
        </p:txBody>
      </p:sp>
      <p:sp>
        <p:nvSpPr>
          <p:cNvPr id="25" name="TextBox 24"/>
          <p:cNvSpPr txBox="1"/>
          <p:nvPr/>
        </p:nvSpPr>
        <p:spPr>
          <a:xfrm>
            <a:off x="6251432" y="5625846"/>
            <a:ext cx="5373608" cy="573786"/>
          </a:xfrm>
          <a:prstGeom prst="rect">
            <a:avLst/>
          </a:prstGeom>
          <a:noFill/>
        </p:spPr>
        <p:txBody>
          <a:bodyPr wrap="square" lIns="0" rIns="0" tIns="0" bIns="0" anchor="t">
            <a:spAutoFit/>
          </a:bodyPr>
          <a:lstStyle/>
          <a:p>
            <a:pPr algn="l">
              <a:lnSpc>
                <a:spcPct val="104000"/>
              </a:lnSpc>
              <a:spcBef>
                <a:spcPts val="0"/>
              </a:spcBef>
              <a:spcAft>
                <a:spcPts val="0"/>
              </a:spcAft>
            </a:pPr>
            <a:r>
              <a:rPr sz="780" b="1">
                <a:solidFill>
                  <a:srgbClr val="C25E1A"/>
                </a:solidFill>
                <a:latin typeface="Calibri"/>
              </a:rPr>
              <a:t>▪  </a:t>
            </a:r>
            <a:r>
              <a:rPr sz="780">
                <a:solidFill>
                  <a:srgbClr val="333A42"/>
                </a:solidFill>
                <a:latin typeface="Calibri"/>
              </a:rPr>
              <a:t>UNESCO. (2021). Recommendation on the ethics of artificial intelligence. https://www.unesco.org/en/artificial-intelligence/recommendation-ethics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6012" cy="6858000"/>
          </a:xfrm>
          <a:prstGeom prst="rect">
            <a:avLst/>
          </a:prstGeom>
          <a:solidFill>
            <a:srgbClr val="C25E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56616"/>
            <a:ext cx="11058113" cy="219456"/>
          </a:xfrm>
          <a:prstGeom prst="rect">
            <a:avLst/>
          </a:prstGeom>
          <a:noFill/>
        </p:spPr>
        <p:txBody>
          <a:bodyPr wrap="square" lIns="0" rIns="0" tIns="0" bIns="0" anchor="t">
            <a:spAutoFit/>
          </a:bodyPr>
          <a:lstStyle/>
          <a:p>
            <a:pPr algn="l">
              <a:lnSpc>
                <a:spcPct val="106000"/>
              </a:lnSpc>
              <a:spcBef>
                <a:spcPts val="0"/>
              </a:spcBef>
              <a:spcAft>
                <a:spcPts val="0"/>
              </a:spcAft>
            </a:pPr>
            <a:r>
              <a:rPr sz="960" b="1">
                <a:solidFill>
                  <a:srgbClr val="C25E1A"/>
                </a:solidFill>
                <a:latin typeface="Calibri"/>
              </a:rPr>
              <a:t>REFERENCES AND DISCUSSION</a:t>
            </a:r>
          </a:p>
        </p:txBody>
      </p:sp>
      <p:sp>
        <p:nvSpPr>
          <p:cNvPr id="5" name="TextBox 4"/>
          <p:cNvSpPr txBox="1"/>
          <p:nvPr/>
        </p:nvSpPr>
        <p:spPr>
          <a:xfrm>
            <a:off x="566928" y="557784"/>
            <a:ext cx="9960833" cy="566928"/>
          </a:xfrm>
          <a:prstGeom prst="rect">
            <a:avLst/>
          </a:prstGeom>
          <a:noFill/>
        </p:spPr>
        <p:txBody>
          <a:bodyPr wrap="square" lIns="0" rIns="0" tIns="0" bIns="0" anchor="t">
            <a:spAutoFit/>
          </a:bodyPr>
          <a:lstStyle/>
          <a:p>
            <a:pPr algn="l">
              <a:lnSpc>
                <a:spcPct val="100000"/>
              </a:lnSpc>
              <a:spcBef>
                <a:spcPts val="0"/>
              </a:spcBef>
              <a:spcAft>
                <a:spcPts val="0"/>
              </a:spcAft>
            </a:pPr>
            <a:r>
              <a:rPr sz="2500" b="1">
                <a:solidFill>
                  <a:srgbClr val="0F2D52"/>
                </a:solidFill>
                <a:latin typeface="Calibri"/>
              </a:rPr>
              <a:t>References — books, and questions for discussion</a:t>
            </a:r>
          </a:p>
        </p:txBody>
      </p:sp>
      <p:sp>
        <p:nvSpPr>
          <p:cNvPr id="6" name="Rectangle 5"/>
          <p:cNvSpPr/>
          <p:nvPr/>
        </p:nvSpPr>
        <p:spPr>
          <a:xfrm>
            <a:off x="566928" y="950976"/>
            <a:ext cx="11058113" cy="10058"/>
          </a:xfrm>
          <a:prstGeom prst="rect">
            <a:avLst/>
          </a:prstGeom>
          <a:solidFill>
            <a:srgbClr val="D5D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6492240"/>
            <a:ext cx="10143713" cy="219456"/>
          </a:xfrm>
          <a:prstGeom prst="rect">
            <a:avLst/>
          </a:prstGeom>
          <a:noFill/>
        </p:spPr>
        <p:txBody>
          <a:bodyPr wrap="square" lIns="0" rIns="0" tIns="0" bIns="0" anchor="t">
            <a:spAutoFit/>
          </a:bodyPr>
          <a:lstStyle/>
          <a:p>
            <a:pPr algn="l">
              <a:lnSpc>
                <a:spcPct val="106000"/>
              </a:lnSpc>
              <a:spcBef>
                <a:spcPts val="0"/>
              </a:spcBef>
              <a:spcAft>
                <a:spcPts val="0"/>
              </a:spcAft>
            </a:pPr>
            <a:r>
              <a:rPr sz="819" b="0">
                <a:solidFill>
                  <a:srgbClr val="8A94A2"/>
                </a:solidFill>
                <a:latin typeface="Calibri"/>
              </a:rPr>
              <a:t>Philosophy and Its Role in Education and Society</a:t>
            </a:r>
          </a:p>
        </p:txBody>
      </p:sp>
      <p:sp>
        <p:nvSpPr>
          <p:cNvPr id="8" name="TextBox 7"/>
          <p:cNvSpPr txBox="1"/>
          <p:nvPr/>
        </p:nvSpPr>
        <p:spPr>
          <a:xfrm>
            <a:off x="10802081" y="6492240"/>
            <a:ext cx="822960" cy="219456"/>
          </a:xfrm>
          <a:prstGeom prst="rect">
            <a:avLst/>
          </a:prstGeom>
          <a:noFill/>
        </p:spPr>
        <p:txBody>
          <a:bodyPr wrap="square" lIns="0" rIns="0" tIns="0" bIns="0" anchor="t">
            <a:spAutoFit/>
          </a:bodyPr>
          <a:lstStyle/>
          <a:p>
            <a:pPr algn="r">
              <a:lnSpc>
                <a:spcPct val="106000"/>
              </a:lnSpc>
              <a:spcBef>
                <a:spcPts val="0"/>
              </a:spcBef>
              <a:spcAft>
                <a:spcPts val="0"/>
              </a:spcAft>
            </a:pPr>
            <a:r>
              <a:rPr sz="860" b="1">
                <a:solidFill>
                  <a:srgbClr val="5F6B7A"/>
                </a:solidFill>
                <a:latin typeface="Calibri"/>
              </a:rPr>
              <a:t>20 / 20</a:t>
            </a:r>
          </a:p>
        </p:txBody>
      </p:sp>
      <p:sp>
        <p:nvSpPr>
          <p:cNvPr id="9" name="TextBox 8"/>
          <p:cNvSpPr txBox="1"/>
          <p:nvPr/>
        </p:nvSpPr>
        <p:spPr>
          <a:xfrm>
            <a:off x="566928" y="1133856"/>
            <a:ext cx="3515349" cy="422656"/>
          </a:xfrm>
          <a:prstGeom prst="rect">
            <a:avLst/>
          </a:prstGeom>
          <a:noFill/>
        </p:spPr>
        <p:txBody>
          <a:bodyPr wrap="square" lIns="0" rIns="0" tIns="0" bIns="0" anchor="t">
            <a:spAutoFit/>
          </a:bodyPr>
          <a:lstStyle/>
          <a:p>
            <a:pPr algn="l">
              <a:lnSpc>
                <a:spcPct val="104000"/>
              </a:lnSpc>
              <a:spcBef>
                <a:spcPts val="0"/>
              </a:spcBef>
              <a:spcAft>
                <a:spcPts val="0"/>
              </a:spcAft>
            </a:pPr>
            <a:r>
              <a:rPr sz="740" b="1">
                <a:solidFill>
                  <a:srgbClr val="C25E1A"/>
                </a:solidFill>
                <a:latin typeface="Calibri"/>
              </a:rPr>
              <a:t>▪  </a:t>
            </a:r>
            <a:r>
              <a:rPr sz="740">
                <a:solidFill>
                  <a:srgbClr val="333A42"/>
                </a:solidFill>
                <a:latin typeface="Calibri"/>
              </a:rPr>
              <a:t>Beauchamp, T. L., &amp; Childress, J. F. (1979). Principles of biomedical ethics. Oxford University Press.</a:t>
            </a:r>
          </a:p>
        </p:txBody>
      </p:sp>
      <p:sp>
        <p:nvSpPr>
          <p:cNvPr id="10" name="TextBox 9"/>
          <p:cNvSpPr txBox="1"/>
          <p:nvPr/>
        </p:nvSpPr>
        <p:spPr>
          <a:xfrm>
            <a:off x="566928" y="1556512"/>
            <a:ext cx="3515349" cy="422656"/>
          </a:xfrm>
          <a:prstGeom prst="rect">
            <a:avLst/>
          </a:prstGeom>
          <a:noFill/>
        </p:spPr>
        <p:txBody>
          <a:bodyPr wrap="square" lIns="0" rIns="0" tIns="0" bIns="0" anchor="t">
            <a:spAutoFit/>
          </a:bodyPr>
          <a:lstStyle/>
          <a:p>
            <a:pPr algn="l">
              <a:lnSpc>
                <a:spcPct val="104000"/>
              </a:lnSpc>
              <a:spcBef>
                <a:spcPts val="0"/>
              </a:spcBef>
              <a:spcAft>
                <a:spcPts val="0"/>
              </a:spcAft>
            </a:pPr>
            <a:r>
              <a:rPr sz="740" b="1">
                <a:solidFill>
                  <a:srgbClr val="C25E1A"/>
                </a:solidFill>
                <a:latin typeface="Calibri"/>
              </a:rPr>
              <a:t>▪  </a:t>
            </a:r>
            <a:r>
              <a:rPr sz="740">
                <a:solidFill>
                  <a:srgbClr val="333A42"/>
                </a:solidFill>
                <a:latin typeface="Calibri"/>
              </a:rPr>
              <a:t>Biesta, G. J. J. (2010). Good education in an age of measurement: Ethics, politics, democracy. Paradigm Publishers.</a:t>
            </a:r>
          </a:p>
        </p:txBody>
      </p:sp>
      <p:sp>
        <p:nvSpPr>
          <p:cNvPr id="11" name="TextBox 10"/>
          <p:cNvSpPr txBox="1"/>
          <p:nvPr/>
        </p:nvSpPr>
        <p:spPr>
          <a:xfrm>
            <a:off x="566928" y="1979168"/>
            <a:ext cx="3515349" cy="422656"/>
          </a:xfrm>
          <a:prstGeom prst="rect">
            <a:avLst/>
          </a:prstGeom>
          <a:noFill/>
        </p:spPr>
        <p:txBody>
          <a:bodyPr wrap="square" lIns="0" rIns="0" tIns="0" bIns="0" anchor="t">
            <a:spAutoFit/>
          </a:bodyPr>
          <a:lstStyle/>
          <a:p>
            <a:pPr algn="l">
              <a:lnSpc>
                <a:spcPct val="104000"/>
              </a:lnSpc>
              <a:spcBef>
                <a:spcPts val="0"/>
              </a:spcBef>
              <a:spcAft>
                <a:spcPts val="0"/>
              </a:spcAft>
            </a:pPr>
            <a:r>
              <a:rPr sz="740" b="1">
                <a:solidFill>
                  <a:srgbClr val="C25E1A"/>
                </a:solidFill>
                <a:latin typeface="Calibri"/>
              </a:rPr>
              <a:t>▪  </a:t>
            </a:r>
            <a:r>
              <a:rPr sz="740">
                <a:solidFill>
                  <a:srgbClr val="333A42"/>
                </a:solidFill>
                <a:latin typeface="Calibri"/>
              </a:rPr>
              <a:t>Curren, R. (Ed.). (2007). Philosophy of education: An anthology. Blackwell Publishing.</a:t>
            </a:r>
          </a:p>
        </p:txBody>
      </p:sp>
      <p:sp>
        <p:nvSpPr>
          <p:cNvPr id="12" name="TextBox 11"/>
          <p:cNvSpPr txBox="1"/>
          <p:nvPr/>
        </p:nvSpPr>
        <p:spPr>
          <a:xfrm>
            <a:off x="566928" y="2401824"/>
            <a:ext cx="3515349" cy="422656"/>
          </a:xfrm>
          <a:prstGeom prst="rect">
            <a:avLst/>
          </a:prstGeom>
          <a:noFill/>
        </p:spPr>
        <p:txBody>
          <a:bodyPr wrap="square" lIns="0" rIns="0" tIns="0" bIns="0" anchor="t">
            <a:spAutoFit/>
          </a:bodyPr>
          <a:lstStyle/>
          <a:p>
            <a:pPr algn="l">
              <a:lnSpc>
                <a:spcPct val="104000"/>
              </a:lnSpc>
              <a:spcBef>
                <a:spcPts val="0"/>
              </a:spcBef>
              <a:spcAft>
                <a:spcPts val="0"/>
              </a:spcAft>
            </a:pPr>
            <a:r>
              <a:rPr sz="740" b="1">
                <a:solidFill>
                  <a:srgbClr val="C25E1A"/>
                </a:solidFill>
                <a:latin typeface="Calibri"/>
              </a:rPr>
              <a:t>▪  </a:t>
            </a:r>
            <a:r>
              <a:rPr sz="740">
                <a:solidFill>
                  <a:srgbClr val="333A42"/>
                </a:solidFill>
                <a:latin typeface="Calibri"/>
              </a:rPr>
              <a:t>Dewey, J. (1916). Democracy and education: An introduction to the philosophy of education. Macmillan.</a:t>
            </a:r>
          </a:p>
        </p:txBody>
      </p:sp>
      <p:sp>
        <p:nvSpPr>
          <p:cNvPr id="13" name="TextBox 12"/>
          <p:cNvSpPr txBox="1"/>
          <p:nvPr/>
        </p:nvSpPr>
        <p:spPr>
          <a:xfrm>
            <a:off x="566928" y="2824480"/>
            <a:ext cx="3515349" cy="422656"/>
          </a:xfrm>
          <a:prstGeom prst="rect">
            <a:avLst/>
          </a:prstGeom>
          <a:noFill/>
        </p:spPr>
        <p:txBody>
          <a:bodyPr wrap="square" lIns="0" rIns="0" tIns="0" bIns="0" anchor="t">
            <a:spAutoFit/>
          </a:bodyPr>
          <a:lstStyle/>
          <a:p>
            <a:pPr algn="l">
              <a:lnSpc>
                <a:spcPct val="104000"/>
              </a:lnSpc>
              <a:spcBef>
                <a:spcPts val="0"/>
              </a:spcBef>
              <a:spcAft>
                <a:spcPts val="0"/>
              </a:spcAft>
            </a:pPr>
            <a:r>
              <a:rPr sz="740" b="1">
                <a:solidFill>
                  <a:srgbClr val="C25E1A"/>
                </a:solidFill>
                <a:latin typeface="Calibri"/>
              </a:rPr>
              <a:t>▪  </a:t>
            </a:r>
            <a:r>
              <a:rPr sz="740">
                <a:solidFill>
                  <a:srgbClr val="333A42"/>
                </a:solidFill>
                <a:latin typeface="Calibri"/>
              </a:rPr>
              <a:t>Dewey, J. (1938). Experience and education. Macmillan.</a:t>
            </a:r>
          </a:p>
        </p:txBody>
      </p:sp>
      <p:sp>
        <p:nvSpPr>
          <p:cNvPr id="14" name="TextBox 13"/>
          <p:cNvSpPr txBox="1"/>
          <p:nvPr/>
        </p:nvSpPr>
        <p:spPr>
          <a:xfrm>
            <a:off x="566928" y="3247136"/>
            <a:ext cx="3515349" cy="422656"/>
          </a:xfrm>
          <a:prstGeom prst="rect">
            <a:avLst/>
          </a:prstGeom>
          <a:noFill/>
        </p:spPr>
        <p:txBody>
          <a:bodyPr wrap="square" lIns="0" rIns="0" tIns="0" bIns="0" anchor="t">
            <a:spAutoFit/>
          </a:bodyPr>
          <a:lstStyle/>
          <a:p>
            <a:pPr algn="l">
              <a:lnSpc>
                <a:spcPct val="104000"/>
              </a:lnSpc>
              <a:spcBef>
                <a:spcPts val="0"/>
              </a:spcBef>
              <a:spcAft>
                <a:spcPts val="0"/>
              </a:spcAft>
            </a:pPr>
            <a:r>
              <a:rPr sz="740" b="1">
                <a:solidFill>
                  <a:srgbClr val="C25E1A"/>
                </a:solidFill>
                <a:latin typeface="Calibri"/>
              </a:rPr>
              <a:t>▪  </a:t>
            </a:r>
            <a:r>
              <a:rPr sz="740">
                <a:solidFill>
                  <a:srgbClr val="333A42"/>
                </a:solidFill>
                <a:latin typeface="Calibri"/>
              </a:rPr>
              <a:t>Freire, P. (1970). Pedagogy of the oppressed. Herder and Herder.</a:t>
            </a:r>
          </a:p>
        </p:txBody>
      </p:sp>
      <p:sp>
        <p:nvSpPr>
          <p:cNvPr id="15" name="TextBox 14"/>
          <p:cNvSpPr txBox="1"/>
          <p:nvPr/>
        </p:nvSpPr>
        <p:spPr>
          <a:xfrm>
            <a:off x="566928" y="3669792"/>
            <a:ext cx="3515349" cy="422656"/>
          </a:xfrm>
          <a:prstGeom prst="rect">
            <a:avLst/>
          </a:prstGeom>
          <a:noFill/>
        </p:spPr>
        <p:txBody>
          <a:bodyPr wrap="square" lIns="0" rIns="0" tIns="0" bIns="0" anchor="t">
            <a:spAutoFit/>
          </a:bodyPr>
          <a:lstStyle/>
          <a:p>
            <a:pPr algn="l">
              <a:lnSpc>
                <a:spcPct val="104000"/>
              </a:lnSpc>
              <a:spcBef>
                <a:spcPts val="0"/>
              </a:spcBef>
              <a:spcAft>
                <a:spcPts val="0"/>
              </a:spcAft>
            </a:pPr>
            <a:r>
              <a:rPr sz="740" b="1">
                <a:solidFill>
                  <a:srgbClr val="C25E1A"/>
                </a:solidFill>
                <a:latin typeface="Calibri"/>
              </a:rPr>
              <a:t>▪  </a:t>
            </a:r>
            <a:r>
              <a:rPr sz="740">
                <a:solidFill>
                  <a:srgbClr val="333A42"/>
                </a:solidFill>
                <a:latin typeface="Calibri"/>
              </a:rPr>
              <a:t>Gutek, G. L. (2013). Philosophical, ideological, and theoretical perspectives on education (2nd ed.). Pearson.</a:t>
            </a:r>
          </a:p>
        </p:txBody>
      </p:sp>
      <p:sp>
        <p:nvSpPr>
          <p:cNvPr id="16" name="TextBox 15"/>
          <p:cNvSpPr txBox="1"/>
          <p:nvPr/>
        </p:nvSpPr>
        <p:spPr>
          <a:xfrm>
            <a:off x="566928" y="4092448"/>
            <a:ext cx="3515349" cy="422656"/>
          </a:xfrm>
          <a:prstGeom prst="rect">
            <a:avLst/>
          </a:prstGeom>
          <a:noFill/>
        </p:spPr>
        <p:txBody>
          <a:bodyPr wrap="square" lIns="0" rIns="0" tIns="0" bIns="0" anchor="t">
            <a:spAutoFit/>
          </a:bodyPr>
          <a:lstStyle/>
          <a:p>
            <a:pPr algn="l">
              <a:lnSpc>
                <a:spcPct val="104000"/>
              </a:lnSpc>
              <a:spcBef>
                <a:spcPts val="0"/>
              </a:spcBef>
              <a:spcAft>
                <a:spcPts val="0"/>
              </a:spcAft>
            </a:pPr>
            <a:r>
              <a:rPr sz="740" b="1">
                <a:solidFill>
                  <a:srgbClr val="C25E1A"/>
                </a:solidFill>
                <a:latin typeface="Calibri"/>
              </a:rPr>
              <a:t>▪  </a:t>
            </a:r>
            <a:r>
              <a:rPr sz="740">
                <a:solidFill>
                  <a:srgbClr val="333A42"/>
                </a:solidFill>
                <a:latin typeface="Calibri"/>
              </a:rPr>
              <a:t>Gutmann, A. (1999). Democratic education (2nd ed.). Princeton University Press.</a:t>
            </a:r>
          </a:p>
        </p:txBody>
      </p:sp>
      <p:sp>
        <p:nvSpPr>
          <p:cNvPr id="17" name="TextBox 16"/>
          <p:cNvSpPr txBox="1"/>
          <p:nvPr/>
        </p:nvSpPr>
        <p:spPr>
          <a:xfrm>
            <a:off x="566928" y="4515104"/>
            <a:ext cx="3515349" cy="422656"/>
          </a:xfrm>
          <a:prstGeom prst="rect">
            <a:avLst/>
          </a:prstGeom>
          <a:noFill/>
        </p:spPr>
        <p:txBody>
          <a:bodyPr wrap="square" lIns="0" rIns="0" tIns="0" bIns="0" anchor="t">
            <a:spAutoFit/>
          </a:bodyPr>
          <a:lstStyle/>
          <a:p>
            <a:pPr algn="l">
              <a:lnSpc>
                <a:spcPct val="104000"/>
              </a:lnSpc>
              <a:spcBef>
                <a:spcPts val="0"/>
              </a:spcBef>
              <a:spcAft>
                <a:spcPts val="0"/>
              </a:spcAft>
            </a:pPr>
            <a:r>
              <a:rPr sz="740" b="1">
                <a:solidFill>
                  <a:srgbClr val="C25E1A"/>
                </a:solidFill>
                <a:latin typeface="Calibri"/>
              </a:rPr>
              <a:t>▪  </a:t>
            </a:r>
            <a:r>
              <a:rPr sz="740">
                <a:solidFill>
                  <a:srgbClr val="333A42"/>
                </a:solidFill>
                <a:latin typeface="Calibri"/>
              </a:rPr>
              <a:t>Hirst, P. H. (1974). Knowledge and the curriculum: A collection of philosophical papers. Routledge &amp; Kegan Paul.</a:t>
            </a:r>
          </a:p>
        </p:txBody>
      </p:sp>
      <p:sp>
        <p:nvSpPr>
          <p:cNvPr id="18" name="TextBox 17"/>
          <p:cNvSpPr txBox="1"/>
          <p:nvPr/>
        </p:nvSpPr>
        <p:spPr>
          <a:xfrm>
            <a:off x="4338309" y="1133856"/>
            <a:ext cx="3515349" cy="422656"/>
          </a:xfrm>
          <a:prstGeom prst="rect">
            <a:avLst/>
          </a:prstGeom>
          <a:noFill/>
        </p:spPr>
        <p:txBody>
          <a:bodyPr wrap="square" lIns="0" rIns="0" tIns="0" bIns="0" anchor="t">
            <a:spAutoFit/>
          </a:bodyPr>
          <a:lstStyle/>
          <a:p>
            <a:pPr algn="l">
              <a:lnSpc>
                <a:spcPct val="104000"/>
              </a:lnSpc>
              <a:spcBef>
                <a:spcPts val="0"/>
              </a:spcBef>
              <a:spcAft>
                <a:spcPts val="0"/>
              </a:spcAft>
            </a:pPr>
            <a:r>
              <a:rPr sz="740" b="1">
                <a:solidFill>
                  <a:srgbClr val="C25E1A"/>
                </a:solidFill>
                <a:latin typeface="Calibri"/>
              </a:rPr>
              <a:t>▪  </a:t>
            </a:r>
            <a:r>
              <a:rPr sz="740">
                <a:solidFill>
                  <a:srgbClr val="333A42"/>
                </a:solidFill>
                <a:latin typeface="Calibri"/>
              </a:rPr>
              <a:t>hooks, b. (1994). Teaching to transgress: Education as the practice of freedom. Routledge.</a:t>
            </a:r>
          </a:p>
        </p:txBody>
      </p:sp>
      <p:sp>
        <p:nvSpPr>
          <p:cNvPr id="19" name="TextBox 18"/>
          <p:cNvSpPr txBox="1"/>
          <p:nvPr/>
        </p:nvSpPr>
        <p:spPr>
          <a:xfrm>
            <a:off x="4338309" y="1556512"/>
            <a:ext cx="3515349" cy="422656"/>
          </a:xfrm>
          <a:prstGeom prst="rect">
            <a:avLst/>
          </a:prstGeom>
          <a:noFill/>
        </p:spPr>
        <p:txBody>
          <a:bodyPr wrap="square" lIns="0" rIns="0" tIns="0" bIns="0" anchor="t">
            <a:spAutoFit/>
          </a:bodyPr>
          <a:lstStyle/>
          <a:p>
            <a:pPr algn="l">
              <a:lnSpc>
                <a:spcPct val="104000"/>
              </a:lnSpc>
              <a:spcBef>
                <a:spcPts val="0"/>
              </a:spcBef>
              <a:spcAft>
                <a:spcPts val="0"/>
              </a:spcAft>
            </a:pPr>
            <a:r>
              <a:rPr sz="740" b="1">
                <a:solidFill>
                  <a:srgbClr val="C25E1A"/>
                </a:solidFill>
                <a:latin typeface="Calibri"/>
              </a:rPr>
              <a:t>▪  </a:t>
            </a:r>
            <a:r>
              <a:rPr sz="740">
                <a:solidFill>
                  <a:srgbClr val="333A42"/>
                </a:solidFill>
                <a:latin typeface="Calibri"/>
              </a:rPr>
              <a:t>Jones, J. H. (1981). Bad blood: The Tuskegee syphilis experiment. Free Press.</a:t>
            </a:r>
          </a:p>
        </p:txBody>
      </p:sp>
      <p:sp>
        <p:nvSpPr>
          <p:cNvPr id="20" name="TextBox 19"/>
          <p:cNvSpPr txBox="1"/>
          <p:nvPr/>
        </p:nvSpPr>
        <p:spPr>
          <a:xfrm>
            <a:off x="4338309" y="1979168"/>
            <a:ext cx="3515349" cy="422656"/>
          </a:xfrm>
          <a:prstGeom prst="rect">
            <a:avLst/>
          </a:prstGeom>
          <a:noFill/>
        </p:spPr>
        <p:txBody>
          <a:bodyPr wrap="square" lIns="0" rIns="0" tIns="0" bIns="0" anchor="t">
            <a:spAutoFit/>
          </a:bodyPr>
          <a:lstStyle/>
          <a:p>
            <a:pPr algn="l">
              <a:lnSpc>
                <a:spcPct val="104000"/>
              </a:lnSpc>
              <a:spcBef>
                <a:spcPts val="0"/>
              </a:spcBef>
              <a:spcAft>
                <a:spcPts val="0"/>
              </a:spcAft>
            </a:pPr>
            <a:r>
              <a:rPr sz="740" b="1">
                <a:solidFill>
                  <a:srgbClr val="C25E1A"/>
                </a:solidFill>
                <a:latin typeface="Calibri"/>
              </a:rPr>
              <a:t>▪  </a:t>
            </a:r>
            <a:r>
              <a:rPr sz="740">
                <a:solidFill>
                  <a:srgbClr val="333A42"/>
                </a:solidFill>
                <a:latin typeface="Calibri"/>
              </a:rPr>
              <a:t>Kuhn, T. S. (1962). The structure of scientific revolutions. University of Chicago Press.</a:t>
            </a:r>
          </a:p>
        </p:txBody>
      </p:sp>
      <p:sp>
        <p:nvSpPr>
          <p:cNvPr id="21" name="TextBox 20"/>
          <p:cNvSpPr txBox="1"/>
          <p:nvPr/>
        </p:nvSpPr>
        <p:spPr>
          <a:xfrm>
            <a:off x="4338309" y="2401824"/>
            <a:ext cx="3515349" cy="422656"/>
          </a:xfrm>
          <a:prstGeom prst="rect">
            <a:avLst/>
          </a:prstGeom>
          <a:noFill/>
        </p:spPr>
        <p:txBody>
          <a:bodyPr wrap="square" lIns="0" rIns="0" tIns="0" bIns="0" anchor="t">
            <a:spAutoFit/>
          </a:bodyPr>
          <a:lstStyle/>
          <a:p>
            <a:pPr algn="l">
              <a:lnSpc>
                <a:spcPct val="104000"/>
              </a:lnSpc>
              <a:spcBef>
                <a:spcPts val="0"/>
              </a:spcBef>
              <a:spcAft>
                <a:spcPts val="0"/>
              </a:spcAft>
            </a:pPr>
            <a:r>
              <a:rPr sz="740" b="1">
                <a:solidFill>
                  <a:srgbClr val="C25E1A"/>
                </a:solidFill>
                <a:latin typeface="Calibri"/>
              </a:rPr>
              <a:t>▪  </a:t>
            </a:r>
            <a:r>
              <a:rPr sz="740">
                <a:solidFill>
                  <a:srgbClr val="333A42"/>
                </a:solidFill>
                <a:latin typeface="Calibri"/>
              </a:rPr>
              <a:t>Milgram, S. (1974). Obedience to authority: An experimental view. Harper &amp; Row.</a:t>
            </a:r>
          </a:p>
        </p:txBody>
      </p:sp>
      <p:sp>
        <p:nvSpPr>
          <p:cNvPr id="22" name="TextBox 21"/>
          <p:cNvSpPr txBox="1"/>
          <p:nvPr/>
        </p:nvSpPr>
        <p:spPr>
          <a:xfrm>
            <a:off x="4338309" y="2824480"/>
            <a:ext cx="3515349" cy="422656"/>
          </a:xfrm>
          <a:prstGeom prst="rect">
            <a:avLst/>
          </a:prstGeom>
          <a:noFill/>
        </p:spPr>
        <p:txBody>
          <a:bodyPr wrap="square" lIns="0" rIns="0" tIns="0" bIns="0" anchor="t">
            <a:spAutoFit/>
          </a:bodyPr>
          <a:lstStyle/>
          <a:p>
            <a:pPr algn="l">
              <a:lnSpc>
                <a:spcPct val="104000"/>
              </a:lnSpc>
              <a:spcBef>
                <a:spcPts val="0"/>
              </a:spcBef>
              <a:spcAft>
                <a:spcPts val="0"/>
              </a:spcAft>
            </a:pPr>
            <a:r>
              <a:rPr sz="740" b="1">
                <a:solidFill>
                  <a:srgbClr val="C25E1A"/>
                </a:solidFill>
                <a:latin typeface="Calibri"/>
              </a:rPr>
              <a:t>▪  </a:t>
            </a:r>
            <a:r>
              <a:rPr sz="740">
                <a:solidFill>
                  <a:srgbClr val="333A42"/>
                </a:solidFill>
                <a:latin typeface="Calibri"/>
              </a:rPr>
              <a:t>Newman, J. H. (1873). The idea of a university. Pickering.</a:t>
            </a:r>
          </a:p>
        </p:txBody>
      </p:sp>
      <p:sp>
        <p:nvSpPr>
          <p:cNvPr id="23" name="TextBox 22"/>
          <p:cNvSpPr txBox="1"/>
          <p:nvPr/>
        </p:nvSpPr>
        <p:spPr>
          <a:xfrm>
            <a:off x="4338309" y="3247136"/>
            <a:ext cx="3515349" cy="422656"/>
          </a:xfrm>
          <a:prstGeom prst="rect">
            <a:avLst/>
          </a:prstGeom>
          <a:noFill/>
        </p:spPr>
        <p:txBody>
          <a:bodyPr wrap="square" lIns="0" rIns="0" tIns="0" bIns="0" anchor="t">
            <a:spAutoFit/>
          </a:bodyPr>
          <a:lstStyle/>
          <a:p>
            <a:pPr algn="l">
              <a:lnSpc>
                <a:spcPct val="104000"/>
              </a:lnSpc>
              <a:spcBef>
                <a:spcPts val="0"/>
              </a:spcBef>
              <a:spcAft>
                <a:spcPts val="0"/>
              </a:spcAft>
            </a:pPr>
            <a:r>
              <a:rPr sz="740" b="1">
                <a:solidFill>
                  <a:srgbClr val="C25E1A"/>
                </a:solidFill>
                <a:latin typeface="Calibri"/>
              </a:rPr>
              <a:t>▪  </a:t>
            </a:r>
            <a:r>
              <a:rPr sz="740">
                <a:solidFill>
                  <a:srgbClr val="333A42"/>
                </a:solidFill>
                <a:latin typeface="Calibri"/>
              </a:rPr>
              <a:t>Noddings, N. (1984). Caring: A feminine approach to ethics and moral education. University of California Press.</a:t>
            </a:r>
          </a:p>
        </p:txBody>
      </p:sp>
      <p:sp>
        <p:nvSpPr>
          <p:cNvPr id="24" name="TextBox 23"/>
          <p:cNvSpPr txBox="1"/>
          <p:nvPr/>
        </p:nvSpPr>
        <p:spPr>
          <a:xfrm>
            <a:off x="4338309" y="3669792"/>
            <a:ext cx="3515349" cy="422656"/>
          </a:xfrm>
          <a:prstGeom prst="rect">
            <a:avLst/>
          </a:prstGeom>
          <a:noFill/>
        </p:spPr>
        <p:txBody>
          <a:bodyPr wrap="square" lIns="0" rIns="0" tIns="0" bIns="0" anchor="t">
            <a:spAutoFit/>
          </a:bodyPr>
          <a:lstStyle/>
          <a:p>
            <a:pPr algn="l">
              <a:lnSpc>
                <a:spcPct val="104000"/>
              </a:lnSpc>
              <a:spcBef>
                <a:spcPts val="0"/>
              </a:spcBef>
              <a:spcAft>
                <a:spcPts val="0"/>
              </a:spcAft>
            </a:pPr>
            <a:r>
              <a:rPr sz="740" b="1">
                <a:solidFill>
                  <a:srgbClr val="C25E1A"/>
                </a:solidFill>
                <a:latin typeface="Calibri"/>
              </a:rPr>
              <a:t>▪  </a:t>
            </a:r>
            <a:r>
              <a:rPr sz="740">
                <a:solidFill>
                  <a:srgbClr val="333A42"/>
                </a:solidFill>
                <a:latin typeface="Calibri"/>
              </a:rPr>
              <a:t>Nussbaum, M. C. (2010). Not for profit: Why democracy needs the humanities. Princeton University Press.</a:t>
            </a:r>
          </a:p>
        </p:txBody>
      </p:sp>
      <p:sp>
        <p:nvSpPr>
          <p:cNvPr id="25" name="TextBox 24"/>
          <p:cNvSpPr txBox="1"/>
          <p:nvPr/>
        </p:nvSpPr>
        <p:spPr>
          <a:xfrm>
            <a:off x="4338309" y="4092448"/>
            <a:ext cx="3515349" cy="422656"/>
          </a:xfrm>
          <a:prstGeom prst="rect">
            <a:avLst/>
          </a:prstGeom>
          <a:noFill/>
        </p:spPr>
        <p:txBody>
          <a:bodyPr wrap="square" lIns="0" rIns="0" tIns="0" bIns="0" anchor="t">
            <a:spAutoFit/>
          </a:bodyPr>
          <a:lstStyle/>
          <a:p>
            <a:pPr algn="l">
              <a:lnSpc>
                <a:spcPct val="104000"/>
              </a:lnSpc>
              <a:spcBef>
                <a:spcPts val="0"/>
              </a:spcBef>
              <a:spcAft>
                <a:spcPts val="0"/>
              </a:spcAft>
            </a:pPr>
            <a:r>
              <a:rPr sz="740" b="1">
                <a:solidFill>
                  <a:srgbClr val="C25E1A"/>
                </a:solidFill>
                <a:latin typeface="Calibri"/>
              </a:rPr>
              <a:t>▪  </a:t>
            </a:r>
            <a:r>
              <a:rPr sz="740">
                <a:solidFill>
                  <a:srgbClr val="333A42"/>
                </a:solidFill>
                <a:latin typeface="Calibri"/>
              </a:rPr>
              <a:t>Peters, R. S. (1966). Ethics and education. Allen &amp; Unwin.</a:t>
            </a:r>
          </a:p>
        </p:txBody>
      </p:sp>
      <p:sp>
        <p:nvSpPr>
          <p:cNvPr id="26" name="TextBox 25"/>
          <p:cNvSpPr txBox="1"/>
          <p:nvPr/>
        </p:nvSpPr>
        <p:spPr>
          <a:xfrm>
            <a:off x="4338309" y="4515104"/>
            <a:ext cx="3515349" cy="422656"/>
          </a:xfrm>
          <a:prstGeom prst="rect">
            <a:avLst/>
          </a:prstGeom>
          <a:noFill/>
        </p:spPr>
        <p:txBody>
          <a:bodyPr wrap="square" lIns="0" rIns="0" tIns="0" bIns="0" anchor="t">
            <a:spAutoFit/>
          </a:bodyPr>
          <a:lstStyle/>
          <a:p>
            <a:pPr algn="l">
              <a:lnSpc>
                <a:spcPct val="104000"/>
              </a:lnSpc>
              <a:spcBef>
                <a:spcPts val="0"/>
              </a:spcBef>
              <a:spcAft>
                <a:spcPts val="0"/>
              </a:spcAft>
            </a:pPr>
            <a:r>
              <a:rPr sz="740" b="1">
                <a:solidFill>
                  <a:srgbClr val="C25E1A"/>
                </a:solidFill>
                <a:latin typeface="Calibri"/>
              </a:rPr>
              <a:t>▪  </a:t>
            </a:r>
            <a:r>
              <a:rPr sz="740">
                <a:solidFill>
                  <a:srgbClr val="333A42"/>
                </a:solidFill>
                <a:latin typeface="Calibri"/>
              </a:rPr>
              <a:t>Popper, K. R. (1959). The logic of scientific discovery. Hutchinson.</a:t>
            </a:r>
          </a:p>
        </p:txBody>
      </p:sp>
      <p:sp>
        <p:nvSpPr>
          <p:cNvPr id="27" name="TextBox 26"/>
          <p:cNvSpPr txBox="1"/>
          <p:nvPr/>
        </p:nvSpPr>
        <p:spPr>
          <a:xfrm>
            <a:off x="8109691" y="1133856"/>
            <a:ext cx="3515349" cy="422656"/>
          </a:xfrm>
          <a:prstGeom prst="rect">
            <a:avLst/>
          </a:prstGeom>
          <a:noFill/>
        </p:spPr>
        <p:txBody>
          <a:bodyPr wrap="square" lIns="0" rIns="0" tIns="0" bIns="0" anchor="t">
            <a:spAutoFit/>
          </a:bodyPr>
          <a:lstStyle/>
          <a:p>
            <a:pPr algn="l">
              <a:lnSpc>
                <a:spcPct val="104000"/>
              </a:lnSpc>
              <a:spcBef>
                <a:spcPts val="0"/>
              </a:spcBef>
              <a:spcAft>
                <a:spcPts val="0"/>
              </a:spcAft>
            </a:pPr>
            <a:r>
              <a:rPr sz="740" b="1">
                <a:solidFill>
                  <a:srgbClr val="C25E1A"/>
                </a:solidFill>
                <a:latin typeface="Calibri"/>
              </a:rPr>
              <a:t>▪  </a:t>
            </a:r>
            <a:r>
              <a:rPr sz="740">
                <a:solidFill>
                  <a:srgbClr val="333A42"/>
                </a:solidFill>
                <a:latin typeface="Calibri"/>
              </a:rPr>
              <a:t>Rawls, J. (1971). A theory of justice. Harvard University Press.</a:t>
            </a:r>
          </a:p>
        </p:txBody>
      </p:sp>
      <p:sp>
        <p:nvSpPr>
          <p:cNvPr id="28" name="TextBox 27"/>
          <p:cNvSpPr txBox="1"/>
          <p:nvPr/>
        </p:nvSpPr>
        <p:spPr>
          <a:xfrm>
            <a:off x="8109691" y="1556512"/>
            <a:ext cx="3515349" cy="422656"/>
          </a:xfrm>
          <a:prstGeom prst="rect">
            <a:avLst/>
          </a:prstGeom>
          <a:noFill/>
        </p:spPr>
        <p:txBody>
          <a:bodyPr wrap="square" lIns="0" rIns="0" tIns="0" bIns="0" anchor="t">
            <a:spAutoFit/>
          </a:bodyPr>
          <a:lstStyle/>
          <a:p>
            <a:pPr algn="l">
              <a:lnSpc>
                <a:spcPct val="104000"/>
              </a:lnSpc>
              <a:spcBef>
                <a:spcPts val="0"/>
              </a:spcBef>
              <a:spcAft>
                <a:spcPts val="0"/>
              </a:spcAft>
            </a:pPr>
            <a:r>
              <a:rPr sz="740" b="1">
                <a:solidFill>
                  <a:srgbClr val="C25E1A"/>
                </a:solidFill>
                <a:latin typeface="Calibri"/>
              </a:rPr>
              <a:t>▪  </a:t>
            </a:r>
            <a:r>
              <a:rPr sz="740">
                <a:solidFill>
                  <a:srgbClr val="333A42"/>
                </a:solidFill>
                <a:latin typeface="Calibri"/>
              </a:rPr>
              <a:t>Russell, B. (1945). A history of western philosophy. Simon and Schuster.</a:t>
            </a:r>
          </a:p>
        </p:txBody>
      </p:sp>
      <p:sp>
        <p:nvSpPr>
          <p:cNvPr id="29" name="TextBox 28"/>
          <p:cNvSpPr txBox="1"/>
          <p:nvPr/>
        </p:nvSpPr>
        <p:spPr>
          <a:xfrm>
            <a:off x="8109691" y="1979168"/>
            <a:ext cx="3515349" cy="422656"/>
          </a:xfrm>
          <a:prstGeom prst="rect">
            <a:avLst/>
          </a:prstGeom>
          <a:noFill/>
        </p:spPr>
        <p:txBody>
          <a:bodyPr wrap="square" lIns="0" rIns="0" tIns="0" bIns="0" anchor="t">
            <a:spAutoFit/>
          </a:bodyPr>
          <a:lstStyle/>
          <a:p>
            <a:pPr algn="l">
              <a:lnSpc>
                <a:spcPct val="104000"/>
              </a:lnSpc>
              <a:spcBef>
                <a:spcPts val="0"/>
              </a:spcBef>
              <a:spcAft>
                <a:spcPts val="0"/>
              </a:spcAft>
            </a:pPr>
            <a:r>
              <a:rPr sz="740" b="1">
                <a:solidFill>
                  <a:srgbClr val="C25E1A"/>
                </a:solidFill>
                <a:latin typeface="Calibri"/>
              </a:rPr>
              <a:t>▪  </a:t>
            </a:r>
            <a:r>
              <a:rPr sz="740">
                <a:solidFill>
                  <a:srgbClr val="333A42"/>
                </a:solidFill>
                <a:latin typeface="Calibri"/>
              </a:rPr>
              <a:t>Sen, A. (1999). Development as freedom. Oxford University Press.</a:t>
            </a:r>
          </a:p>
        </p:txBody>
      </p:sp>
      <p:sp>
        <p:nvSpPr>
          <p:cNvPr id="30" name="TextBox 29"/>
          <p:cNvSpPr txBox="1"/>
          <p:nvPr/>
        </p:nvSpPr>
        <p:spPr>
          <a:xfrm>
            <a:off x="8109691" y="2401824"/>
            <a:ext cx="3515349" cy="422656"/>
          </a:xfrm>
          <a:prstGeom prst="rect">
            <a:avLst/>
          </a:prstGeom>
          <a:noFill/>
        </p:spPr>
        <p:txBody>
          <a:bodyPr wrap="square" lIns="0" rIns="0" tIns="0" bIns="0" anchor="t">
            <a:spAutoFit/>
          </a:bodyPr>
          <a:lstStyle/>
          <a:p>
            <a:pPr algn="l">
              <a:lnSpc>
                <a:spcPct val="104000"/>
              </a:lnSpc>
              <a:spcBef>
                <a:spcPts val="0"/>
              </a:spcBef>
              <a:spcAft>
                <a:spcPts val="0"/>
              </a:spcAft>
            </a:pPr>
            <a:r>
              <a:rPr sz="740" b="1">
                <a:solidFill>
                  <a:srgbClr val="C25E1A"/>
                </a:solidFill>
                <a:latin typeface="Calibri"/>
              </a:rPr>
              <a:t>▪  </a:t>
            </a:r>
            <a:r>
              <a:rPr sz="740">
                <a:solidFill>
                  <a:srgbClr val="333A42"/>
                </a:solidFill>
                <a:latin typeface="Calibri"/>
              </a:rPr>
              <a:t>Shamoo, A. E., &amp; Resnik, D. B. (2015). Responsible conduct of research (3rd ed.). Oxford University Press.</a:t>
            </a:r>
          </a:p>
        </p:txBody>
      </p:sp>
      <p:sp>
        <p:nvSpPr>
          <p:cNvPr id="31" name="TextBox 30"/>
          <p:cNvSpPr txBox="1"/>
          <p:nvPr/>
        </p:nvSpPr>
        <p:spPr>
          <a:xfrm>
            <a:off x="8109691" y="2824480"/>
            <a:ext cx="3515349" cy="422656"/>
          </a:xfrm>
          <a:prstGeom prst="rect">
            <a:avLst/>
          </a:prstGeom>
          <a:noFill/>
        </p:spPr>
        <p:txBody>
          <a:bodyPr wrap="square" lIns="0" rIns="0" tIns="0" bIns="0" anchor="t">
            <a:spAutoFit/>
          </a:bodyPr>
          <a:lstStyle/>
          <a:p>
            <a:pPr algn="l">
              <a:lnSpc>
                <a:spcPct val="104000"/>
              </a:lnSpc>
              <a:spcBef>
                <a:spcPts val="0"/>
              </a:spcBef>
              <a:spcAft>
                <a:spcPts val="0"/>
              </a:spcAft>
            </a:pPr>
            <a:r>
              <a:rPr sz="740" b="1">
                <a:solidFill>
                  <a:srgbClr val="C25E1A"/>
                </a:solidFill>
                <a:latin typeface="Calibri"/>
              </a:rPr>
              <a:t>▪  </a:t>
            </a:r>
            <a:r>
              <a:rPr sz="740">
                <a:solidFill>
                  <a:srgbClr val="333A42"/>
                </a:solidFill>
                <a:latin typeface="Calibri"/>
              </a:rPr>
              <a:t>Siegel, H. (1988). Educating reason: Rationality, critical thinking, and education. Routledge.</a:t>
            </a:r>
          </a:p>
        </p:txBody>
      </p:sp>
      <p:sp>
        <p:nvSpPr>
          <p:cNvPr id="32" name="TextBox 31"/>
          <p:cNvSpPr txBox="1"/>
          <p:nvPr/>
        </p:nvSpPr>
        <p:spPr>
          <a:xfrm>
            <a:off x="8109691" y="3247136"/>
            <a:ext cx="3515349" cy="422656"/>
          </a:xfrm>
          <a:prstGeom prst="rect">
            <a:avLst/>
          </a:prstGeom>
          <a:noFill/>
        </p:spPr>
        <p:txBody>
          <a:bodyPr wrap="square" lIns="0" rIns="0" tIns="0" bIns="0" anchor="t">
            <a:spAutoFit/>
          </a:bodyPr>
          <a:lstStyle/>
          <a:p>
            <a:pPr algn="l">
              <a:lnSpc>
                <a:spcPct val="104000"/>
              </a:lnSpc>
              <a:spcBef>
                <a:spcPts val="0"/>
              </a:spcBef>
              <a:spcAft>
                <a:spcPts val="0"/>
              </a:spcAft>
            </a:pPr>
            <a:r>
              <a:rPr sz="740" b="1">
                <a:solidFill>
                  <a:srgbClr val="C25E1A"/>
                </a:solidFill>
                <a:latin typeface="Calibri"/>
              </a:rPr>
              <a:t>▪  </a:t>
            </a:r>
            <a:r>
              <a:rPr sz="740">
                <a:solidFill>
                  <a:srgbClr val="333A42"/>
                </a:solidFill>
                <a:latin typeface="Calibri"/>
              </a:rPr>
              <a:t>Siegel, H. (Ed.). (2009). The Oxford handbook of philosophy of education. Oxford University Press.</a:t>
            </a:r>
          </a:p>
        </p:txBody>
      </p:sp>
      <p:sp>
        <p:nvSpPr>
          <p:cNvPr id="33" name="TextBox 32"/>
          <p:cNvSpPr txBox="1"/>
          <p:nvPr/>
        </p:nvSpPr>
        <p:spPr>
          <a:xfrm>
            <a:off x="8109691" y="3669792"/>
            <a:ext cx="3515349" cy="422656"/>
          </a:xfrm>
          <a:prstGeom prst="rect">
            <a:avLst/>
          </a:prstGeom>
          <a:noFill/>
        </p:spPr>
        <p:txBody>
          <a:bodyPr wrap="square" lIns="0" rIns="0" tIns="0" bIns="0" anchor="t">
            <a:spAutoFit/>
          </a:bodyPr>
          <a:lstStyle/>
          <a:p>
            <a:pPr algn="l">
              <a:lnSpc>
                <a:spcPct val="104000"/>
              </a:lnSpc>
              <a:spcBef>
                <a:spcPts val="0"/>
              </a:spcBef>
              <a:spcAft>
                <a:spcPts val="0"/>
              </a:spcAft>
            </a:pPr>
            <a:r>
              <a:rPr sz="740" b="1">
                <a:solidFill>
                  <a:srgbClr val="C25E1A"/>
                </a:solidFill>
                <a:latin typeface="Calibri"/>
              </a:rPr>
              <a:t>▪  </a:t>
            </a:r>
            <a:r>
              <a:rPr sz="740">
                <a:solidFill>
                  <a:srgbClr val="333A42"/>
                </a:solidFill>
                <a:latin typeface="Calibri"/>
              </a:rPr>
              <a:t>Skloot, R. (2010). The immortal life of Henrietta Lacks. Crown Publishers.</a:t>
            </a:r>
          </a:p>
        </p:txBody>
      </p:sp>
      <p:sp>
        <p:nvSpPr>
          <p:cNvPr id="34" name="TextBox 33"/>
          <p:cNvSpPr txBox="1"/>
          <p:nvPr/>
        </p:nvSpPr>
        <p:spPr>
          <a:xfrm>
            <a:off x="8109691" y="4092448"/>
            <a:ext cx="3515349" cy="422656"/>
          </a:xfrm>
          <a:prstGeom prst="rect">
            <a:avLst/>
          </a:prstGeom>
          <a:noFill/>
        </p:spPr>
        <p:txBody>
          <a:bodyPr wrap="square" lIns="0" rIns="0" tIns="0" bIns="0" anchor="t">
            <a:spAutoFit/>
          </a:bodyPr>
          <a:lstStyle/>
          <a:p>
            <a:pPr algn="l">
              <a:lnSpc>
                <a:spcPct val="104000"/>
              </a:lnSpc>
              <a:spcBef>
                <a:spcPts val="0"/>
              </a:spcBef>
              <a:spcAft>
                <a:spcPts val="0"/>
              </a:spcAft>
            </a:pPr>
            <a:r>
              <a:rPr sz="740" b="1">
                <a:solidFill>
                  <a:srgbClr val="C25E1A"/>
                </a:solidFill>
                <a:latin typeface="Calibri"/>
              </a:rPr>
              <a:t>▪  </a:t>
            </a:r>
            <a:r>
              <a:rPr sz="740">
                <a:solidFill>
                  <a:srgbClr val="333A42"/>
                </a:solidFill>
                <a:latin typeface="Calibri"/>
              </a:rPr>
              <a:t>Whitehead, A. N. (1929). The aims of education and other essays. Macmillan.</a:t>
            </a:r>
          </a:p>
        </p:txBody>
      </p:sp>
      <p:sp>
        <p:nvSpPr>
          <p:cNvPr id="35" name="TextBox 34"/>
          <p:cNvSpPr txBox="1"/>
          <p:nvPr/>
        </p:nvSpPr>
        <p:spPr>
          <a:xfrm>
            <a:off x="8109691" y="4515104"/>
            <a:ext cx="3515349" cy="422656"/>
          </a:xfrm>
          <a:prstGeom prst="rect">
            <a:avLst/>
          </a:prstGeom>
          <a:noFill/>
        </p:spPr>
        <p:txBody>
          <a:bodyPr wrap="square" lIns="0" rIns="0" tIns="0" bIns="0" anchor="t">
            <a:spAutoFit/>
          </a:bodyPr>
          <a:lstStyle/>
          <a:p>
            <a:pPr algn="l">
              <a:lnSpc>
                <a:spcPct val="104000"/>
              </a:lnSpc>
              <a:spcBef>
                <a:spcPts val="0"/>
              </a:spcBef>
              <a:spcAft>
                <a:spcPts val="0"/>
              </a:spcAft>
            </a:pPr>
            <a:r>
              <a:rPr sz="740" b="1">
                <a:solidFill>
                  <a:srgbClr val="C25E1A"/>
                </a:solidFill>
                <a:latin typeface="Calibri"/>
              </a:rPr>
              <a:t>▪  </a:t>
            </a:r>
            <a:r>
              <a:rPr sz="740">
                <a:solidFill>
                  <a:srgbClr val="333A42"/>
                </a:solidFill>
                <a:latin typeface="Calibri"/>
              </a:rPr>
              <a:t>Zimbardo, P. G. (2007). The Lucifer effect: Understanding how good people turn evil. Random House.</a:t>
            </a:r>
          </a:p>
        </p:txBody>
      </p:sp>
      <p:sp>
        <p:nvSpPr>
          <p:cNvPr id="36" name="Rounded Rectangle 35"/>
          <p:cNvSpPr/>
          <p:nvPr/>
        </p:nvSpPr>
        <p:spPr>
          <a:xfrm>
            <a:off x="566928" y="5065776"/>
            <a:ext cx="11058113" cy="1243584"/>
          </a:xfrm>
          <a:prstGeom prst="roundRect">
            <a:avLst/>
          </a:prstGeom>
          <a:solidFill>
            <a:srgbClr val="EEF3F9"/>
          </a:solidFill>
          <a:ln w="9525">
            <a:solidFill>
              <a:srgbClr val="D5DA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566928" y="5157216"/>
            <a:ext cx="50292" cy="1060704"/>
          </a:xfrm>
          <a:prstGeom prst="rect">
            <a:avLst/>
          </a:prstGeom>
          <a:solidFill>
            <a:srgbClr val="C25E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8" name="Picture 37" descr="chat_orange.png"/>
          <p:cNvPicPr>
            <a:picLocks noChangeAspect="1"/>
          </p:cNvPicPr>
          <p:nvPr/>
        </p:nvPicPr>
        <p:blipFill>
          <a:blip r:embed="rId2"/>
          <a:stretch>
            <a:fillRect/>
          </a:stretch>
        </p:blipFill>
        <p:spPr>
          <a:xfrm>
            <a:off x="749808" y="5212080"/>
            <a:ext cx="256032" cy="256032"/>
          </a:xfrm>
          <a:prstGeom prst="rect">
            <a:avLst/>
          </a:prstGeom>
        </p:spPr>
      </p:pic>
      <p:sp>
        <p:nvSpPr>
          <p:cNvPr id="39" name="TextBox 38"/>
          <p:cNvSpPr txBox="1"/>
          <p:nvPr/>
        </p:nvSpPr>
        <p:spPr>
          <a:xfrm>
            <a:off x="1133856" y="5175504"/>
            <a:ext cx="2743200" cy="274320"/>
          </a:xfrm>
          <a:prstGeom prst="rect">
            <a:avLst/>
          </a:prstGeom>
          <a:noFill/>
        </p:spPr>
        <p:txBody>
          <a:bodyPr wrap="square" lIns="0" rIns="0" tIns="0" bIns="0" anchor="t">
            <a:spAutoFit/>
          </a:bodyPr>
          <a:lstStyle/>
          <a:p>
            <a:pPr algn="l">
              <a:lnSpc>
                <a:spcPct val="106000"/>
              </a:lnSpc>
              <a:spcBef>
                <a:spcPts val="0"/>
              </a:spcBef>
              <a:spcAft>
                <a:spcPts val="0"/>
              </a:spcAft>
            </a:pPr>
            <a:r>
              <a:rPr sz="1160" b="1">
                <a:solidFill>
                  <a:srgbClr val="C25E1A"/>
                </a:solidFill>
                <a:latin typeface="Calibri"/>
              </a:rPr>
              <a:t>Questions for discussion</a:t>
            </a:r>
          </a:p>
        </p:txBody>
      </p:sp>
      <p:sp>
        <p:nvSpPr>
          <p:cNvPr id="40" name="TextBox 39"/>
          <p:cNvSpPr txBox="1"/>
          <p:nvPr/>
        </p:nvSpPr>
        <p:spPr>
          <a:xfrm>
            <a:off x="1133856" y="5486400"/>
            <a:ext cx="10235153" cy="768096"/>
          </a:xfrm>
          <a:prstGeom prst="rect">
            <a:avLst/>
          </a:prstGeom>
          <a:noFill/>
        </p:spPr>
        <p:txBody>
          <a:bodyPr wrap="square" lIns="0" rIns="0" tIns="0" bIns="0" anchor="t">
            <a:spAutoFit/>
          </a:bodyPr>
          <a:lstStyle/>
          <a:p>
            <a:pPr algn="l">
              <a:lnSpc>
                <a:spcPct val="105000"/>
              </a:lnSpc>
              <a:spcBef>
                <a:spcPts val="0"/>
              </a:spcBef>
              <a:spcAft>
                <a:spcPts val="320"/>
              </a:spcAft>
            </a:pPr>
            <a:r>
              <a:rPr sz="1019" b="1">
                <a:solidFill>
                  <a:srgbClr val="C25E1A"/>
                </a:solidFill>
                <a:latin typeface="Calibri"/>
              </a:rPr>
              <a:t>1.  </a:t>
            </a:r>
            <a:r>
              <a:rPr sz="1019" b="0">
                <a:solidFill>
                  <a:srgbClr val="333A42"/>
                </a:solidFill>
                <a:latin typeface="Calibri"/>
              </a:rPr>
              <a:t>Can education pursue measurable outcomes without distorting its aims?</a:t>
            </a:r>
          </a:p>
          <a:p>
            <a:pPr algn="l">
              <a:lnSpc>
                <a:spcPct val="105000"/>
              </a:lnSpc>
              <a:spcBef>
                <a:spcPts val="0"/>
              </a:spcBef>
              <a:spcAft>
                <a:spcPts val="320"/>
              </a:spcAft>
            </a:pPr>
            <a:r>
              <a:rPr sz="1019" b="1">
                <a:solidFill>
                  <a:srgbClr val="C25E1A"/>
                </a:solidFill>
                <a:latin typeface="Calibri"/>
              </a:rPr>
              <a:t>2.  </a:t>
            </a:r>
            <a:r>
              <a:rPr sz="1019" b="0">
                <a:solidFill>
                  <a:srgbClr val="333A42"/>
                </a:solidFill>
                <a:latin typeface="Calibri"/>
              </a:rPr>
              <a:t>Should research ethics be taught as procedure or as reasoning?</a:t>
            </a:r>
          </a:p>
          <a:p>
            <a:pPr algn="l">
              <a:lnSpc>
                <a:spcPct val="105000"/>
              </a:lnSpc>
              <a:spcBef>
                <a:spcPts val="0"/>
              </a:spcBef>
              <a:spcAft>
                <a:spcPts val="320"/>
              </a:spcAft>
            </a:pPr>
            <a:r>
              <a:rPr sz="1019" b="1">
                <a:solidFill>
                  <a:srgbClr val="C25E1A"/>
                </a:solidFill>
                <a:latin typeface="Calibri"/>
              </a:rPr>
              <a:t>3.  </a:t>
            </a:r>
            <a:r>
              <a:rPr sz="1019" b="0">
                <a:solidFill>
                  <a:srgbClr val="333A42"/>
                </a:solidFill>
                <a:latin typeface="Calibri"/>
              </a:rPr>
              <a:t>Is critical thinking a separate subject or an outcome of subject teaching?</a:t>
            </a:r>
          </a:p>
          <a:p>
            <a:pPr algn="l">
              <a:lnSpc>
                <a:spcPct val="105000"/>
              </a:lnSpc>
              <a:spcBef>
                <a:spcPts val="0"/>
              </a:spcBef>
              <a:spcAft>
                <a:spcPts val="320"/>
              </a:spcAft>
            </a:pPr>
            <a:r>
              <a:rPr sz="1019" b="1">
                <a:solidFill>
                  <a:srgbClr val="C25E1A"/>
                </a:solidFill>
                <a:latin typeface="Calibri"/>
              </a:rPr>
              <a:t>4.  </a:t>
            </a:r>
            <a:r>
              <a:rPr sz="1019" b="0">
                <a:solidFill>
                  <a:srgbClr val="333A42"/>
                </a:solidFill>
                <a:latin typeface="Calibri"/>
              </a:rPr>
              <a:t>What does a society lose when public argument is settled by volume rather than evidence?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